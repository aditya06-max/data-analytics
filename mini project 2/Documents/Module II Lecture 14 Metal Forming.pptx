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7"/>
  </p:notesMasterIdLst>
  <p:sldIdLst>
    <p:sldId id="295" r:id="rId5"/>
    <p:sldId id="345" r:id="rId6"/>
    <p:sldId id="360" r:id="rId7"/>
    <p:sldId id="472" r:id="rId8"/>
    <p:sldId id="481" r:id="rId9"/>
    <p:sldId id="473" r:id="rId10"/>
    <p:sldId id="475" r:id="rId11"/>
    <p:sldId id="477" r:id="rId12"/>
    <p:sldId id="478" r:id="rId13"/>
    <p:sldId id="479" r:id="rId14"/>
    <p:sldId id="480" r:id="rId15"/>
    <p:sldId id="347" r:id="rId16"/>
    <p:sldId id="350" r:id="rId17"/>
    <p:sldId id="415" r:id="rId18"/>
    <p:sldId id="417" r:id="rId19"/>
    <p:sldId id="471" r:id="rId20"/>
    <p:sldId id="378" r:id="rId21"/>
    <p:sldId id="296" r:id="rId22"/>
    <p:sldId id="382" r:id="rId23"/>
    <p:sldId id="421" r:id="rId24"/>
    <p:sldId id="485" r:id="rId25"/>
    <p:sldId id="386" r:id="rId26"/>
    <p:sldId id="388" r:id="rId27"/>
    <p:sldId id="390" r:id="rId28"/>
    <p:sldId id="391" r:id="rId29"/>
    <p:sldId id="392" r:id="rId30"/>
    <p:sldId id="437" r:id="rId31"/>
    <p:sldId id="482" r:id="rId32"/>
    <p:sldId id="484" r:id="rId33"/>
    <p:sldId id="393" r:id="rId34"/>
    <p:sldId id="409" r:id="rId35"/>
    <p:sldId id="410" r:id="rId36"/>
    <p:sldId id="438" r:id="rId37"/>
    <p:sldId id="439" r:id="rId38"/>
    <p:sldId id="431" r:id="rId39"/>
    <p:sldId id="487" r:id="rId40"/>
    <p:sldId id="486" r:id="rId41"/>
    <p:sldId id="441" r:id="rId42"/>
    <p:sldId id="489" r:id="rId43"/>
    <p:sldId id="440" r:id="rId44"/>
    <p:sldId id="458" r:id="rId45"/>
    <p:sldId id="459" r:id="rId46"/>
    <p:sldId id="463" r:id="rId47"/>
    <p:sldId id="490" r:id="rId48"/>
    <p:sldId id="380" r:id="rId49"/>
    <p:sldId id="381" r:id="rId50"/>
    <p:sldId id="312" r:id="rId51"/>
    <p:sldId id="316" r:id="rId52"/>
    <p:sldId id="313" r:id="rId53"/>
    <p:sldId id="314" r:id="rId54"/>
    <p:sldId id="315" r:id="rId55"/>
    <p:sldId id="332" r:id="rId56"/>
    <p:sldId id="333" r:id="rId57"/>
    <p:sldId id="336" r:id="rId58"/>
    <p:sldId id="335" r:id="rId59"/>
    <p:sldId id="320" r:id="rId60"/>
    <p:sldId id="322" r:id="rId61"/>
    <p:sldId id="338" r:id="rId62"/>
    <p:sldId id="337" r:id="rId63"/>
    <p:sldId id="341" r:id="rId64"/>
    <p:sldId id="342" r:id="rId65"/>
    <p:sldId id="467" r:id="rId66"/>
  </p:sldIdLst>
  <p:sldSz cx="9144000" cy="6858000" type="screen4x3"/>
  <p:notesSz cx="6799263" cy="9929813"/>
  <p:defaultTextStyle>
    <a:defPPr>
      <a:defRPr lang="en-US"/>
    </a:defPPr>
    <a:lvl1pPr algn="l" rtl="0" fontAlgn="base">
      <a:spcBef>
        <a:spcPct val="0"/>
      </a:spcBef>
      <a:spcAft>
        <a:spcPct val="0"/>
      </a:spcAft>
      <a:defRPr sz="3200" kern="1200">
        <a:solidFill>
          <a:schemeClr val="tx1"/>
        </a:solidFill>
        <a:latin typeface="Times New Roman" pitchFamily="18" charset="0"/>
        <a:ea typeface="+mn-ea"/>
        <a:cs typeface="+mn-cs"/>
      </a:defRPr>
    </a:lvl1pPr>
    <a:lvl2pPr marL="457200" algn="l" rtl="0" fontAlgn="base">
      <a:spcBef>
        <a:spcPct val="0"/>
      </a:spcBef>
      <a:spcAft>
        <a:spcPct val="0"/>
      </a:spcAft>
      <a:defRPr sz="3200" kern="1200">
        <a:solidFill>
          <a:schemeClr val="tx1"/>
        </a:solidFill>
        <a:latin typeface="Times New Roman" pitchFamily="18" charset="0"/>
        <a:ea typeface="+mn-ea"/>
        <a:cs typeface="+mn-cs"/>
      </a:defRPr>
    </a:lvl2pPr>
    <a:lvl3pPr marL="914400" algn="l" rtl="0" fontAlgn="base">
      <a:spcBef>
        <a:spcPct val="0"/>
      </a:spcBef>
      <a:spcAft>
        <a:spcPct val="0"/>
      </a:spcAft>
      <a:defRPr sz="3200" kern="1200">
        <a:solidFill>
          <a:schemeClr val="tx1"/>
        </a:solidFill>
        <a:latin typeface="Times New Roman" pitchFamily="18" charset="0"/>
        <a:ea typeface="+mn-ea"/>
        <a:cs typeface="+mn-cs"/>
      </a:defRPr>
    </a:lvl3pPr>
    <a:lvl4pPr marL="1371600" algn="l" rtl="0" fontAlgn="base">
      <a:spcBef>
        <a:spcPct val="0"/>
      </a:spcBef>
      <a:spcAft>
        <a:spcPct val="0"/>
      </a:spcAft>
      <a:defRPr sz="3200" kern="1200">
        <a:solidFill>
          <a:schemeClr val="tx1"/>
        </a:solidFill>
        <a:latin typeface="Times New Roman" pitchFamily="18" charset="0"/>
        <a:ea typeface="+mn-ea"/>
        <a:cs typeface="+mn-cs"/>
      </a:defRPr>
    </a:lvl4pPr>
    <a:lvl5pPr marL="1828800" algn="l" rtl="0" fontAlgn="base">
      <a:spcBef>
        <a:spcPct val="0"/>
      </a:spcBef>
      <a:spcAft>
        <a:spcPct val="0"/>
      </a:spcAft>
      <a:defRPr sz="3200" kern="1200">
        <a:solidFill>
          <a:schemeClr val="tx1"/>
        </a:solidFill>
        <a:latin typeface="Times New Roman" pitchFamily="18" charset="0"/>
        <a:ea typeface="+mn-ea"/>
        <a:cs typeface="+mn-cs"/>
      </a:defRPr>
    </a:lvl5pPr>
    <a:lvl6pPr marL="2286000" algn="l" defTabSz="914400" rtl="0" eaLnBrk="1" latinLnBrk="0" hangingPunct="1">
      <a:defRPr sz="3200" kern="1200">
        <a:solidFill>
          <a:schemeClr val="tx1"/>
        </a:solidFill>
        <a:latin typeface="Times New Roman" pitchFamily="18" charset="0"/>
        <a:ea typeface="+mn-ea"/>
        <a:cs typeface="+mn-cs"/>
      </a:defRPr>
    </a:lvl6pPr>
    <a:lvl7pPr marL="2743200" algn="l" defTabSz="914400" rtl="0" eaLnBrk="1" latinLnBrk="0" hangingPunct="1">
      <a:defRPr sz="3200" kern="1200">
        <a:solidFill>
          <a:schemeClr val="tx1"/>
        </a:solidFill>
        <a:latin typeface="Times New Roman" pitchFamily="18" charset="0"/>
        <a:ea typeface="+mn-ea"/>
        <a:cs typeface="+mn-cs"/>
      </a:defRPr>
    </a:lvl7pPr>
    <a:lvl8pPr marL="3200400" algn="l" defTabSz="914400" rtl="0" eaLnBrk="1" latinLnBrk="0" hangingPunct="1">
      <a:defRPr sz="3200" kern="1200">
        <a:solidFill>
          <a:schemeClr val="tx1"/>
        </a:solidFill>
        <a:latin typeface="Times New Roman" pitchFamily="18" charset="0"/>
        <a:ea typeface="+mn-ea"/>
        <a:cs typeface="+mn-cs"/>
      </a:defRPr>
    </a:lvl8pPr>
    <a:lvl9pPr marL="3657600" algn="l" defTabSz="914400" rtl="0" eaLnBrk="1" latinLnBrk="0" hangingPunct="1">
      <a:defRPr sz="3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333300"/>
    <a:srgbClr val="333399"/>
    <a:srgbClr val="FF00FF"/>
    <a:srgbClr val="FF0000"/>
    <a:srgbClr val="00FF00"/>
    <a:srgbClr val="EAEAEA"/>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59" autoAdjust="0"/>
    <p:restoredTop sz="89320" autoAdjust="0"/>
  </p:normalViewPr>
  <p:slideViewPr>
    <p:cSldViewPr snapToGrid="0">
      <p:cViewPr varScale="1">
        <p:scale>
          <a:sx n="64" d="100"/>
          <a:sy n="64" d="100"/>
        </p:scale>
        <p:origin x="1638"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927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5410"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307" tIns="45654" rIns="91307" bIns="45654" numCol="1" anchor="t" anchorCtr="0" compatLnSpc="1">
            <a:prstTxWarp prst="textNoShape">
              <a:avLst/>
            </a:prstTxWarp>
          </a:bodyPr>
          <a:lstStyle>
            <a:lvl1pPr defTabSz="913862" eaLnBrk="0" hangingPunct="0">
              <a:defRPr sz="1100"/>
            </a:lvl1pPr>
          </a:lstStyle>
          <a:p>
            <a:pPr>
              <a:defRPr/>
            </a:pPr>
            <a:endParaRPr lang="th-TH"/>
          </a:p>
        </p:txBody>
      </p:sp>
      <p:sp>
        <p:nvSpPr>
          <p:cNvPr id="145411" name="Rectangle 3"/>
          <p:cNvSpPr>
            <a:spLocks noGrp="1" noChangeArrowheads="1"/>
          </p:cNvSpPr>
          <p:nvPr>
            <p:ph type="dt" idx="1"/>
          </p:nvPr>
        </p:nvSpPr>
        <p:spPr bwMode="auto">
          <a:xfrm>
            <a:off x="3851275" y="0"/>
            <a:ext cx="2946400" cy="496888"/>
          </a:xfrm>
          <a:prstGeom prst="rect">
            <a:avLst/>
          </a:prstGeom>
          <a:noFill/>
          <a:ln w="9525">
            <a:noFill/>
            <a:miter lim="800000"/>
            <a:headEnd/>
            <a:tailEnd/>
          </a:ln>
          <a:effectLst/>
        </p:spPr>
        <p:txBody>
          <a:bodyPr vert="horz" wrap="square" lIns="91307" tIns="45654" rIns="91307" bIns="45654" numCol="1" anchor="t" anchorCtr="0" compatLnSpc="1">
            <a:prstTxWarp prst="textNoShape">
              <a:avLst/>
            </a:prstTxWarp>
          </a:bodyPr>
          <a:lstStyle>
            <a:lvl1pPr algn="r" defTabSz="913862" eaLnBrk="0" hangingPunct="0">
              <a:defRPr sz="1100"/>
            </a:lvl1pPr>
          </a:lstStyle>
          <a:p>
            <a:pPr>
              <a:defRPr/>
            </a:pPr>
            <a:endParaRPr lang="th-TH"/>
          </a:p>
        </p:txBody>
      </p:sp>
      <p:sp>
        <p:nvSpPr>
          <p:cNvPr id="66564" name="Rectangle 4"/>
          <p:cNvSpPr>
            <a:spLocks noGrp="1" noRot="1" noChangeAspect="1" noChangeArrowheads="1" noTextEdit="1"/>
          </p:cNvSpPr>
          <p:nvPr>
            <p:ph type="sldImg" idx="2"/>
          </p:nvPr>
        </p:nvSpPr>
        <p:spPr bwMode="auto">
          <a:xfrm>
            <a:off x="919163" y="744538"/>
            <a:ext cx="4962525" cy="3721100"/>
          </a:xfrm>
          <a:prstGeom prst="rect">
            <a:avLst/>
          </a:prstGeom>
          <a:noFill/>
          <a:ln w="9525">
            <a:solidFill>
              <a:srgbClr val="000000"/>
            </a:solidFill>
            <a:miter lim="800000"/>
            <a:headEnd/>
            <a:tailEnd/>
          </a:ln>
        </p:spPr>
      </p:sp>
      <p:sp>
        <p:nvSpPr>
          <p:cNvPr id="145413" name="Rectangle 5"/>
          <p:cNvSpPr>
            <a:spLocks noGrp="1" noChangeArrowheads="1"/>
          </p:cNvSpPr>
          <p:nvPr>
            <p:ph type="body" sz="quarter" idx="3"/>
          </p:nvPr>
        </p:nvSpPr>
        <p:spPr bwMode="auto">
          <a:xfrm>
            <a:off x="679450" y="4716463"/>
            <a:ext cx="5440363" cy="4468812"/>
          </a:xfrm>
          <a:prstGeom prst="rect">
            <a:avLst/>
          </a:prstGeom>
          <a:noFill/>
          <a:ln w="9525">
            <a:noFill/>
            <a:miter lim="800000"/>
            <a:headEnd/>
            <a:tailEnd/>
          </a:ln>
          <a:effectLst/>
        </p:spPr>
        <p:txBody>
          <a:bodyPr vert="horz" wrap="square" lIns="91307" tIns="45654" rIns="91307" bIns="45654" numCol="1" anchor="t" anchorCtr="0" compatLnSpc="1">
            <a:prstTxWarp prst="textNoShape">
              <a:avLst/>
            </a:prstTxWarp>
          </a:bodyPr>
          <a:lstStyle/>
          <a:p>
            <a:pPr lvl="0"/>
            <a:r>
              <a:rPr lang="th-TH" noProof="0"/>
              <a:t>Click to edit Master text styles</a:t>
            </a:r>
          </a:p>
          <a:p>
            <a:pPr lvl="1"/>
            <a:r>
              <a:rPr lang="th-TH" noProof="0"/>
              <a:t>Second level</a:t>
            </a:r>
          </a:p>
          <a:p>
            <a:pPr lvl="2"/>
            <a:r>
              <a:rPr lang="th-TH" noProof="0"/>
              <a:t>Third level</a:t>
            </a:r>
          </a:p>
          <a:p>
            <a:pPr lvl="3"/>
            <a:r>
              <a:rPr lang="th-TH" noProof="0"/>
              <a:t>Fourth level</a:t>
            </a:r>
          </a:p>
          <a:p>
            <a:pPr lvl="4"/>
            <a:r>
              <a:rPr lang="th-TH" noProof="0"/>
              <a:t>Fifth level</a:t>
            </a:r>
          </a:p>
        </p:txBody>
      </p:sp>
      <p:sp>
        <p:nvSpPr>
          <p:cNvPr id="145414" name="Rectangle 6"/>
          <p:cNvSpPr>
            <a:spLocks noGrp="1" noChangeArrowheads="1"/>
          </p:cNvSpPr>
          <p:nvPr>
            <p:ph type="ftr" sz="quarter" idx="4"/>
          </p:nvPr>
        </p:nvSpPr>
        <p:spPr bwMode="auto">
          <a:xfrm>
            <a:off x="0" y="9431338"/>
            <a:ext cx="2946400" cy="496887"/>
          </a:xfrm>
          <a:prstGeom prst="rect">
            <a:avLst/>
          </a:prstGeom>
          <a:noFill/>
          <a:ln w="9525">
            <a:noFill/>
            <a:miter lim="800000"/>
            <a:headEnd/>
            <a:tailEnd/>
          </a:ln>
          <a:effectLst/>
        </p:spPr>
        <p:txBody>
          <a:bodyPr vert="horz" wrap="square" lIns="91307" tIns="45654" rIns="91307" bIns="45654" numCol="1" anchor="b" anchorCtr="0" compatLnSpc="1">
            <a:prstTxWarp prst="textNoShape">
              <a:avLst/>
            </a:prstTxWarp>
          </a:bodyPr>
          <a:lstStyle>
            <a:lvl1pPr defTabSz="913862" eaLnBrk="0" hangingPunct="0">
              <a:defRPr sz="1100"/>
            </a:lvl1pPr>
          </a:lstStyle>
          <a:p>
            <a:pPr>
              <a:defRPr/>
            </a:pPr>
            <a:endParaRPr lang="th-TH"/>
          </a:p>
        </p:txBody>
      </p:sp>
      <p:sp>
        <p:nvSpPr>
          <p:cNvPr id="145415" name="Rectangle 7"/>
          <p:cNvSpPr>
            <a:spLocks noGrp="1" noChangeArrowheads="1"/>
          </p:cNvSpPr>
          <p:nvPr>
            <p:ph type="sldNum" sz="quarter" idx="5"/>
          </p:nvPr>
        </p:nvSpPr>
        <p:spPr bwMode="auto">
          <a:xfrm>
            <a:off x="3851275" y="9431338"/>
            <a:ext cx="2946400" cy="496887"/>
          </a:xfrm>
          <a:prstGeom prst="rect">
            <a:avLst/>
          </a:prstGeom>
          <a:noFill/>
          <a:ln w="9525">
            <a:noFill/>
            <a:miter lim="800000"/>
            <a:headEnd/>
            <a:tailEnd/>
          </a:ln>
          <a:effectLst/>
        </p:spPr>
        <p:txBody>
          <a:bodyPr vert="horz" wrap="square" lIns="91307" tIns="45654" rIns="91307" bIns="45654" numCol="1" anchor="b" anchorCtr="0" compatLnSpc="1">
            <a:prstTxWarp prst="textNoShape">
              <a:avLst/>
            </a:prstTxWarp>
          </a:bodyPr>
          <a:lstStyle>
            <a:lvl1pPr algn="r" defTabSz="913862" eaLnBrk="0" hangingPunct="0">
              <a:defRPr sz="1100"/>
            </a:lvl1pPr>
          </a:lstStyle>
          <a:p>
            <a:pPr>
              <a:defRPr/>
            </a:pPr>
            <a:fld id="{8237AF98-2A62-4EF8-93DE-C95C716332C8}" type="slidenum">
              <a:rPr lang="en-US"/>
              <a:pPr>
                <a:defRPr/>
              </a:pPr>
              <a:t>‹#›</a:t>
            </a:fld>
            <a:endParaRPr lang="th-TH"/>
          </a:p>
        </p:txBody>
      </p:sp>
    </p:spTree>
    <p:extLst>
      <p:ext uri="{BB962C8B-B14F-4D97-AF65-F5344CB8AC3E}">
        <p14:creationId xmlns:p14="http://schemas.microsoft.com/office/powerpoint/2010/main" val="13414578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pPr defTabSz="912813"/>
            <a:fld id="{7A4754B4-389D-4591-8D87-C4A55BA195B0}" type="slidenum">
              <a:rPr lang="en-US" smtClean="0"/>
              <a:pPr defTabSz="912813"/>
              <a:t>3</a:t>
            </a:fld>
            <a:endParaRPr lang="th-TH"/>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lvl="1"/>
            <a:r>
              <a:rPr lang="en-US"/>
              <a:t>Prior to True stress (TS), the stress in the specimen is uniformly distributed.</a:t>
            </a:r>
          </a:p>
          <a:p>
            <a:pPr lvl="1"/>
            <a:r>
              <a:rPr lang="en-US"/>
              <a:t>After TS, necking occurs with localization of the deformation to the necking area, which will rapidly go to failure.</a:t>
            </a:r>
          </a:p>
          <a:p>
            <a:endParaRPr 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pPr defTabSz="912813"/>
            <a:fld id="{F570B91F-DF1A-4DD0-8BBC-0E0ECB04B884}" type="slidenum">
              <a:rPr lang="en-US" smtClean="0"/>
              <a:pPr defTabSz="912813"/>
              <a:t>5</a:t>
            </a:fld>
            <a:endParaRPr lang="th-TH"/>
          </a:p>
        </p:txBody>
      </p:sp>
      <p:sp>
        <p:nvSpPr>
          <p:cNvPr id="68611" name="Rectangle 2"/>
          <p:cNvSpPr>
            <a:spLocks noGrp="1" noRot="1" noChangeAspect="1" noChangeArrowheads="1" noTextEdit="1"/>
          </p:cNvSpPr>
          <p:nvPr>
            <p:ph type="sldImg"/>
          </p:nvPr>
        </p:nvSpPr>
        <p:spPr>
          <a:xfrm>
            <a:off x="752475" y="328613"/>
            <a:ext cx="5294313" cy="3970337"/>
          </a:xfrm>
          <a:solidFill>
            <a:srgbClr val="FFFFFF"/>
          </a:solidFill>
          <a:ln/>
        </p:spPr>
      </p:sp>
      <p:sp>
        <p:nvSpPr>
          <p:cNvPr id="68612" name="Text Box 3"/>
          <p:cNvSpPr txBox="1">
            <a:spLocks noChangeArrowheads="1"/>
          </p:cNvSpPr>
          <p:nvPr/>
        </p:nvSpPr>
        <p:spPr bwMode="auto">
          <a:xfrm>
            <a:off x="500063" y="4686300"/>
            <a:ext cx="5805487" cy="4408488"/>
          </a:xfrm>
          <a:prstGeom prst="rect">
            <a:avLst/>
          </a:prstGeom>
          <a:noFill/>
          <a:ln w="9525">
            <a:noFill/>
            <a:miter lim="800000"/>
            <a:headEnd/>
            <a:tailEnd/>
          </a:ln>
        </p:spPr>
        <p:txBody>
          <a:bodyPr lIns="0" tIns="0" rIns="0" bIns="0"/>
          <a:lstStyle/>
          <a:p>
            <a:pPr defTabSz="854075" eaLnBrk="0" hangingPunct="0"/>
            <a:endParaRPr lang="th-TH" sz="2200">
              <a:latin typeface="Helvetica"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th-TH"/>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th-TH"/>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391231F-1E8B-49DD-BBCE-E1D310D5006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5F5DA9-160E-4369-98B7-AEADCCBCBEA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h-T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BD13F0E-1CDF-4270-82DD-B79D32A1E201}"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7D0B11A-B31D-469D-893A-144F51CAD4E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h-T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3C5DD3A8-1D8E-49E2-9831-895314ACB72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E0B87A6-047A-4D35-B479-52D37BC9B8B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1554D33-080A-41C7-A0E0-241292279C7E}"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h-T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53EECC1-C0B1-48CF-8FD1-E6EF1AAB33F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h-T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EAF838D-625C-4F97-9E43-C30DAD6FE2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686AF47-2B83-42A6-8EA8-82FF1FC5627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6A651DA-8D37-46F8-A3CF-FC9B53AC6A4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th-TH"/>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F07AACB-53BA-4C08-8CB9-1C0CBBB7B9DD}"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th-TH"/>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FC7BE56-D491-49ED-80AE-635F0F8CC4A8}"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609600"/>
            <a:ext cx="7772400" cy="1143000"/>
          </a:xfrm>
        </p:spPr>
        <p:txBody>
          <a:bodyPr/>
          <a:lstStyle/>
          <a:p>
            <a:r>
              <a:rPr lang="en-US"/>
              <a:t>Click to edit Master title style</a:t>
            </a:r>
            <a:endParaRPr lang="th-TH"/>
          </a:p>
        </p:txBody>
      </p:sp>
      <p:sp>
        <p:nvSpPr>
          <p:cNvPr id="3" name="Content Placeholder 2"/>
          <p:cNvSpPr>
            <a:spLocks noGrp="1"/>
          </p:cNvSpPr>
          <p:nvPr>
            <p:ph sz="quarter" idx="1"/>
          </p:nvPr>
        </p:nvSpPr>
        <p:spPr>
          <a:xfrm>
            <a:off x="6858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Content Placeholder 4"/>
          <p:cNvSpPr>
            <a:spLocks noGrp="1"/>
          </p:cNvSpPr>
          <p:nvPr>
            <p:ph sz="quarter" idx="3"/>
          </p:nvPr>
        </p:nvSpPr>
        <p:spPr>
          <a:xfrm>
            <a:off x="6858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6" name="Content Placeholder 5"/>
          <p:cNvSpPr>
            <a:spLocks noGrp="1"/>
          </p:cNvSpPr>
          <p:nvPr>
            <p:ph sz="quarter" idx="4"/>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B886120-F4D0-4327-BFD9-C2576353D10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FD3D9A8-142A-40E2-A9E1-E318BA63508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7.xml"/><Relationship Id="rId5" Type="http://schemas.openxmlformats.org/officeDocument/2006/relationships/image" Target="../media/image12.wmf"/><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oleObject" Target="../embeddings/oleObject3.bin"/><Relationship Id="rId2" Type="http://schemas.openxmlformats.org/officeDocument/2006/relationships/oleObject" Target="../embeddings/oleObject1.bin"/><Relationship Id="rId1" Type="http://schemas.openxmlformats.org/officeDocument/2006/relationships/slideLayout" Target="../slideLayouts/slideLayout1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w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7.xml"/><Relationship Id="rId4" Type="http://schemas.openxmlformats.org/officeDocument/2006/relationships/image" Target="../media/image52.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8.wmf"/><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4.bin"/><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57.x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WordArt 12"/>
          <p:cNvSpPr>
            <a:spLocks noChangeArrowheads="1" noChangeShapeType="1" noTextEdit="1"/>
          </p:cNvSpPr>
          <p:nvPr/>
        </p:nvSpPr>
        <p:spPr bwMode="auto">
          <a:xfrm>
            <a:off x="2257425" y="1558925"/>
            <a:ext cx="4772025" cy="1844675"/>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Metal Forming</a:t>
            </a:r>
            <a:endParaRPr lang="th-TH"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p:txBody>
          <a:bodyPr/>
          <a:lstStyle/>
          <a:p>
            <a:pPr eaLnBrk="1" hangingPunct="1"/>
            <a:r>
              <a:rPr lang="en-US"/>
              <a:t>Fundamentals of Metal Forming</a:t>
            </a:r>
          </a:p>
          <a:p>
            <a:pPr eaLnBrk="1" hangingPunct="1"/>
            <a:r>
              <a:rPr lang="en-US"/>
              <a:t>Bulk deformation</a:t>
            </a:r>
          </a:p>
          <a:p>
            <a:pPr eaLnBrk="1" hangingPunct="1"/>
            <a:r>
              <a:rPr lang="en-US"/>
              <a:t>Sheet metalworking</a:t>
            </a:r>
          </a:p>
          <a:p>
            <a:pPr eaLnBrk="1" hangingPunct="1"/>
            <a:endParaRPr lang="en-US"/>
          </a:p>
          <a:p>
            <a:pPr eaLnBrk="1" hangingPunct="1"/>
            <a:endParaRPr lang="th-TH"/>
          </a:p>
        </p:txBody>
      </p:sp>
      <p:sp>
        <p:nvSpPr>
          <p:cNvPr id="5123" name="Rectangle 4"/>
          <p:cNvSpPr>
            <a:spLocks noChangeArrowheads="1"/>
          </p:cNvSpPr>
          <p:nvPr/>
        </p:nvSpPr>
        <p:spPr bwMode="auto">
          <a:xfrm>
            <a:off x="538163" y="341313"/>
            <a:ext cx="7772400" cy="1143000"/>
          </a:xfrm>
          <a:prstGeom prst="rect">
            <a:avLst/>
          </a:prstGeom>
          <a:noFill/>
          <a:ln w="9525">
            <a:noFill/>
            <a:miter lim="800000"/>
            <a:headEnd/>
            <a:tailEnd/>
          </a:ln>
        </p:spPr>
        <p:txBody>
          <a:bodyPr anchor="ctr"/>
          <a:lstStyle/>
          <a:p>
            <a:r>
              <a:rPr lang="en-US" sz="4400">
                <a:solidFill>
                  <a:schemeClr val="tx2"/>
                </a:solidFill>
              </a:rPr>
              <a:t>Outline</a:t>
            </a:r>
            <a:endParaRPr lang="th-TH" sz="4400">
              <a:solidFill>
                <a:schemeClr val="tx2"/>
              </a:solidFill>
            </a:endParaRPr>
          </a:p>
        </p:txBody>
      </p:sp>
      <p:pic>
        <p:nvPicPr>
          <p:cNvPr id="2050" name="Picture 2" descr="Cold Forging vs Hot Forging | The detail on their differences - CastingMFG">
            <a:extLst>
              <a:ext uri="{FF2B5EF4-FFF2-40B4-BE49-F238E27FC236}">
                <a16:creationId xmlns:a16="http://schemas.microsoft.com/office/drawing/2014/main" id="{501B61FB-7702-5445-A7D2-440A69183E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6531" y="4459599"/>
            <a:ext cx="5179102" cy="21332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4213" y="0"/>
            <a:ext cx="7772400" cy="1143000"/>
          </a:xfrm>
        </p:spPr>
        <p:txBody>
          <a:bodyPr/>
          <a:lstStyle/>
          <a:p>
            <a:pPr eaLnBrk="1" hangingPunct="1"/>
            <a:r>
              <a:rPr lang="en-US"/>
              <a:t>Plastic Deformation</a:t>
            </a:r>
          </a:p>
        </p:txBody>
      </p:sp>
      <p:pic>
        <p:nvPicPr>
          <p:cNvPr id="6147" name="Picture 4" descr="fig3"/>
          <p:cNvPicPr>
            <a:picLocks noChangeAspect="1" noChangeArrowheads="1"/>
          </p:cNvPicPr>
          <p:nvPr/>
        </p:nvPicPr>
        <p:blipFill>
          <a:blip r:embed="rId3" cstate="print"/>
          <a:srcRect/>
          <a:stretch>
            <a:fillRect/>
          </a:stretch>
        </p:blipFill>
        <p:spPr bwMode="auto">
          <a:xfrm>
            <a:off x="773113" y="811213"/>
            <a:ext cx="7823200" cy="5622925"/>
          </a:xfrm>
          <a:prstGeom prst="rect">
            <a:avLst/>
          </a:prstGeom>
          <a:noFill/>
          <a:ln w="9525">
            <a:noFill/>
            <a:miter lim="800000"/>
            <a:headEnd/>
            <a:tailEnd/>
          </a:ln>
        </p:spPr>
      </p:pic>
      <p:grpSp>
        <p:nvGrpSpPr>
          <p:cNvPr id="2" name="Group 7"/>
          <p:cNvGrpSpPr>
            <a:grpSpLocks/>
          </p:cNvGrpSpPr>
          <p:nvPr/>
        </p:nvGrpSpPr>
        <p:grpSpPr bwMode="auto">
          <a:xfrm>
            <a:off x="1514475" y="2814638"/>
            <a:ext cx="7362825" cy="457200"/>
            <a:chOff x="2008" y="3058"/>
            <a:chExt cx="3362" cy="297"/>
          </a:xfrm>
        </p:grpSpPr>
        <p:sp>
          <p:nvSpPr>
            <p:cNvPr id="6153" name="Line 5"/>
            <p:cNvSpPr>
              <a:spLocks noChangeShapeType="1"/>
            </p:cNvSpPr>
            <p:nvPr/>
          </p:nvSpPr>
          <p:spPr bwMode="auto">
            <a:xfrm>
              <a:off x="2008" y="3219"/>
              <a:ext cx="2659" cy="0"/>
            </a:xfrm>
            <a:prstGeom prst="line">
              <a:avLst/>
            </a:prstGeom>
            <a:noFill/>
            <a:ln w="28575">
              <a:solidFill>
                <a:schemeClr val="tx1"/>
              </a:solidFill>
              <a:round/>
              <a:headEnd/>
              <a:tailEnd/>
            </a:ln>
          </p:spPr>
          <p:txBody>
            <a:bodyPr/>
            <a:lstStyle/>
            <a:p>
              <a:endParaRPr lang="th-TH"/>
            </a:p>
          </p:txBody>
        </p:sp>
        <p:sp>
          <p:nvSpPr>
            <p:cNvPr id="6154" name="Text Box 6"/>
            <p:cNvSpPr txBox="1">
              <a:spLocks noChangeArrowheads="1"/>
            </p:cNvSpPr>
            <p:nvPr/>
          </p:nvSpPr>
          <p:spPr bwMode="auto">
            <a:xfrm>
              <a:off x="4735" y="3058"/>
              <a:ext cx="635" cy="297"/>
            </a:xfrm>
            <a:prstGeom prst="rect">
              <a:avLst/>
            </a:prstGeom>
            <a:noFill/>
            <a:ln w="9525">
              <a:noFill/>
              <a:miter lim="800000"/>
              <a:headEnd/>
              <a:tailEnd/>
            </a:ln>
          </p:spPr>
          <p:txBody>
            <a:bodyPr>
              <a:spAutoFit/>
            </a:bodyPr>
            <a:lstStyle/>
            <a:p>
              <a:pPr>
                <a:spcBef>
                  <a:spcPct val="50000"/>
                </a:spcBef>
              </a:pPr>
              <a:r>
                <a:rPr lang="en-US" sz="2400"/>
                <a:t>A</a:t>
              </a:r>
              <a:endParaRPr lang="th-TH" sz="2400"/>
            </a:p>
          </p:txBody>
        </p:sp>
      </p:grpSp>
      <p:sp>
        <p:nvSpPr>
          <p:cNvPr id="6149" name="Text Box 10"/>
          <p:cNvSpPr txBox="1">
            <a:spLocks noChangeArrowheads="1"/>
          </p:cNvSpPr>
          <p:nvPr/>
        </p:nvSpPr>
        <p:spPr bwMode="auto">
          <a:xfrm>
            <a:off x="4610100" y="1008063"/>
            <a:ext cx="2286000" cy="457200"/>
          </a:xfrm>
          <a:prstGeom prst="rect">
            <a:avLst/>
          </a:prstGeom>
          <a:noFill/>
          <a:ln w="9525">
            <a:noFill/>
            <a:miter lim="800000"/>
            <a:headEnd/>
            <a:tailEnd/>
          </a:ln>
        </p:spPr>
        <p:txBody>
          <a:bodyPr>
            <a:spAutoFit/>
          </a:bodyPr>
          <a:lstStyle/>
          <a:p>
            <a:pPr>
              <a:spcBef>
                <a:spcPct val="50000"/>
              </a:spcBef>
            </a:pPr>
            <a:r>
              <a:rPr lang="en-US" sz="2400"/>
              <a:t>Max Load</a:t>
            </a:r>
            <a:endParaRPr lang="th-TH" sz="2400"/>
          </a:p>
        </p:txBody>
      </p:sp>
      <p:sp>
        <p:nvSpPr>
          <p:cNvPr id="6150" name="Rectangle 13"/>
          <p:cNvSpPr>
            <a:spLocks noChangeArrowheads="1"/>
          </p:cNvSpPr>
          <p:nvPr/>
        </p:nvSpPr>
        <p:spPr bwMode="auto">
          <a:xfrm>
            <a:off x="2882900" y="4371975"/>
            <a:ext cx="1865313" cy="457200"/>
          </a:xfrm>
          <a:prstGeom prst="rect">
            <a:avLst/>
          </a:prstGeom>
          <a:noFill/>
          <a:ln w="9525">
            <a:noFill/>
            <a:miter lim="800000"/>
            <a:headEnd/>
            <a:tailEnd/>
          </a:ln>
        </p:spPr>
        <p:txBody>
          <a:bodyPr wrap="none">
            <a:spAutoFit/>
          </a:bodyPr>
          <a:lstStyle/>
          <a:p>
            <a:r>
              <a:rPr lang="en-US" sz="2400"/>
              <a:t>Elastic region</a:t>
            </a:r>
            <a:endParaRPr lang="th-TH" sz="2400"/>
          </a:p>
        </p:txBody>
      </p:sp>
      <p:sp>
        <p:nvSpPr>
          <p:cNvPr id="6151" name="Rectangle 15"/>
          <p:cNvSpPr>
            <a:spLocks noChangeArrowheads="1"/>
          </p:cNvSpPr>
          <p:nvPr/>
        </p:nvSpPr>
        <p:spPr bwMode="auto">
          <a:xfrm>
            <a:off x="3417888" y="2459038"/>
            <a:ext cx="1849437" cy="457200"/>
          </a:xfrm>
          <a:prstGeom prst="rect">
            <a:avLst/>
          </a:prstGeom>
          <a:noFill/>
          <a:ln w="9525">
            <a:noFill/>
            <a:miter lim="800000"/>
            <a:headEnd/>
            <a:tailEnd/>
          </a:ln>
        </p:spPr>
        <p:txBody>
          <a:bodyPr wrap="none">
            <a:spAutoFit/>
          </a:bodyPr>
          <a:lstStyle/>
          <a:p>
            <a:r>
              <a:rPr lang="en-US" sz="2400"/>
              <a:t>Plastic region</a:t>
            </a:r>
            <a:endParaRPr lang="th-TH" sz="2400"/>
          </a:p>
        </p:txBody>
      </p:sp>
      <p:sp>
        <p:nvSpPr>
          <p:cNvPr id="6152" name="Line 17"/>
          <p:cNvSpPr>
            <a:spLocks noChangeShapeType="1"/>
          </p:cNvSpPr>
          <p:nvPr/>
        </p:nvSpPr>
        <p:spPr bwMode="auto">
          <a:xfrm flipH="1">
            <a:off x="4305300" y="2841625"/>
            <a:ext cx="182563" cy="239713"/>
          </a:xfrm>
          <a:prstGeom prst="line">
            <a:avLst/>
          </a:prstGeom>
          <a:noFill/>
          <a:ln w="9525">
            <a:solidFill>
              <a:schemeClr val="tx1"/>
            </a:solidFill>
            <a:round/>
            <a:headEnd/>
            <a:tailEnd type="triangle" w="med" len="med"/>
          </a:ln>
        </p:spPr>
        <p:txBody>
          <a:bodyPr/>
          <a:lstStyle/>
          <a:p>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2" name="Rectangle 4"/>
          <p:cNvSpPr>
            <a:spLocks noGrp="1" noChangeArrowheads="1"/>
          </p:cNvSpPr>
          <p:nvPr>
            <p:ph type="body" sz="half" idx="1"/>
          </p:nvPr>
        </p:nvSpPr>
        <p:spPr>
          <a:xfrm>
            <a:off x="1167307" y="5025454"/>
            <a:ext cx="7468849" cy="1832546"/>
          </a:xfrm>
        </p:spPr>
        <p:txBody>
          <a:bodyPr/>
          <a:lstStyle/>
          <a:p>
            <a:pPr eaLnBrk="1" hangingPunct="1">
              <a:lnSpc>
                <a:spcPct val="90000"/>
              </a:lnSpc>
            </a:pPr>
            <a:r>
              <a:rPr lang="en-US" sz="2800" dirty="0">
                <a:solidFill>
                  <a:srgbClr val="FF0000"/>
                </a:solidFill>
              </a:rPr>
              <a:t>Better accuracy</a:t>
            </a:r>
          </a:p>
          <a:p>
            <a:pPr eaLnBrk="1" hangingPunct="1">
              <a:lnSpc>
                <a:spcPct val="90000"/>
              </a:lnSpc>
            </a:pPr>
            <a:r>
              <a:rPr lang="en-US" sz="2800" dirty="0">
                <a:solidFill>
                  <a:srgbClr val="FF0000"/>
                </a:solidFill>
              </a:rPr>
              <a:t>Better Surface finishing</a:t>
            </a:r>
          </a:p>
          <a:p>
            <a:pPr eaLnBrk="1" hangingPunct="1">
              <a:lnSpc>
                <a:spcPct val="90000"/>
              </a:lnSpc>
            </a:pPr>
            <a:r>
              <a:rPr lang="en-US" sz="2800" dirty="0">
                <a:solidFill>
                  <a:srgbClr val="FF0000"/>
                </a:solidFill>
              </a:rPr>
              <a:t>Strain hardening increase strength</a:t>
            </a:r>
          </a:p>
          <a:p>
            <a:pPr eaLnBrk="1" hangingPunct="1">
              <a:lnSpc>
                <a:spcPct val="90000"/>
              </a:lnSpc>
            </a:pPr>
            <a:r>
              <a:rPr lang="en-US" sz="2800" dirty="0">
                <a:solidFill>
                  <a:srgbClr val="FF0000"/>
                </a:solidFill>
              </a:rPr>
              <a:t>Costs</a:t>
            </a:r>
            <a:endParaRPr lang="th-TH" sz="2800" dirty="0">
              <a:solidFill>
                <a:srgbClr val="FF0000"/>
              </a:solidFill>
            </a:endParaRPr>
          </a:p>
        </p:txBody>
      </p:sp>
      <p:sp>
        <p:nvSpPr>
          <p:cNvPr id="7173" name="Rectangle 5"/>
          <p:cNvSpPr>
            <a:spLocks noChangeArrowheads="1"/>
          </p:cNvSpPr>
          <p:nvPr/>
        </p:nvSpPr>
        <p:spPr bwMode="auto">
          <a:xfrm>
            <a:off x="758825" y="0"/>
            <a:ext cx="7772400" cy="1143000"/>
          </a:xfrm>
          <a:prstGeom prst="rect">
            <a:avLst/>
          </a:prstGeom>
          <a:noFill/>
          <a:ln w="9525">
            <a:noFill/>
            <a:miter lim="800000"/>
            <a:headEnd/>
            <a:tailEnd/>
          </a:ln>
        </p:spPr>
        <p:txBody>
          <a:bodyPr anchor="ctr"/>
          <a:lstStyle/>
          <a:p>
            <a:pPr algn="ctr"/>
            <a:endParaRPr lang="th-TH" sz="4400" dirty="0">
              <a:solidFill>
                <a:schemeClr val="tx2"/>
              </a:solidFill>
            </a:endParaRPr>
          </a:p>
        </p:txBody>
      </p:sp>
      <p:pic>
        <p:nvPicPr>
          <p:cNvPr id="3" name="Picture 2">
            <a:extLst>
              <a:ext uri="{FF2B5EF4-FFF2-40B4-BE49-F238E27FC236}">
                <a16:creationId xmlns:a16="http://schemas.microsoft.com/office/drawing/2014/main" id="{E53A0B1D-7CC1-E4CD-537D-C4BC2EF0079F}"/>
              </a:ext>
            </a:extLst>
          </p:cNvPr>
          <p:cNvPicPr>
            <a:picLocks noChangeAspect="1"/>
          </p:cNvPicPr>
          <p:nvPr/>
        </p:nvPicPr>
        <p:blipFill>
          <a:blip r:embed="rId2"/>
          <a:stretch>
            <a:fillRect/>
          </a:stretch>
        </p:blipFill>
        <p:spPr>
          <a:xfrm>
            <a:off x="612775" y="755831"/>
            <a:ext cx="7772400" cy="3457575"/>
          </a:xfrm>
          <a:prstGeom prst="rect">
            <a:avLst/>
          </a:prstGeom>
        </p:spPr>
      </p:pic>
      <p:sp>
        <p:nvSpPr>
          <p:cNvPr id="7" name="TextBox 6">
            <a:extLst>
              <a:ext uri="{FF2B5EF4-FFF2-40B4-BE49-F238E27FC236}">
                <a16:creationId xmlns:a16="http://schemas.microsoft.com/office/drawing/2014/main" id="{D2E2B7F6-06AE-AFBB-3E94-113616AD207A}"/>
              </a:ext>
            </a:extLst>
          </p:cNvPr>
          <p:cNvSpPr txBox="1"/>
          <p:nvPr/>
        </p:nvSpPr>
        <p:spPr>
          <a:xfrm>
            <a:off x="329783" y="4440679"/>
            <a:ext cx="8306373" cy="584775"/>
          </a:xfrm>
          <a:prstGeom prst="rect">
            <a:avLst/>
          </a:prstGeom>
          <a:noFill/>
        </p:spPr>
        <p:txBody>
          <a:bodyPr wrap="square">
            <a:spAutoFit/>
          </a:bodyPr>
          <a:lstStyle/>
          <a:p>
            <a:pPr algn="ctr"/>
            <a:r>
              <a:rPr lang="en-US" sz="3200" dirty="0">
                <a:solidFill>
                  <a:schemeClr val="tx2"/>
                </a:solidFill>
              </a:rPr>
              <a:t>Temperature in metal forming</a:t>
            </a:r>
            <a:endParaRPr lang="th-TH" sz="3200" dirty="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24612">
                                            <p:txEl>
                                              <p:pRg st="0" end="0"/>
                                            </p:txEl>
                                          </p:spTgt>
                                        </p:tgtEl>
                                        <p:attrNameLst>
                                          <p:attrName>style.visibility</p:attrName>
                                        </p:attrNameLst>
                                      </p:cBhvr>
                                      <p:to>
                                        <p:strVal val="visible"/>
                                      </p:to>
                                    </p:set>
                                    <p:animEffect transition="in" filter="box(in)">
                                      <p:cBhvr>
                                        <p:cTn id="7" dur="500"/>
                                        <p:tgtEl>
                                          <p:spTgt spid="3246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24612">
                                            <p:txEl>
                                              <p:pRg st="1" end="1"/>
                                            </p:txEl>
                                          </p:spTgt>
                                        </p:tgtEl>
                                        <p:attrNameLst>
                                          <p:attrName>style.visibility</p:attrName>
                                        </p:attrNameLst>
                                      </p:cBhvr>
                                      <p:to>
                                        <p:strVal val="visible"/>
                                      </p:to>
                                    </p:set>
                                    <p:animEffect transition="in" filter="box(in)">
                                      <p:cBhvr>
                                        <p:cTn id="12" dur="500"/>
                                        <p:tgtEl>
                                          <p:spTgt spid="3246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24612">
                                            <p:txEl>
                                              <p:pRg st="2" end="2"/>
                                            </p:txEl>
                                          </p:spTgt>
                                        </p:tgtEl>
                                        <p:attrNameLst>
                                          <p:attrName>style.visibility</p:attrName>
                                        </p:attrNameLst>
                                      </p:cBhvr>
                                      <p:to>
                                        <p:strVal val="visible"/>
                                      </p:to>
                                    </p:set>
                                    <p:animEffect transition="in" filter="box(in)">
                                      <p:cBhvr>
                                        <p:cTn id="17" dur="500"/>
                                        <p:tgtEl>
                                          <p:spTgt spid="3246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24612">
                                            <p:txEl>
                                              <p:pRg st="3" end="3"/>
                                            </p:txEl>
                                          </p:spTgt>
                                        </p:tgtEl>
                                        <p:attrNameLst>
                                          <p:attrName>style.visibility</p:attrName>
                                        </p:attrNameLst>
                                      </p:cBhvr>
                                      <p:to>
                                        <p:strVal val="visible"/>
                                      </p:to>
                                    </p:set>
                                    <p:animEffect transition="in" filter="box(in)">
                                      <p:cBhvr>
                                        <p:cTn id="22" dur="500"/>
                                        <p:tgtEl>
                                          <p:spTgt spid="3246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19338" y="620713"/>
            <a:ext cx="4503737" cy="828675"/>
          </a:xfrm>
          <a:solidFill>
            <a:srgbClr val="CCFFFF">
              <a:alpha val="50195"/>
            </a:srgbClr>
          </a:solidFill>
          <a:ln>
            <a:solidFill>
              <a:srgbClr val="808080"/>
            </a:solidFill>
          </a:ln>
        </p:spPr>
        <p:txBody>
          <a:bodyPr lIns="0" tIns="0" rIns="0" bIns="0"/>
          <a:lstStyle/>
          <a:p>
            <a:pPr eaLnBrk="1" hangingPunct="1"/>
            <a:r>
              <a:rPr lang="en-GB" altLang="en-US" sz="3200"/>
              <a:t>Preferred Orientation</a:t>
            </a:r>
          </a:p>
        </p:txBody>
      </p:sp>
      <p:pic>
        <p:nvPicPr>
          <p:cNvPr id="8195" name="Picture 3"/>
          <p:cNvPicPr>
            <a:picLocks noChangeAspect="1" noChangeArrowheads="1"/>
          </p:cNvPicPr>
          <p:nvPr/>
        </p:nvPicPr>
        <p:blipFill>
          <a:blip r:embed="rId3" cstate="print"/>
          <a:srcRect/>
          <a:stretch>
            <a:fillRect/>
          </a:stretch>
        </p:blipFill>
        <p:spPr bwMode="auto">
          <a:xfrm>
            <a:off x="417513" y="2041525"/>
            <a:ext cx="4537075" cy="2578100"/>
          </a:xfrm>
          <a:prstGeom prst="rect">
            <a:avLst/>
          </a:prstGeom>
          <a:noFill/>
          <a:ln w="9525">
            <a:noFill/>
            <a:miter lim="800000"/>
            <a:headEnd/>
            <a:tailEnd/>
          </a:ln>
        </p:spPr>
      </p:pic>
      <p:sp>
        <p:nvSpPr>
          <p:cNvPr id="8196" name="Text Box 4"/>
          <p:cNvSpPr txBox="1">
            <a:spLocks noChangeArrowheads="1"/>
          </p:cNvSpPr>
          <p:nvPr/>
        </p:nvSpPr>
        <p:spPr bwMode="auto">
          <a:xfrm>
            <a:off x="5426075" y="2065338"/>
            <a:ext cx="3487738" cy="4278312"/>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 pos="2627313" algn="l"/>
              </a:tabLst>
            </a:pPr>
            <a:r>
              <a:rPr lang="en-GB" altLang="en-US" sz="2400" dirty="0"/>
              <a:t>Plastic deformation of idealized (equiaxed) grains in a specimen subjected to compression (such as occurs in the rolling or forging of metals): (a) before deformation; and (b) after deformation.  Note the alignment of grain boundaries along a horizontal direction; this effect is known as preferred orientation.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20738" y="0"/>
            <a:ext cx="7772400" cy="1143000"/>
          </a:xfrm>
        </p:spPr>
        <p:txBody>
          <a:bodyPr/>
          <a:lstStyle/>
          <a:p>
            <a:pPr eaLnBrk="1" hangingPunct="1"/>
            <a:r>
              <a:rPr lang="en-US"/>
              <a:t>Recrystallization</a:t>
            </a:r>
            <a:endParaRPr lang="th-TH"/>
          </a:p>
        </p:txBody>
      </p:sp>
      <p:pic>
        <p:nvPicPr>
          <p:cNvPr id="9219" name="Picture 3" descr="Recovery"/>
          <p:cNvPicPr>
            <a:picLocks noGrp="1" noChangeAspect="1" noChangeArrowheads="1"/>
          </p:cNvPicPr>
          <p:nvPr>
            <p:ph idx="1"/>
          </p:nvPr>
        </p:nvPicPr>
        <p:blipFill>
          <a:blip r:embed="rId2" cstate="print"/>
          <a:srcRect/>
          <a:stretch>
            <a:fillRect/>
          </a:stretch>
        </p:blipFill>
        <p:spPr>
          <a:xfrm>
            <a:off x="1987550" y="1063625"/>
            <a:ext cx="5489575" cy="5489575"/>
          </a:xfr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body" idx="1"/>
          </p:nvPr>
        </p:nvSpPr>
        <p:spPr>
          <a:xfrm>
            <a:off x="212152" y="1193006"/>
            <a:ext cx="8568310" cy="4778375"/>
          </a:xfrm>
        </p:spPr>
        <p:txBody>
          <a:bodyPr/>
          <a:lstStyle/>
          <a:p>
            <a:pPr eaLnBrk="1" hangingPunct="1"/>
            <a:r>
              <a:rPr lang="en-US" dirty="0"/>
              <a:t>Metal forming performed at room temp or slightly above (below their recrystallisation temperature</a:t>
            </a:r>
          </a:p>
          <a:p>
            <a:pPr eaLnBrk="1" hangingPunct="1"/>
            <a:endParaRPr lang="en-US" dirty="0"/>
          </a:p>
          <a:p>
            <a:pPr eaLnBrk="1" hangingPunct="1"/>
            <a:endParaRPr lang="en-US" dirty="0"/>
          </a:p>
          <a:p>
            <a:pPr eaLnBrk="1" hangingPunct="1"/>
            <a:endParaRPr lang="th-TH" dirty="0"/>
          </a:p>
        </p:txBody>
      </p:sp>
      <p:sp>
        <p:nvSpPr>
          <p:cNvPr id="328707" name="Text Box 3"/>
          <p:cNvSpPr txBox="1">
            <a:spLocks noChangeArrowheads="1"/>
          </p:cNvSpPr>
          <p:nvPr/>
        </p:nvSpPr>
        <p:spPr bwMode="auto">
          <a:xfrm>
            <a:off x="363538" y="2603500"/>
            <a:ext cx="4344987" cy="2647950"/>
          </a:xfrm>
          <a:prstGeom prst="rect">
            <a:avLst/>
          </a:prstGeom>
          <a:noFill/>
          <a:ln w="9525">
            <a:noFill/>
            <a:miter lim="800000"/>
            <a:headEnd/>
            <a:tailEnd/>
          </a:ln>
        </p:spPr>
        <p:txBody>
          <a:bodyPr>
            <a:spAutoFit/>
          </a:bodyPr>
          <a:lstStyle/>
          <a:p>
            <a:pPr>
              <a:spcBef>
                <a:spcPct val="50000"/>
              </a:spcBef>
            </a:pPr>
            <a:r>
              <a:rPr lang="en-US" sz="2400" b="1"/>
              <a:t>Advantage</a:t>
            </a:r>
          </a:p>
          <a:p>
            <a:pPr>
              <a:spcBef>
                <a:spcPct val="50000"/>
              </a:spcBef>
            </a:pPr>
            <a:r>
              <a:rPr lang="en-US" sz="2400"/>
              <a:t>Better accuracy</a:t>
            </a:r>
          </a:p>
          <a:p>
            <a:pPr>
              <a:spcBef>
                <a:spcPct val="50000"/>
              </a:spcBef>
            </a:pPr>
            <a:r>
              <a:rPr lang="en-US" sz="2400"/>
              <a:t>Better Surface finishing</a:t>
            </a:r>
          </a:p>
          <a:p>
            <a:pPr>
              <a:spcBef>
                <a:spcPct val="50000"/>
              </a:spcBef>
            </a:pPr>
            <a:r>
              <a:rPr lang="en-US" sz="2400"/>
              <a:t>Strain hardening increase strength</a:t>
            </a:r>
          </a:p>
          <a:p>
            <a:pPr>
              <a:spcBef>
                <a:spcPct val="50000"/>
              </a:spcBef>
            </a:pPr>
            <a:r>
              <a:rPr lang="en-US" sz="2400"/>
              <a:t>Costs</a:t>
            </a:r>
            <a:endParaRPr lang="th-TH" sz="2400"/>
          </a:p>
        </p:txBody>
      </p:sp>
      <p:sp>
        <p:nvSpPr>
          <p:cNvPr id="328708" name="Text Box 4"/>
          <p:cNvSpPr txBox="1">
            <a:spLocks noChangeArrowheads="1"/>
          </p:cNvSpPr>
          <p:nvPr/>
        </p:nvSpPr>
        <p:spPr bwMode="auto">
          <a:xfrm>
            <a:off x="4799013" y="2532063"/>
            <a:ext cx="4344987" cy="2100262"/>
          </a:xfrm>
          <a:prstGeom prst="rect">
            <a:avLst/>
          </a:prstGeom>
          <a:noFill/>
          <a:ln w="9525">
            <a:noFill/>
            <a:miter lim="800000"/>
            <a:headEnd/>
            <a:tailEnd/>
          </a:ln>
        </p:spPr>
        <p:txBody>
          <a:bodyPr>
            <a:spAutoFit/>
          </a:bodyPr>
          <a:lstStyle/>
          <a:p>
            <a:pPr>
              <a:spcBef>
                <a:spcPct val="50000"/>
              </a:spcBef>
            </a:pPr>
            <a:r>
              <a:rPr lang="en-US" sz="2400" b="1">
                <a:solidFill>
                  <a:srgbClr val="FF0000"/>
                </a:solidFill>
              </a:rPr>
              <a:t>Disadvantage</a:t>
            </a:r>
          </a:p>
          <a:p>
            <a:pPr>
              <a:spcBef>
                <a:spcPct val="50000"/>
              </a:spcBef>
            </a:pPr>
            <a:r>
              <a:rPr lang="en-US" sz="2400">
                <a:solidFill>
                  <a:srgbClr val="FF0000"/>
                </a:solidFill>
              </a:rPr>
              <a:t>Higher forces are required</a:t>
            </a:r>
          </a:p>
          <a:p>
            <a:pPr>
              <a:spcBef>
                <a:spcPct val="50000"/>
              </a:spcBef>
            </a:pPr>
            <a:r>
              <a:rPr lang="en-US" sz="2400">
                <a:solidFill>
                  <a:srgbClr val="FF0000"/>
                </a:solidFill>
              </a:rPr>
              <a:t>Care the surface</a:t>
            </a:r>
          </a:p>
          <a:p>
            <a:pPr>
              <a:spcBef>
                <a:spcPct val="50000"/>
              </a:spcBef>
            </a:pPr>
            <a:r>
              <a:rPr lang="en-US" sz="2400">
                <a:solidFill>
                  <a:srgbClr val="FF0000"/>
                </a:solidFill>
              </a:rPr>
              <a:t>Ductility is limited.</a:t>
            </a:r>
          </a:p>
        </p:txBody>
      </p:sp>
      <p:sp>
        <p:nvSpPr>
          <p:cNvPr id="10245" name="WordArt 5"/>
          <p:cNvSpPr>
            <a:spLocks noChangeArrowheads="1" noChangeShapeType="1" noTextEdit="1"/>
          </p:cNvSpPr>
          <p:nvPr/>
        </p:nvSpPr>
        <p:spPr bwMode="auto">
          <a:xfrm>
            <a:off x="350838" y="236538"/>
            <a:ext cx="3295650" cy="6477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Cold Working</a:t>
            </a:r>
            <a:endParaRPr lang="th-TH"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8707">
                                            <p:txEl>
                                              <p:pRg st="1" end="1"/>
                                            </p:txEl>
                                          </p:spTgt>
                                        </p:tgtEl>
                                        <p:attrNameLst>
                                          <p:attrName>style.visibility</p:attrName>
                                        </p:attrNameLst>
                                      </p:cBhvr>
                                      <p:to>
                                        <p:strVal val="visible"/>
                                      </p:to>
                                    </p:set>
                                    <p:anim calcmode="lin" valueType="num">
                                      <p:cBhvr additive="base">
                                        <p:cTn id="7" dur="500" fill="hold"/>
                                        <p:tgtEl>
                                          <p:spTgt spid="32870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87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 calcmode="lin" valueType="num">
                                      <p:cBhvr additive="base">
                                        <p:cTn id="13" dur="500" fill="hold"/>
                                        <p:tgtEl>
                                          <p:spTgt spid="32870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87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8707">
                                            <p:txEl>
                                              <p:pRg st="3" end="3"/>
                                            </p:txEl>
                                          </p:spTgt>
                                        </p:tgtEl>
                                        <p:attrNameLst>
                                          <p:attrName>style.visibility</p:attrName>
                                        </p:attrNameLst>
                                      </p:cBhvr>
                                      <p:to>
                                        <p:strVal val="visible"/>
                                      </p:to>
                                    </p:set>
                                    <p:anim calcmode="lin" valueType="num">
                                      <p:cBhvr additive="base">
                                        <p:cTn id="19" dur="500" fill="hold"/>
                                        <p:tgtEl>
                                          <p:spTgt spid="32870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87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28707">
                                            <p:txEl>
                                              <p:pRg st="4" end="4"/>
                                            </p:txEl>
                                          </p:spTgt>
                                        </p:tgtEl>
                                        <p:attrNameLst>
                                          <p:attrName>style.visibility</p:attrName>
                                        </p:attrNameLst>
                                      </p:cBhvr>
                                      <p:to>
                                        <p:strVal val="visible"/>
                                      </p:to>
                                    </p:set>
                                    <p:anim calcmode="lin" valueType="num">
                                      <p:cBhvr additive="base">
                                        <p:cTn id="25" dur="500" fill="hold"/>
                                        <p:tgtEl>
                                          <p:spTgt spid="32870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87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28708">
                                            <p:txEl>
                                              <p:pRg st="1" end="1"/>
                                            </p:txEl>
                                          </p:spTgt>
                                        </p:tgtEl>
                                        <p:attrNameLst>
                                          <p:attrName>style.visibility</p:attrName>
                                        </p:attrNameLst>
                                      </p:cBhvr>
                                      <p:to>
                                        <p:strVal val="visible"/>
                                      </p:to>
                                    </p:set>
                                    <p:animEffect transition="in" filter="blinds(horizontal)">
                                      <p:cBhvr>
                                        <p:cTn id="31" dur="500"/>
                                        <p:tgtEl>
                                          <p:spTgt spid="328708">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28708">
                                            <p:txEl>
                                              <p:pRg st="2" end="2"/>
                                            </p:txEl>
                                          </p:spTgt>
                                        </p:tgtEl>
                                        <p:attrNameLst>
                                          <p:attrName>style.visibility</p:attrName>
                                        </p:attrNameLst>
                                      </p:cBhvr>
                                      <p:to>
                                        <p:strVal val="visible"/>
                                      </p:to>
                                    </p:set>
                                    <p:animEffect transition="in" filter="blinds(horizontal)">
                                      <p:cBhvr>
                                        <p:cTn id="36" dur="500"/>
                                        <p:tgtEl>
                                          <p:spTgt spid="328708">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328708">
                                            <p:txEl>
                                              <p:pRg st="3" end="3"/>
                                            </p:txEl>
                                          </p:spTgt>
                                        </p:tgtEl>
                                        <p:attrNameLst>
                                          <p:attrName>style.visibility</p:attrName>
                                        </p:attrNameLst>
                                      </p:cBhvr>
                                      <p:to>
                                        <p:strVal val="visible"/>
                                      </p:to>
                                    </p:set>
                                    <p:animEffect transition="in" filter="blinds(horizontal)">
                                      <p:cBhvr>
                                        <p:cTn id="41" dur="500"/>
                                        <p:tgtEl>
                                          <p:spTgt spid="32870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790950" y="447675"/>
            <a:ext cx="2497138" cy="911225"/>
          </a:xfrm>
          <a:prstGeom prst="rect">
            <a:avLst/>
          </a:prstGeom>
          <a:solidFill>
            <a:srgbClr val="CCFFFF">
              <a:alpha val="50195"/>
            </a:srgbClr>
          </a:solidFill>
          <a:ln w="9525">
            <a:solidFill>
              <a:srgbClr val="808080"/>
            </a:solidFill>
            <a:miter lim="800000"/>
            <a:headEnd/>
            <a:tailEnd/>
          </a:ln>
        </p:spPr>
        <p:txBody>
          <a:bodyPr lIns="0" tIns="0" rIns="0" bIns="0" anchor="ctr"/>
          <a:lstStyle/>
          <a:p>
            <a:pPr algn="ctr"/>
            <a:r>
              <a:rPr lang="en-GB" sz="4400">
                <a:solidFill>
                  <a:schemeClr val="tx2"/>
                </a:solidFill>
              </a:rPr>
              <a:t>Cracks </a:t>
            </a:r>
          </a:p>
        </p:txBody>
      </p:sp>
      <p:sp>
        <p:nvSpPr>
          <p:cNvPr id="11267" name="Text Box 3"/>
          <p:cNvSpPr txBox="1">
            <a:spLocks noChangeArrowheads="1"/>
          </p:cNvSpPr>
          <p:nvPr/>
        </p:nvSpPr>
        <p:spPr bwMode="auto">
          <a:xfrm>
            <a:off x="4491038" y="4243388"/>
            <a:ext cx="4773612" cy="1366837"/>
          </a:xfrm>
          <a:prstGeom prst="rect">
            <a:avLst/>
          </a:prstGeom>
          <a:noFill/>
          <a:ln w="9525">
            <a:noFill/>
            <a:miter lim="800000"/>
            <a:headEnd/>
            <a:tailEnd/>
          </a:ln>
        </p:spPr>
        <p:txBody>
          <a:bodyPr lIns="0" tIns="0" rIns="0" bIns="0"/>
          <a:lstStyle/>
          <a:p>
            <a:pPr eaLnBrk="0" hangingPunct="0">
              <a:lnSpc>
                <a:spcPct val="85000"/>
              </a:lnSpc>
              <a:tabLst>
                <a:tab pos="723900" algn="l"/>
                <a:tab pos="1447800" algn="l"/>
                <a:tab pos="2171700" algn="l"/>
                <a:tab pos="2895600" algn="l"/>
                <a:tab pos="3619500" algn="l"/>
                <a:tab pos="4343400" algn="l"/>
              </a:tabLst>
            </a:pPr>
            <a:r>
              <a:rPr lang="en-GB" sz="1600"/>
              <a:t>Figure (a) and (b) The effect of elongated inclusions (stringers) on cracking, as a function of the direction of bending with respect to the original rolling direction of the sheet.  (c) Cracks on the outer surface of an aluminum strip bent to an angle of 90o.  Note the narrowing of the tope surface due to the Poisson effect.</a:t>
            </a:r>
          </a:p>
        </p:txBody>
      </p:sp>
      <p:grpSp>
        <p:nvGrpSpPr>
          <p:cNvPr id="11268" name="Group 4"/>
          <p:cNvGrpSpPr>
            <a:grpSpLocks/>
          </p:cNvGrpSpPr>
          <p:nvPr/>
        </p:nvGrpSpPr>
        <p:grpSpPr bwMode="auto">
          <a:xfrm>
            <a:off x="687388" y="1566863"/>
            <a:ext cx="8456612" cy="2513012"/>
            <a:chOff x="511" y="1013"/>
            <a:chExt cx="5327" cy="1583"/>
          </a:xfrm>
        </p:grpSpPr>
        <p:pic>
          <p:nvPicPr>
            <p:cNvPr id="11272" name="Picture 5"/>
            <p:cNvPicPr>
              <a:picLocks noChangeAspect="1" noChangeArrowheads="1"/>
            </p:cNvPicPr>
            <p:nvPr/>
          </p:nvPicPr>
          <p:blipFill>
            <a:blip r:embed="rId2" cstate="print"/>
            <a:srcRect/>
            <a:stretch>
              <a:fillRect/>
            </a:stretch>
          </p:blipFill>
          <p:spPr bwMode="auto">
            <a:xfrm>
              <a:off x="511" y="1013"/>
              <a:ext cx="5327" cy="1583"/>
            </a:xfrm>
            <a:prstGeom prst="rect">
              <a:avLst/>
            </a:prstGeom>
            <a:noFill/>
            <a:ln w="9525">
              <a:noFill/>
              <a:miter lim="800000"/>
              <a:headEnd/>
              <a:tailEnd/>
            </a:ln>
          </p:spPr>
        </p:pic>
        <p:sp>
          <p:nvSpPr>
            <p:cNvPr id="11273" name="Text Box 6"/>
            <p:cNvSpPr txBox="1">
              <a:spLocks noChangeArrowheads="1"/>
            </p:cNvSpPr>
            <p:nvPr/>
          </p:nvSpPr>
          <p:spPr bwMode="auto">
            <a:xfrm>
              <a:off x="577" y="1052"/>
              <a:ext cx="327" cy="143"/>
            </a:xfrm>
            <a:prstGeom prst="rect">
              <a:avLst/>
            </a:prstGeom>
            <a:noFill/>
            <a:ln w="9525">
              <a:noFill/>
              <a:miter lim="800000"/>
              <a:headEnd/>
              <a:tailEnd/>
            </a:ln>
          </p:spPr>
          <p:txBody>
            <a:bodyPr lIns="0" tIns="0" rIns="0" bIns="0"/>
            <a:lstStyle/>
            <a:p>
              <a:pPr eaLnBrk="0" hangingPunct="0">
                <a:lnSpc>
                  <a:spcPct val="85000"/>
                </a:lnSpc>
              </a:pPr>
              <a:r>
                <a:rPr lang="en-GB" sz="1600"/>
                <a:t>(a)</a:t>
              </a:r>
            </a:p>
          </p:txBody>
        </p:sp>
        <p:sp>
          <p:nvSpPr>
            <p:cNvPr id="11274" name="Text Box 7"/>
            <p:cNvSpPr txBox="1">
              <a:spLocks noChangeArrowheads="1"/>
            </p:cNvSpPr>
            <p:nvPr/>
          </p:nvSpPr>
          <p:spPr bwMode="auto">
            <a:xfrm>
              <a:off x="3166" y="1054"/>
              <a:ext cx="288" cy="143"/>
            </a:xfrm>
            <a:prstGeom prst="rect">
              <a:avLst/>
            </a:prstGeom>
            <a:noFill/>
            <a:ln w="9525">
              <a:noFill/>
              <a:miter lim="800000"/>
              <a:headEnd/>
              <a:tailEnd/>
            </a:ln>
          </p:spPr>
          <p:txBody>
            <a:bodyPr lIns="0" tIns="0" rIns="0" bIns="0"/>
            <a:lstStyle/>
            <a:p>
              <a:pPr eaLnBrk="0" hangingPunct="0">
                <a:lnSpc>
                  <a:spcPct val="85000"/>
                </a:lnSpc>
              </a:pPr>
              <a:r>
                <a:rPr lang="en-GB" sz="1600"/>
                <a:t>(b)</a:t>
              </a:r>
            </a:p>
          </p:txBody>
        </p:sp>
      </p:grpSp>
      <p:grpSp>
        <p:nvGrpSpPr>
          <p:cNvPr id="11269" name="Group 8"/>
          <p:cNvGrpSpPr>
            <a:grpSpLocks/>
          </p:cNvGrpSpPr>
          <p:nvPr/>
        </p:nvGrpSpPr>
        <p:grpSpPr bwMode="auto">
          <a:xfrm>
            <a:off x="811213" y="4224338"/>
            <a:ext cx="3509962" cy="2622550"/>
            <a:chOff x="511" y="2661"/>
            <a:chExt cx="2211" cy="1652"/>
          </a:xfrm>
        </p:grpSpPr>
        <p:pic>
          <p:nvPicPr>
            <p:cNvPr id="11270" name="Picture 9"/>
            <p:cNvPicPr>
              <a:picLocks noChangeAspect="1" noChangeArrowheads="1"/>
            </p:cNvPicPr>
            <p:nvPr/>
          </p:nvPicPr>
          <p:blipFill>
            <a:blip r:embed="rId3" cstate="print"/>
            <a:srcRect/>
            <a:stretch>
              <a:fillRect/>
            </a:stretch>
          </p:blipFill>
          <p:spPr bwMode="auto">
            <a:xfrm>
              <a:off x="511" y="2661"/>
              <a:ext cx="2211" cy="1652"/>
            </a:xfrm>
            <a:prstGeom prst="rect">
              <a:avLst/>
            </a:prstGeom>
            <a:noFill/>
            <a:ln w="9525">
              <a:noFill/>
              <a:miter lim="800000"/>
              <a:headEnd/>
              <a:tailEnd/>
            </a:ln>
          </p:spPr>
        </p:pic>
        <p:sp>
          <p:nvSpPr>
            <p:cNvPr id="11271" name="Text Box 10"/>
            <p:cNvSpPr txBox="1">
              <a:spLocks noChangeArrowheads="1"/>
            </p:cNvSpPr>
            <p:nvPr/>
          </p:nvSpPr>
          <p:spPr bwMode="auto">
            <a:xfrm>
              <a:off x="577" y="2704"/>
              <a:ext cx="264" cy="143"/>
            </a:xfrm>
            <a:prstGeom prst="rect">
              <a:avLst/>
            </a:prstGeom>
            <a:noFill/>
            <a:ln w="9525">
              <a:noFill/>
              <a:miter lim="800000"/>
              <a:headEnd/>
              <a:tailEnd/>
            </a:ln>
          </p:spPr>
          <p:txBody>
            <a:bodyPr lIns="0" tIns="0" rIns="0" bIns="0"/>
            <a:lstStyle/>
            <a:p>
              <a:pPr eaLnBrk="0" hangingPunct="0">
                <a:lnSpc>
                  <a:spcPct val="85000"/>
                </a:lnSpc>
              </a:pPr>
              <a:r>
                <a:rPr lang="en-GB" sz="1600"/>
                <a:t>(c)</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body" idx="1"/>
          </p:nvPr>
        </p:nvSpPr>
        <p:spPr/>
        <p:txBody>
          <a:bodyPr/>
          <a:lstStyle/>
          <a:p>
            <a:pPr marL="53975" indent="-53975" eaLnBrk="1" hangingPunct="1">
              <a:lnSpc>
                <a:spcPct val="90000"/>
              </a:lnSpc>
            </a:pPr>
            <a:r>
              <a:rPr lang="en-US" sz="2400" dirty="0"/>
              <a:t>T above Recrystallization Temp.</a:t>
            </a:r>
            <a:endParaRPr lang="en-US" dirty="0"/>
          </a:p>
          <a:p>
            <a:pPr marL="53975" indent="-53975" eaLnBrk="1" hangingPunct="1">
              <a:lnSpc>
                <a:spcPct val="90000"/>
              </a:lnSpc>
            </a:pPr>
            <a:r>
              <a:rPr lang="en-US" sz="2400" dirty="0"/>
              <a:t>0. 5T</a:t>
            </a:r>
            <a:r>
              <a:rPr lang="en-US" sz="2400" baseline="-25000" dirty="0"/>
              <a:t>m</a:t>
            </a:r>
            <a:r>
              <a:rPr lang="en-US" sz="2400" dirty="0"/>
              <a:t> &lt;  T  &lt;  0.75T</a:t>
            </a:r>
            <a:r>
              <a:rPr lang="en-US" sz="2400" baseline="-25000" dirty="0"/>
              <a:t>m</a:t>
            </a:r>
            <a:r>
              <a:rPr lang="en-US" sz="2400" dirty="0"/>
              <a:t>)</a:t>
            </a:r>
          </a:p>
          <a:p>
            <a:pPr marL="53975" indent="-53975" eaLnBrk="1" hangingPunct="1">
              <a:lnSpc>
                <a:spcPct val="90000"/>
              </a:lnSpc>
              <a:buFontTx/>
              <a:buNone/>
            </a:pPr>
            <a:r>
              <a:rPr lang="en-US" sz="2400" b="1" dirty="0"/>
              <a:t>Advantage</a:t>
            </a:r>
          </a:p>
          <a:p>
            <a:pPr lvl="1" indent="-574675" eaLnBrk="1" hangingPunct="1">
              <a:lnSpc>
                <a:spcPct val="90000"/>
              </a:lnSpc>
            </a:pPr>
            <a:r>
              <a:rPr lang="en-US" sz="2000" dirty="0"/>
              <a:t>The shape can be significantly altered</a:t>
            </a:r>
          </a:p>
          <a:p>
            <a:pPr lvl="1" indent="-574675" eaLnBrk="1" hangingPunct="1">
              <a:lnSpc>
                <a:spcPct val="90000"/>
              </a:lnSpc>
            </a:pPr>
            <a:r>
              <a:rPr lang="en-US" sz="2000" dirty="0"/>
              <a:t>Lower forces are required</a:t>
            </a:r>
          </a:p>
          <a:p>
            <a:pPr lvl="1" indent="-574675" eaLnBrk="1" hangingPunct="1">
              <a:lnSpc>
                <a:spcPct val="90000"/>
              </a:lnSpc>
            </a:pPr>
            <a:r>
              <a:rPr lang="en-US" sz="2000" dirty="0"/>
              <a:t>Fracture can be reduced</a:t>
            </a:r>
          </a:p>
          <a:p>
            <a:pPr lvl="1" indent="-574675" eaLnBrk="1" hangingPunct="1">
              <a:lnSpc>
                <a:spcPct val="90000"/>
              </a:lnSpc>
            </a:pPr>
            <a:r>
              <a:rPr lang="en-US" sz="2000" dirty="0"/>
              <a:t>Strength properties are generally isotropic </a:t>
            </a:r>
          </a:p>
          <a:p>
            <a:pPr lvl="1" indent="-574675" eaLnBrk="1" hangingPunct="1">
              <a:lnSpc>
                <a:spcPct val="90000"/>
              </a:lnSpc>
            </a:pPr>
            <a:r>
              <a:rPr lang="en-US" sz="2000" dirty="0"/>
              <a:t>No </a:t>
            </a:r>
            <a:r>
              <a:rPr lang="en-US" sz="2000" dirty="0" err="1"/>
              <a:t>strengthing</a:t>
            </a:r>
            <a:r>
              <a:rPr lang="en-US" sz="2000" dirty="0"/>
              <a:t> of the part occurs from work hardening</a:t>
            </a:r>
          </a:p>
          <a:p>
            <a:pPr lvl="1" indent="-574675" eaLnBrk="1" hangingPunct="1">
              <a:lnSpc>
                <a:spcPct val="90000"/>
              </a:lnSpc>
              <a:buFontTx/>
              <a:buNone/>
            </a:pPr>
            <a:r>
              <a:rPr lang="en-US" sz="2000" b="1" dirty="0"/>
              <a:t>Disadvantage</a:t>
            </a:r>
            <a:endParaRPr lang="th-TH" sz="2000" b="1" dirty="0">
              <a:cs typeface="Angsana New" pitchFamily="18" charset="-34"/>
            </a:endParaRPr>
          </a:p>
          <a:p>
            <a:pPr lvl="1" indent="-574675" eaLnBrk="1" hangingPunct="1">
              <a:lnSpc>
                <a:spcPct val="90000"/>
              </a:lnSpc>
              <a:buFontTx/>
              <a:buNone/>
            </a:pPr>
            <a:r>
              <a:rPr lang="en-US" sz="2000" b="1" dirty="0">
                <a:cs typeface="Angsana New" pitchFamily="18" charset="-34"/>
              </a:rPr>
              <a:t>Lower dimensional accuracy, higher energy, poorer surface finish</a:t>
            </a:r>
          </a:p>
          <a:p>
            <a:pPr lvl="1" indent="-574675" eaLnBrk="1" hangingPunct="1">
              <a:lnSpc>
                <a:spcPct val="90000"/>
              </a:lnSpc>
              <a:buFontTx/>
              <a:buNone/>
            </a:pPr>
            <a:r>
              <a:rPr lang="en-US" sz="2000" b="1" dirty="0">
                <a:cs typeface="Angsana New" pitchFamily="18" charset="-34"/>
              </a:rPr>
              <a:t>Shorter tool life</a:t>
            </a:r>
            <a:endParaRPr lang="th-TH" sz="2000" b="1" dirty="0">
              <a:cs typeface="Angsana New" pitchFamily="18" charset="-34"/>
            </a:endParaRPr>
          </a:p>
        </p:txBody>
      </p:sp>
      <p:sp>
        <p:nvSpPr>
          <p:cNvPr id="12291" name="WordArt 3"/>
          <p:cNvSpPr>
            <a:spLocks noChangeArrowheads="1" noChangeShapeType="1" noTextEdit="1"/>
          </p:cNvSpPr>
          <p:nvPr/>
        </p:nvSpPr>
        <p:spPr bwMode="auto">
          <a:xfrm>
            <a:off x="517525" y="433388"/>
            <a:ext cx="3100388" cy="1042987"/>
          </a:xfrm>
          <a:prstGeom prst="rect">
            <a:avLst/>
          </a:prstGeom>
        </p:spPr>
        <p:txBody>
          <a:bodyPr wrap="none" fromWordArt="1">
            <a:prstTxWarp prst="textCascadeUp">
              <a:avLst>
                <a:gd name="adj" fmla="val 44444"/>
              </a:avLst>
            </a:prstTxWarp>
            <a:scene3d>
              <a:camera prst="legacyPerspectiveFront">
                <a:rot lat="20519995" lon="1080000" rev="0"/>
              </a:camera>
              <a:lightRig rig="legacyHarsh2" dir="b"/>
            </a:scene3d>
            <a:sp3d extrusionH="430200" prstMaterial="legacyMatte">
              <a:extrusionClr>
                <a:srgbClr val="FF6600"/>
              </a:extrusionClr>
            </a:sp3d>
          </a:bodyPr>
          <a:lstStyle/>
          <a:p>
            <a:pPr algn="ctr"/>
            <a:r>
              <a:rPr lang="en-US" sz="3600" kern="10">
                <a:ln w="9525">
                  <a:round/>
                  <a:headEnd/>
                  <a:tailEnd/>
                </a:ln>
                <a:gradFill rotWithShape="1">
                  <a:gsLst>
                    <a:gs pos="0">
                      <a:srgbClr val="FFE701"/>
                    </a:gs>
                    <a:gs pos="100000">
                      <a:srgbClr val="FE3E02"/>
                    </a:gs>
                  </a:gsLst>
                  <a:lin ang="5400000" scaled="1"/>
                </a:gradFill>
                <a:latin typeface="Impact"/>
              </a:rPr>
              <a:t>Hot working</a:t>
            </a:r>
            <a:endParaRPr lang="th-TH" sz="3600" kern="10">
              <a:ln w="9525">
                <a:round/>
                <a:headEnd/>
                <a:tailEnd/>
              </a:ln>
              <a:gradFill rotWithShape="1">
                <a:gsLst>
                  <a:gs pos="0">
                    <a:srgbClr val="FFE701"/>
                  </a:gs>
                  <a:gs pos="100000">
                    <a:srgbClr val="FE3E02"/>
                  </a:gs>
                </a:gsLst>
                <a:lin ang="5400000" scaled="1"/>
              </a:gradFill>
              <a:latin typeface="Impac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32802">
                                            <p:txEl>
                                              <p:pRg st="3" end="3"/>
                                            </p:txEl>
                                          </p:spTgt>
                                        </p:tgtEl>
                                        <p:attrNameLst>
                                          <p:attrName>style.visibility</p:attrName>
                                        </p:attrNameLst>
                                      </p:cBhvr>
                                      <p:to>
                                        <p:strVal val="visible"/>
                                      </p:to>
                                    </p:set>
                                    <p:animEffect transition="in" filter="box(in)">
                                      <p:cBhvr>
                                        <p:cTn id="7" dur="500"/>
                                        <p:tgtEl>
                                          <p:spTgt spid="33280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32802">
                                            <p:txEl>
                                              <p:pRg st="4" end="4"/>
                                            </p:txEl>
                                          </p:spTgt>
                                        </p:tgtEl>
                                        <p:attrNameLst>
                                          <p:attrName>style.visibility</p:attrName>
                                        </p:attrNameLst>
                                      </p:cBhvr>
                                      <p:to>
                                        <p:strVal val="visible"/>
                                      </p:to>
                                    </p:set>
                                    <p:animEffect transition="in" filter="box(in)">
                                      <p:cBhvr>
                                        <p:cTn id="12" dur="500"/>
                                        <p:tgtEl>
                                          <p:spTgt spid="33280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32802">
                                            <p:txEl>
                                              <p:pRg st="5" end="5"/>
                                            </p:txEl>
                                          </p:spTgt>
                                        </p:tgtEl>
                                        <p:attrNameLst>
                                          <p:attrName>style.visibility</p:attrName>
                                        </p:attrNameLst>
                                      </p:cBhvr>
                                      <p:to>
                                        <p:strVal val="visible"/>
                                      </p:to>
                                    </p:set>
                                    <p:animEffect transition="in" filter="box(in)">
                                      <p:cBhvr>
                                        <p:cTn id="17" dur="500"/>
                                        <p:tgtEl>
                                          <p:spTgt spid="332802">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32802">
                                            <p:txEl>
                                              <p:pRg st="6" end="6"/>
                                            </p:txEl>
                                          </p:spTgt>
                                        </p:tgtEl>
                                        <p:attrNameLst>
                                          <p:attrName>style.visibility</p:attrName>
                                        </p:attrNameLst>
                                      </p:cBhvr>
                                      <p:to>
                                        <p:strVal val="visible"/>
                                      </p:to>
                                    </p:set>
                                    <p:animEffect transition="in" filter="box(in)">
                                      <p:cBhvr>
                                        <p:cTn id="22" dur="500"/>
                                        <p:tgtEl>
                                          <p:spTgt spid="33280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32802">
                                            <p:txEl>
                                              <p:pRg st="7" end="7"/>
                                            </p:txEl>
                                          </p:spTgt>
                                        </p:tgtEl>
                                        <p:attrNameLst>
                                          <p:attrName>style.visibility</p:attrName>
                                        </p:attrNameLst>
                                      </p:cBhvr>
                                      <p:to>
                                        <p:strVal val="visible"/>
                                      </p:to>
                                    </p:set>
                                    <p:animEffect transition="in" filter="box(in)">
                                      <p:cBhvr>
                                        <p:cTn id="27" dur="500"/>
                                        <p:tgtEl>
                                          <p:spTgt spid="332802">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32802">
                                            <p:txEl>
                                              <p:pRg st="8" end="8"/>
                                            </p:txEl>
                                          </p:spTgt>
                                        </p:tgtEl>
                                        <p:attrNameLst>
                                          <p:attrName>style.visibility</p:attrName>
                                        </p:attrNameLst>
                                      </p:cBhvr>
                                      <p:to>
                                        <p:strVal val="visible"/>
                                      </p:to>
                                    </p:set>
                                    <p:animEffect transition="in" filter="box(in)">
                                      <p:cBhvr>
                                        <p:cTn id="32" dur="500"/>
                                        <p:tgtEl>
                                          <p:spTgt spid="332802">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32802">
                                            <p:txEl>
                                              <p:pRg st="9" end="9"/>
                                            </p:txEl>
                                          </p:spTgt>
                                        </p:tgtEl>
                                        <p:attrNameLst>
                                          <p:attrName>style.visibility</p:attrName>
                                        </p:attrNameLst>
                                      </p:cBhvr>
                                      <p:to>
                                        <p:strVal val="visible"/>
                                      </p:to>
                                    </p:set>
                                    <p:animEffect transition="in" filter="box(in)">
                                      <p:cBhvr>
                                        <p:cTn id="37" dur="500"/>
                                        <p:tgtEl>
                                          <p:spTgt spid="332802">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32802">
                                            <p:txEl>
                                              <p:pRg st="10" end="10"/>
                                            </p:txEl>
                                          </p:spTgt>
                                        </p:tgtEl>
                                        <p:attrNameLst>
                                          <p:attrName>style.visibility</p:attrName>
                                        </p:attrNameLst>
                                      </p:cBhvr>
                                      <p:to>
                                        <p:strVal val="visible"/>
                                      </p:to>
                                    </p:set>
                                    <p:animEffect transition="in" filter="box(in)">
                                      <p:cBhvr>
                                        <p:cTn id="42" dur="500"/>
                                        <p:tgtEl>
                                          <p:spTgt spid="33280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p:txBody>
          <a:bodyPr/>
          <a:lstStyle/>
          <a:p>
            <a:pPr eaLnBrk="1" hangingPunct="1"/>
            <a:r>
              <a:rPr lang="en-US" sz="2400"/>
              <a:t>0.3Tm &lt;  T  &lt;   0.5Tm</a:t>
            </a:r>
          </a:p>
          <a:p>
            <a:pPr lvl="1" eaLnBrk="1" hangingPunct="1"/>
            <a:endParaRPr lang="en-US"/>
          </a:p>
          <a:p>
            <a:pPr eaLnBrk="1" hangingPunct="1"/>
            <a:endParaRPr lang="th-TH"/>
          </a:p>
        </p:txBody>
      </p:sp>
      <p:sp>
        <p:nvSpPr>
          <p:cNvPr id="13315" name="WordArt 3"/>
          <p:cNvSpPr>
            <a:spLocks noChangeArrowheads="1" noChangeShapeType="1" noTextEdit="1"/>
          </p:cNvSpPr>
          <p:nvPr/>
        </p:nvSpPr>
        <p:spPr bwMode="auto">
          <a:xfrm>
            <a:off x="368300" y="350838"/>
            <a:ext cx="3600450" cy="6477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solidFill>
                  <a:srgbClr val="FFFFFF"/>
                </a:solidFill>
                <a:latin typeface="Arial Black"/>
              </a:rPr>
              <a:t>Warm Working</a:t>
            </a:r>
            <a:endParaRPr lang="th-TH" sz="3600" kern="10">
              <a:ln w="9525">
                <a:solidFill>
                  <a:srgbClr val="000000"/>
                </a:solidFill>
                <a:round/>
                <a:headEnd/>
                <a:tailEnd/>
              </a:ln>
              <a:solidFill>
                <a:srgbClr val="FFFFFF"/>
              </a:solidFill>
              <a:latin typeface="Arial Black"/>
            </a:endParaRPr>
          </a:p>
        </p:txBody>
      </p:sp>
      <p:sp>
        <p:nvSpPr>
          <p:cNvPr id="333828" name="Rectangle 4"/>
          <p:cNvSpPr>
            <a:spLocks noChangeArrowheads="1"/>
          </p:cNvSpPr>
          <p:nvPr/>
        </p:nvSpPr>
        <p:spPr bwMode="auto">
          <a:xfrm>
            <a:off x="998538" y="2827338"/>
            <a:ext cx="4562475" cy="3016250"/>
          </a:xfrm>
          <a:prstGeom prst="rect">
            <a:avLst/>
          </a:prstGeom>
          <a:noFill/>
          <a:ln w="9525">
            <a:noFill/>
            <a:miter lim="800000"/>
            <a:headEnd/>
            <a:tailEnd/>
          </a:ln>
        </p:spPr>
        <p:txBody>
          <a:bodyPr>
            <a:spAutoFit/>
          </a:bodyPr>
          <a:lstStyle/>
          <a:p>
            <a:r>
              <a:rPr lang="en-US" b="1"/>
              <a:t>Advantage</a:t>
            </a:r>
          </a:p>
          <a:p>
            <a:pPr lvl="1">
              <a:buFontTx/>
              <a:buChar char="•"/>
            </a:pPr>
            <a:r>
              <a:rPr lang="en-US"/>
              <a:t>Lower forces are required</a:t>
            </a:r>
          </a:p>
          <a:p>
            <a:pPr lvl="1">
              <a:buFontTx/>
              <a:buChar char="•"/>
            </a:pPr>
            <a:r>
              <a:rPr lang="en-US"/>
              <a:t>More intricate work geometries possible</a:t>
            </a:r>
          </a:p>
          <a:p>
            <a:pPr lvl="1">
              <a:buFontTx/>
              <a:buChar char="•"/>
            </a:pPr>
            <a:r>
              <a:rPr lang="en-US"/>
              <a:t>The need for annealing may be reduced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3828">
                                            <p:txEl>
                                              <p:pRg st="1" end="1"/>
                                            </p:txEl>
                                          </p:spTgt>
                                        </p:tgtEl>
                                        <p:attrNameLst>
                                          <p:attrName>style.visibility</p:attrName>
                                        </p:attrNameLst>
                                      </p:cBhvr>
                                      <p:to>
                                        <p:strVal val="visible"/>
                                      </p:to>
                                    </p:set>
                                    <p:animEffect transition="in" filter="blinds(horizontal)">
                                      <p:cBhvr>
                                        <p:cTn id="7" dur="500"/>
                                        <p:tgtEl>
                                          <p:spTgt spid="33382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3828">
                                            <p:txEl>
                                              <p:pRg st="2" end="2"/>
                                            </p:txEl>
                                          </p:spTgt>
                                        </p:tgtEl>
                                        <p:attrNameLst>
                                          <p:attrName>style.visibility</p:attrName>
                                        </p:attrNameLst>
                                      </p:cBhvr>
                                      <p:to>
                                        <p:strVal val="visible"/>
                                      </p:to>
                                    </p:set>
                                    <p:animEffect transition="in" filter="blinds(horizontal)">
                                      <p:cBhvr>
                                        <p:cTn id="12" dur="500"/>
                                        <p:tgtEl>
                                          <p:spTgt spid="33382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3828">
                                            <p:txEl>
                                              <p:pRg st="3" end="3"/>
                                            </p:txEl>
                                          </p:spTgt>
                                        </p:tgtEl>
                                        <p:attrNameLst>
                                          <p:attrName>style.visibility</p:attrName>
                                        </p:attrNameLst>
                                      </p:cBhvr>
                                      <p:to>
                                        <p:strVal val="visible"/>
                                      </p:to>
                                    </p:set>
                                    <p:animEffect transition="in" filter="blinds(horizontal)">
                                      <p:cBhvr>
                                        <p:cTn id="17" dur="500"/>
                                        <p:tgtEl>
                                          <p:spTgt spid="3338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Isothermal </a:t>
            </a:r>
            <a:endParaRPr lang="th-TH"/>
          </a:p>
        </p:txBody>
      </p:sp>
      <p:sp>
        <p:nvSpPr>
          <p:cNvPr id="14339" name="Rectangle 3"/>
          <p:cNvSpPr>
            <a:spLocks noGrp="1" noChangeArrowheads="1"/>
          </p:cNvSpPr>
          <p:nvPr>
            <p:ph type="body" idx="1"/>
          </p:nvPr>
        </p:nvSpPr>
        <p:spPr/>
        <p:txBody>
          <a:bodyPr/>
          <a:lstStyle/>
          <a:p>
            <a:pPr eaLnBrk="1" hangingPunct="1"/>
            <a:r>
              <a:rPr lang="en-US" sz="2400"/>
              <a:t>For high speed steel, titanium alloy, good hot hardness</a:t>
            </a:r>
            <a:endParaRPr lang="th-TH" sz="2400"/>
          </a:p>
        </p:txBody>
      </p:sp>
      <p:sp>
        <p:nvSpPr>
          <p:cNvPr id="14340" name="Rectangle 4"/>
          <p:cNvSpPr>
            <a:spLocks noChangeArrowheads="1"/>
          </p:cNvSpPr>
          <p:nvPr/>
        </p:nvSpPr>
        <p:spPr bwMode="auto">
          <a:xfrm>
            <a:off x="1074738" y="2655888"/>
            <a:ext cx="1524000" cy="958850"/>
          </a:xfrm>
          <a:prstGeom prst="rect">
            <a:avLst/>
          </a:prstGeom>
          <a:solidFill>
            <a:schemeClr val="accent1"/>
          </a:solidFill>
          <a:ln w="9525">
            <a:solidFill>
              <a:schemeClr val="tx1"/>
            </a:solidFill>
            <a:miter lim="800000"/>
            <a:headEnd/>
            <a:tailEnd/>
          </a:ln>
        </p:spPr>
        <p:txBody>
          <a:bodyPr wrap="none" anchor="ctr"/>
          <a:lstStyle/>
          <a:p>
            <a:endParaRPr lang="th-TH"/>
          </a:p>
        </p:txBody>
      </p:sp>
      <p:sp>
        <p:nvSpPr>
          <p:cNvPr id="14341" name="Oval 5"/>
          <p:cNvSpPr>
            <a:spLocks noChangeArrowheads="1"/>
          </p:cNvSpPr>
          <p:nvPr/>
        </p:nvSpPr>
        <p:spPr bwMode="auto">
          <a:xfrm>
            <a:off x="1304925" y="3629025"/>
            <a:ext cx="1016000" cy="449263"/>
          </a:xfrm>
          <a:prstGeom prst="ellipse">
            <a:avLst/>
          </a:prstGeom>
          <a:solidFill>
            <a:srgbClr val="FF0000"/>
          </a:solidFill>
          <a:ln w="9525">
            <a:solidFill>
              <a:schemeClr val="tx1"/>
            </a:solidFill>
            <a:round/>
            <a:headEnd/>
            <a:tailEnd/>
          </a:ln>
        </p:spPr>
        <p:txBody>
          <a:bodyPr wrap="none" anchor="ctr"/>
          <a:lstStyle/>
          <a:p>
            <a:endParaRPr lang="th-TH"/>
          </a:p>
        </p:txBody>
      </p:sp>
      <p:sp>
        <p:nvSpPr>
          <p:cNvPr id="14342" name="Line 6"/>
          <p:cNvSpPr>
            <a:spLocks noChangeShapeType="1"/>
          </p:cNvSpPr>
          <p:nvPr/>
        </p:nvSpPr>
        <p:spPr bwMode="auto">
          <a:xfrm>
            <a:off x="841375" y="4090988"/>
            <a:ext cx="1901825" cy="0"/>
          </a:xfrm>
          <a:prstGeom prst="line">
            <a:avLst/>
          </a:prstGeom>
          <a:noFill/>
          <a:ln w="9525">
            <a:solidFill>
              <a:schemeClr val="tx1"/>
            </a:solidFill>
            <a:round/>
            <a:headEnd/>
            <a:tailEnd/>
          </a:ln>
        </p:spPr>
        <p:txBody>
          <a:bodyPr/>
          <a:lstStyle/>
          <a:p>
            <a:endParaRPr lang="th-TH"/>
          </a:p>
        </p:txBody>
      </p:sp>
      <p:sp>
        <p:nvSpPr>
          <p:cNvPr id="14343" name="Line 7"/>
          <p:cNvSpPr>
            <a:spLocks noChangeShapeType="1"/>
          </p:cNvSpPr>
          <p:nvPr/>
        </p:nvSpPr>
        <p:spPr bwMode="auto">
          <a:xfrm flipV="1">
            <a:off x="1828800" y="3513138"/>
            <a:ext cx="14288" cy="246062"/>
          </a:xfrm>
          <a:prstGeom prst="line">
            <a:avLst/>
          </a:prstGeom>
          <a:noFill/>
          <a:ln w="9525">
            <a:solidFill>
              <a:schemeClr val="tx1"/>
            </a:solidFill>
            <a:round/>
            <a:headEnd/>
            <a:tailEnd type="triangle" w="med" len="med"/>
          </a:ln>
        </p:spPr>
        <p:txBody>
          <a:bodyPr/>
          <a:lstStyle/>
          <a:p>
            <a:endParaRPr lang="th-TH"/>
          </a:p>
        </p:txBody>
      </p:sp>
      <p:sp>
        <p:nvSpPr>
          <p:cNvPr id="14344" name="Text Box 8"/>
          <p:cNvSpPr txBox="1">
            <a:spLocks noChangeArrowheads="1"/>
          </p:cNvSpPr>
          <p:nvPr/>
        </p:nvSpPr>
        <p:spPr bwMode="auto">
          <a:xfrm>
            <a:off x="2757488" y="3351213"/>
            <a:ext cx="2773362" cy="457200"/>
          </a:xfrm>
          <a:prstGeom prst="rect">
            <a:avLst/>
          </a:prstGeom>
          <a:noFill/>
          <a:ln w="9525">
            <a:noFill/>
            <a:miter lim="800000"/>
            <a:headEnd/>
            <a:tailEnd/>
          </a:ln>
        </p:spPr>
        <p:txBody>
          <a:bodyPr>
            <a:spAutoFit/>
          </a:bodyPr>
          <a:lstStyle/>
          <a:p>
            <a:pPr>
              <a:spcBef>
                <a:spcPct val="50000"/>
              </a:spcBef>
            </a:pPr>
            <a:r>
              <a:rPr lang="en-US" sz="2400">
                <a:cs typeface="Angsana New" pitchFamily="18" charset="-34"/>
              </a:rPr>
              <a:t>Quick heat transfer</a:t>
            </a:r>
            <a:endParaRPr lang="th-TH" sz="2400">
              <a:cs typeface="Angsana New" pitchFamily="18" charset="-34"/>
            </a:endParaRPr>
          </a:p>
        </p:txBody>
      </p:sp>
      <p:sp>
        <p:nvSpPr>
          <p:cNvPr id="14345" name="Text Box 9"/>
          <p:cNvSpPr txBox="1">
            <a:spLocks noChangeArrowheads="1"/>
          </p:cNvSpPr>
          <p:nvPr/>
        </p:nvSpPr>
        <p:spPr bwMode="auto">
          <a:xfrm>
            <a:off x="841375" y="4572000"/>
            <a:ext cx="7213600" cy="488950"/>
          </a:xfrm>
          <a:prstGeom prst="rect">
            <a:avLst/>
          </a:prstGeom>
          <a:solidFill>
            <a:srgbClr val="FF0000"/>
          </a:solidFill>
          <a:ln w="9525">
            <a:noFill/>
            <a:miter lim="800000"/>
            <a:headEnd/>
            <a:tailEnd/>
          </a:ln>
        </p:spPr>
        <p:txBody>
          <a:bodyPr>
            <a:spAutoFit/>
          </a:bodyPr>
          <a:lstStyle/>
          <a:p>
            <a:pPr>
              <a:spcBef>
                <a:spcPct val="50000"/>
              </a:spcBef>
            </a:pPr>
            <a:r>
              <a:rPr lang="en-US" sz="2600" b="1">
                <a:solidFill>
                  <a:schemeClr val="bg1"/>
                </a:solidFill>
              </a:rPr>
              <a:t>- Raising strength leading to high residual stress</a:t>
            </a:r>
            <a:endParaRPr lang="th-TH" sz="2600" b="1">
              <a:solidFill>
                <a:schemeClr val="bg1"/>
              </a:solidFill>
            </a:endParaRPr>
          </a:p>
        </p:txBody>
      </p:sp>
      <p:sp>
        <p:nvSpPr>
          <p:cNvPr id="14346" name="Oval 10"/>
          <p:cNvSpPr>
            <a:spLocks noChangeArrowheads="1"/>
          </p:cNvSpPr>
          <p:nvPr/>
        </p:nvSpPr>
        <p:spPr bwMode="auto">
          <a:xfrm>
            <a:off x="2960688" y="5675313"/>
            <a:ext cx="2990850" cy="798512"/>
          </a:xfrm>
          <a:prstGeom prst="ellipse">
            <a:avLst/>
          </a:prstGeom>
          <a:solidFill>
            <a:srgbClr val="333399"/>
          </a:solidFill>
          <a:ln w="9525">
            <a:solidFill>
              <a:schemeClr val="tx1"/>
            </a:solidFill>
            <a:round/>
            <a:headEnd/>
            <a:tailEnd/>
          </a:ln>
        </p:spPr>
        <p:txBody>
          <a:bodyPr wrap="none" anchor="ctr"/>
          <a:lstStyle/>
          <a:p>
            <a:endParaRPr lang="th-TH"/>
          </a:p>
        </p:txBody>
      </p:sp>
      <p:sp>
        <p:nvSpPr>
          <p:cNvPr id="14347" name="Text Box 11"/>
          <p:cNvSpPr txBox="1">
            <a:spLocks noChangeArrowheads="1"/>
          </p:cNvSpPr>
          <p:nvPr/>
        </p:nvSpPr>
        <p:spPr bwMode="auto">
          <a:xfrm>
            <a:off x="3484563" y="5791200"/>
            <a:ext cx="1930400" cy="579438"/>
          </a:xfrm>
          <a:prstGeom prst="rect">
            <a:avLst/>
          </a:prstGeom>
          <a:noFill/>
          <a:ln w="9525">
            <a:noFill/>
            <a:miter lim="800000"/>
            <a:headEnd/>
            <a:tailEnd/>
          </a:ln>
        </p:spPr>
        <p:txBody>
          <a:bodyPr>
            <a:spAutoFit/>
          </a:bodyPr>
          <a:lstStyle/>
          <a:p>
            <a:pPr>
              <a:spcBef>
                <a:spcPct val="50000"/>
              </a:spcBef>
            </a:pPr>
            <a:r>
              <a:rPr lang="en-US" b="1">
                <a:solidFill>
                  <a:schemeClr val="bg1"/>
                </a:solidFill>
              </a:rPr>
              <a:t>Cracking</a:t>
            </a:r>
            <a:endParaRPr lang="th-TH" b="1">
              <a:solidFill>
                <a:schemeClr val="bg1"/>
              </a:solidFill>
            </a:endParaRPr>
          </a:p>
        </p:txBody>
      </p:sp>
      <p:sp>
        <p:nvSpPr>
          <p:cNvPr id="14348" name="AutoShape 12"/>
          <p:cNvSpPr>
            <a:spLocks noChangeArrowheads="1"/>
          </p:cNvSpPr>
          <p:nvPr/>
        </p:nvSpPr>
        <p:spPr bwMode="auto">
          <a:xfrm>
            <a:off x="4224338" y="5108575"/>
            <a:ext cx="390525" cy="406400"/>
          </a:xfrm>
          <a:prstGeom prst="downArrow">
            <a:avLst>
              <a:gd name="adj1" fmla="val 50000"/>
              <a:gd name="adj2" fmla="val 26016"/>
            </a:avLst>
          </a:prstGeom>
          <a:solidFill>
            <a:schemeClr val="accent1"/>
          </a:solidFill>
          <a:ln w="9525">
            <a:solidFill>
              <a:schemeClr val="tx1"/>
            </a:solidFill>
            <a:miter lim="800000"/>
            <a:headEnd/>
            <a:tailEnd/>
          </a:ln>
        </p:spPr>
        <p:txBody>
          <a:bodyPr vert="eaVert" wrap="none" anchor="ctr"/>
          <a:lstStyle/>
          <a:p>
            <a:endParaRPr lang="th-TH"/>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Metal forming process </a:t>
            </a:r>
            <a:endParaRPr lang="th-TH"/>
          </a:p>
        </p:txBody>
      </p:sp>
      <p:sp>
        <p:nvSpPr>
          <p:cNvPr id="15363" name="Rectangle 3"/>
          <p:cNvSpPr>
            <a:spLocks noGrp="1" noChangeArrowheads="1"/>
          </p:cNvSpPr>
          <p:nvPr>
            <p:ph type="body" sz="half" idx="1"/>
          </p:nvPr>
        </p:nvSpPr>
        <p:spPr>
          <a:xfrm>
            <a:off x="685800" y="1981200"/>
            <a:ext cx="7588250" cy="4114800"/>
          </a:xfrm>
        </p:spPr>
        <p:txBody>
          <a:bodyPr/>
          <a:lstStyle/>
          <a:p>
            <a:pPr eaLnBrk="1" hangingPunct="1"/>
            <a:r>
              <a:rPr lang="en-US" sz="2800"/>
              <a:t>1. Bulk deformation processes</a:t>
            </a:r>
          </a:p>
          <a:p>
            <a:pPr eaLnBrk="1" hangingPunct="1"/>
            <a:r>
              <a:rPr lang="en-US" sz="2800"/>
              <a:t>2.</a:t>
            </a:r>
            <a:r>
              <a:rPr lang="th-TH" sz="2800">
                <a:cs typeface="Angsana New" pitchFamily="18" charset="-34"/>
              </a:rPr>
              <a:t> </a:t>
            </a:r>
            <a:r>
              <a:rPr lang="en-US" sz="2800">
                <a:cs typeface="Angsana New" pitchFamily="18" charset="-34"/>
              </a:rPr>
              <a:t>Sheet metal working processes</a:t>
            </a:r>
            <a:endParaRPr lang="th-TH" sz="2800">
              <a:cs typeface="Angsana New" pitchFamily="18" charset="-34"/>
            </a:endParaRPr>
          </a:p>
        </p:txBody>
      </p:sp>
      <p:pic>
        <p:nvPicPr>
          <p:cNvPr id="15364" name="Picture 4" descr="Hosford-figure1-lg"/>
          <p:cNvPicPr>
            <a:picLocks noGrp="1" noChangeAspect="1" noChangeArrowheads="1"/>
          </p:cNvPicPr>
          <p:nvPr>
            <p:ph sz="quarter" idx="2"/>
          </p:nvPr>
        </p:nvPicPr>
        <p:blipFill>
          <a:blip r:embed="rId2" cstate="print"/>
          <a:srcRect/>
          <a:stretch>
            <a:fillRect/>
          </a:stretch>
        </p:blipFill>
        <p:spPr>
          <a:xfrm>
            <a:off x="4945063" y="4391025"/>
            <a:ext cx="3429000" cy="1762125"/>
          </a:xfrm>
          <a:noFill/>
        </p:spPr>
      </p:pic>
      <p:pic>
        <p:nvPicPr>
          <p:cNvPr id="15365" name="Picture 6"/>
          <p:cNvPicPr>
            <a:picLocks noGrp="1" noChangeAspect="1" noChangeArrowheads="1"/>
          </p:cNvPicPr>
          <p:nvPr>
            <p:ph sz="quarter" idx="3"/>
          </p:nvPr>
        </p:nvPicPr>
        <p:blipFill>
          <a:blip r:embed="rId3" cstate="print"/>
          <a:srcRect/>
          <a:stretch>
            <a:fillRect/>
          </a:stretch>
        </p:blipFill>
        <p:spPr>
          <a:xfrm>
            <a:off x="573088" y="4160838"/>
            <a:ext cx="3086100" cy="1968500"/>
          </a:xfr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srcRect/>
          <a:stretch>
            <a:fillRect/>
          </a:stretch>
        </p:blipFill>
        <p:spPr bwMode="auto">
          <a:xfrm>
            <a:off x="366713" y="2130425"/>
            <a:ext cx="3086100" cy="1968500"/>
          </a:xfrm>
          <a:prstGeom prst="rect">
            <a:avLst/>
          </a:prstGeom>
          <a:noFill/>
          <a:ln w="9525">
            <a:noFill/>
            <a:miter lim="800000"/>
            <a:headEnd/>
            <a:tailEnd/>
          </a:ln>
        </p:spPr>
      </p:pic>
      <p:sp>
        <p:nvSpPr>
          <p:cNvPr id="129027" name="Rectangle 3"/>
          <p:cNvSpPr>
            <a:spLocks noChangeArrowheads="1"/>
          </p:cNvSpPr>
          <p:nvPr/>
        </p:nvSpPr>
        <p:spPr bwMode="auto">
          <a:xfrm>
            <a:off x="595313" y="1630363"/>
            <a:ext cx="3003550" cy="669925"/>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latin typeface="Arial Rounded MT Bold" pitchFamily="34" charset="0"/>
                <a:cs typeface="Angsana New" pitchFamily="18" charset="-34"/>
              </a:rPr>
              <a:t>•  </a:t>
            </a:r>
            <a:r>
              <a:rPr lang="en-US" sz="2200">
                <a:solidFill>
                  <a:schemeClr val="accent2"/>
                </a:solidFill>
                <a:latin typeface="Arial Rounded MT Bold" pitchFamily="34" charset="0"/>
                <a:cs typeface="Angsana New" pitchFamily="18" charset="-34"/>
              </a:rPr>
              <a:t>Forging</a:t>
            </a:r>
            <a:endParaRPr lang="en-US" sz="2200">
              <a:latin typeface="Arial Rounded MT Bold" pitchFamily="34" charset="0"/>
              <a:cs typeface="Angsana New" pitchFamily="18" charset="-34"/>
            </a:endParaRPr>
          </a:p>
          <a:p>
            <a:pPr eaLnBrk="0" hangingPunct="0"/>
            <a:r>
              <a:rPr lang="en-US" sz="2200">
                <a:latin typeface="Arial Rounded MT Bold" pitchFamily="34" charset="0"/>
                <a:cs typeface="Angsana New" pitchFamily="18" charset="-34"/>
              </a:rPr>
              <a:t>    </a:t>
            </a:r>
            <a:r>
              <a:rPr lang="en-US" sz="2000">
                <a:latin typeface="Arial Rounded MT Bold" pitchFamily="34" charset="0"/>
                <a:cs typeface="Angsana New" pitchFamily="18" charset="-34"/>
              </a:rPr>
              <a:t>(wrenches, crankshafts)</a:t>
            </a:r>
            <a:endParaRPr lang="en-US" sz="2200">
              <a:solidFill>
                <a:srgbClr val="000000"/>
              </a:solidFill>
              <a:latin typeface="Arial Rounded MT Bold" pitchFamily="34" charset="0"/>
              <a:cs typeface="Angsana New" pitchFamily="18" charset="-34"/>
            </a:endParaRPr>
          </a:p>
        </p:txBody>
      </p:sp>
      <p:sp>
        <p:nvSpPr>
          <p:cNvPr id="129030" name="Rectangle 6"/>
          <p:cNvSpPr>
            <a:spLocks noChangeArrowheads="1"/>
          </p:cNvSpPr>
          <p:nvPr/>
        </p:nvSpPr>
        <p:spPr bwMode="auto">
          <a:xfrm>
            <a:off x="595313" y="3810000"/>
            <a:ext cx="2411412" cy="669925"/>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latin typeface="Arial Rounded MT Bold" pitchFamily="34" charset="0"/>
                <a:cs typeface="Angsana New" pitchFamily="18" charset="-34"/>
              </a:rPr>
              <a:t>•  </a:t>
            </a:r>
            <a:r>
              <a:rPr lang="en-US" sz="2200">
                <a:solidFill>
                  <a:schemeClr val="accent2"/>
                </a:solidFill>
                <a:latin typeface="Arial Rounded MT Bold" pitchFamily="34" charset="0"/>
                <a:cs typeface="Angsana New" pitchFamily="18" charset="-34"/>
              </a:rPr>
              <a:t>Drawing</a:t>
            </a:r>
          </a:p>
          <a:p>
            <a:pPr eaLnBrk="0" hangingPunct="0"/>
            <a:r>
              <a:rPr lang="en-US" sz="2200">
                <a:solidFill>
                  <a:schemeClr val="accent2"/>
                </a:solidFill>
                <a:latin typeface="Arial Rounded MT Bold" pitchFamily="34" charset="0"/>
                <a:cs typeface="Angsana New" pitchFamily="18" charset="-34"/>
              </a:rPr>
              <a:t>   </a:t>
            </a:r>
            <a:r>
              <a:rPr lang="en-US" sz="2200">
                <a:latin typeface="Arial Rounded MT Bold" pitchFamily="34" charset="0"/>
                <a:cs typeface="Angsana New" pitchFamily="18" charset="-34"/>
              </a:rPr>
              <a:t> </a:t>
            </a:r>
            <a:r>
              <a:rPr lang="en-US" sz="2000">
                <a:latin typeface="Arial Rounded MT Bold" pitchFamily="34" charset="0"/>
                <a:cs typeface="Angsana New" pitchFamily="18" charset="-34"/>
              </a:rPr>
              <a:t>(rods, wire, tubing)</a:t>
            </a:r>
            <a:endParaRPr lang="en-US" sz="2200">
              <a:solidFill>
                <a:srgbClr val="000000"/>
              </a:solidFill>
              <a:latin typeface="Arial Rounded MT Bold" pitchFamily="34" charset="0"/>
              <a:cs typeface="Angsana New" pitchFamily="18" charset="-34"/>
            </a:endParaRPr>
          </a:p>
        </p:txBody>
      </p:sp>
      <p:sp>
        <p:nvSpPr>
          <p:cNvPr id="16389" name="Rectangle 7"/>
          <p:cNvSpPr>
            <a:spLocks noChangeArrowheads="1"/>
          </p:cNvSpPr>
          <p:nvPr/>
        </p:nvSpPr>
        <p:spPr bwMode="auto">
          <a:xfrm>
            <a:off x="3414713" y="2803525"/>
            <a:ext cx="1028700" cy="701675"/>
          </a:xfrm>
          <a:prstGeom prst="rect">
            <a:avLst/>
          </a:prstGeom>
          <a:noFill/>
          <a:ln w="9525">
            <a:noFill/>
            <a:miter lim="800000"/>
            <a:headEnd/>
            <a:tailEnd/>
          </a:ln>
        </p:spPr>
        <p:txBody>
          <a:bodyPr wrap="none" lIns="91429" tIns="45714" rIns="91429" bIns="45714">
            <a:spAutoFit/>
          </a:bodyPr>
          <a:lstStyle/>
          <a:p>
            <a:pPr eaLnBrk="0" hangingPunct="0"/>
            <a:r>
              <a:rPr lang="en-US" sz="2000">
                <a:solidFill>
                  <a:schemeClr val="tx2"/>
                </a:solidFill>
                <a:latin typeface="Arial Rounded MT Bold" pitchFamily="34" charset="0"/>
                <a:cs typeface="Angsana New" pitchFamily="18" charset="-34"/>
              </a:rPr>
              <a:t>often at</a:t>
            </a:r>
          </a:p>
          <a:p>
            <a:pPr eaLnBrk="0" hangingPunct="0"/>
            <a:r>
              <a:rPr lang="en-US" sz="2000">
                <a:solidFill>
                  <a:schemeClr val="tx2"/>
                </a:solidFill>
                <a:latin typeface="Arial Rounded MT Bold" pitchFamily="34" charset="0"/>
                <a:cs typeface="Angsana New" pitchFamily="18" charset="-34"/>
              </a:rPr>
              <a:t>elev. T</a:t>
            </a:r>
          </a:p>
        </p:txBody>
      </p:sp>
      <p:sp>
        <p:nvSpPr>
          <p:cNvPr id="129032" name="Rectangle 8"/>
          <p:cNvSpPr>
            <a:spLocks noChangeArrowheads="1"/>
          </p:cNvSpPr>
          <p:nvPr/>
        </p:nvSpPr>
        <p:spPr bwMode="auto">
          <a:xfrm>
            <a:off x="4927600" y="1676400"/>
            <a:ext cx="2001838" cy="669925"/>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latin typeface="Arial Rounded MT Bold" pitchFamily="34" charset="0"/>
                <a:cs typeface="Angsana New" pitchFamily="18" charset="-34"/>
              </a:rPr>
              <a:t>•  </a:t>
            </a:r>
            <a:r>
              <a:rPr lang="en-US" sz="2200">
                <a:solidFill>
                  <a:schemeClr val="accent2"/>
                </a:solidFill>
                <a:latin typeface="Arial Rounded MT Bold" pitchFamily="34" charset="0"/>
                <a:cs typeface="Angsana New" pitchFamily="18" charset="-34"/>
              </a:rPr>
              <a:t>Rolling</a:t>
            </a:r>
            <a:endParaRPr lang="en-US" sz="2200">
              <a:latin typeface="Arial Rounded MT Bold" pitchFamily="34" charset="0"/>
              <a:cs typeface="Angsana New" pitchFamily="18" charset="-34"/>
            </a:endParaRPr>
          </a:p>
          <a:p>
            <a:pPr eaLnBrk="0" hangingPunct="0"/>
            <a:r>
              <a:rPr lang="en-US" sz="2200">
                <a:latin typeface="Arial Rounded MT Bold" pitchFamily="34" charset="0"/>
                <a:cs typeface="Angsana New" pitchFamily="18" charset="-34"/>
              </a:rPr>
              <a:t>    </a:t>
            </a:r>
            <a:r>
              <a:rPr lang="en-US" sz="2000">
                <a:latin typeface="Arial Rounded MT Bold" pitchFamily="34" charset="0"/>
                <a:cs typeface="Angsana New" pitchFamily="18" charset="-34"/>
              </a:rPr>
              <a:t>(I-beams, rails)</a:t>
            </a:r>
            <a:endParaRPr lang="en-US" sz="2200">
              <a:solidFill>
                <a:srgbClr val="000000"/>
              </a:solidFill>
              <a:latin typeface="Arial Rounded MT Bold" pitchFamily="34" charset="0"/>
              <a:cs typeface="Angsana New" pitchFamily="18" charset="-34"/>
            </a:endParaRPr>
          </a:p>
        </p:txBody>
      </p:sp>
      <p:sp>
        <p:nvSpPr>
          <p:cNvPr id="129033" name="Rectangle 9"/>
          <p:cNvSpPr>
            <a:spLocks noChangeArrowheads="1"/>
          </p:cNvSpPr>
          <p:nvPr/>
        </p:nvSpPr>
        <p:spPr bwMode="auto">
          <a:xfrm>
            <a:off x="4927600" y="3810000"/>
            <a:ext cx="1804988" cy="669925"/>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latin typeface="Arial Rounded MT Bold" pitchFamily="34" charset="0"/>
                <a:cs typeface="Angsana New" pitchFamily="18" charset="-34"/>
              </a:rPr>
              <a:t>•  </a:t>
            </a:r>
            <a:r>
              <a:rPr lang="en-US" sz="2200">
                <a:solidFill>
                  <a:schemeClr val="accent2"/>
                </a:solidFill>
                <a:latin typeface="Arial Rounded MT Bold" pitchFamily="34" charset="0"/>
                <a:cs typeface="Angsana New" pitchFamily="18" charset="-34"/>
              </a:rPr>
              <a:t>Extrusion</a:t>
            </a:r>
            <a:endParaRPr lang="en-US" sz="2200">
              <a:latin typeface="Arial Rounded MT Bold" pitchFamily="34" charset="0"/>
              <a:cs typeface="Angsana New" pitchFamily="18" charset="-34"/>
            </a:endParaRPr>
          </a:p>
          <a:p>
            <a:pPr eaLnBrk="0" hangingPunct="0"/>
            <a:r>
              <a:rPr lang="en-US" sz="2200">
                <a:latin typeface="Arial Rounded MT Bold" pitchFamily="34" charset="0"/>
                <a:cs typeface="Angsana New" pitchFamily="18" charset="-34"/>
              </a:rPr>
              <a:t>    </a:t>
            </a:r>
            <a:r>
              <a:rPr lang="en-US" sz="2000">
                <a:latin typeface="Arial Rounded MT Bold" pitchFamily="34" charset="0"/>
                <a:cs typeface="Angsana New" pitchFamily="18" charset="-34"/>
              </a:rPr>
              <a:t>(rods, tubing)</a:t>
            </a:r>
            <a:endParaRPr lang="en-US" sz="2200">
              <a:solidFill>
                <a:srgbClr val="000000"/>
              </a:solidFill>
              <a:latin typeface="Arial Rounded MT Bold" pitchFamily="34" charset="0"/>
              <a:cs typeface="Angsana New" pitchFamily="18" charset="-34"/>
            </a:endParaRPr>
          </a:p>
        </p:txBody>
      </p:sp>
      <p:pic>
        <p:nvPicPr>
          <p:cNvPr id="16392" name="Picture 10"/>
          <p:cNvPicPr>
            <a:picLocks noChangeAspect="1" noChangeArrowheads="1"/>
          </p:cNvPicPr>
          <p:nvPr/>
        </p:nvPicPr>
        <p:blipFill>
          <a:blip r:embed="rId3" cstate="print"/>
          <a:srcRect/>
          <a:stretch>
            <a:fillRect/>
          </a:stretch>
        </p:blipFill>
        <p:spPr bwMode="auto">
          <a:xfrm>
            <a:off x="4786313" y="4416425"/>
            <a:ext cx="4013200" cy="1435100"/>
          </a:xfrm>
          <a:prstGeom prst="rect">
            <a:avLst/>
          </a:prstGeom>
          <a:noFill/>
          <a:ln w="9525">
            <a:noFill/>
            <a:miter lim="800000"/>
            <a:headEnd/>
            <a:tailEnd/>
          </a:ln>
        </p:spPr>
      </p:pic>
      <p:pic>
        <p:nvPicPr>
          <p:cNvPr id="16393" name="Picture 11"/>
          <p:cNvPicPr>
            <a:picLocks noChangeAspect="1" noChangeArrowheads="1"/>
          </p:cNvPicPr>
          <p:nvPr/>
        </p:nvPicPr>
        <p:blipFill>
          <a:blip r:embed="rId4" cstate="print"/>
          <a:srcRect/>
          <a:stretch>
            <a:fillRect/>
          </a:stretch>
        </p:blipFill>
        <p:spPr bwMode="auto">
          <a:xfrm>
            <a:off x="5091113" y="2314575"/>
            <a:ext cx="2476500" cy="1600200"/>
          </a:xfrm>
          <a:prstGeom prst="rect">
            <a:avLst/>
          </a:prstGeom>
          <a:noFill/>
          <a:ln w="9525">
            <a:noFill/>
            <a:miter lim="800000"/>
            <a:headEnd/>
            <a:tailEnd/>
          </a:ln>
        </p:spPr>
      </p:pic>
      <p:pic>
        <p:nvPicPr>
          <p:cNvPr id="16394" name="Picture 12"/>
          <p:cNvPicPr>
            <a:picLocks noChangeAspect="1" noChangeArrowheads="1"/>
          </p:cNvPicPr>
          <p:nvPr/>
        </p:nvPicPr>
        <p:blipFill>
          <a:blip r:embed="rId5" cstate="print"/>
          <a:srcRect/>
          <a:stretch>
            <a:fillRect/>
          </a:stretch>
        </p:blipFill>
        <p:spPr bwMode="auto">
          <a:xfrm>
            <a:off x="519113" y="4625975"/>
            <a:ext cx="3403600" cy="1016000"/>
          </a:xfrm>
          <a:prstGeom prst="rect">
            <a:avLst/>
          </a:prstGeom>
          <a:noFill/>
          <a:ln w="9525">
            <a:noFill/>
            <a:miter lim="800000"/>
            <a:headEnd/>
            <a:tailEnd/>
          </a:ln>
        </p:spPr>
      </p:pic>
      <p:sp>
        <p:nvSpPr>
          <p:cNvPr id="16395" name="Rectangle 13"/>
          <p:cNvSpPr>
            <a:spLocks noGrp="1" noChangeArrowheads="1"/>
          </p:cNvSpPr>
          <p:nvPr>
            <p:ph type="title" idx="4294967295"/>
          </p:nvPr>
        </p:nvSpPr>
        <p:spPr>
          <a:xfrm>
            <a:off x="228600" y="228600"/>
            <a:ext cx="8534400" cy="685800"/>
          </a:xfrm>
        </p:spPr>
        <p:txBody>
          <a:bodyPr/>
          <a:lstStyle/>
          <a:p>
            <a:pPr defTabSz="1019175" eaLnBrk="1" hangingPunct="1"/>
            <a:r>
              <a:rPr lang="en-US" sz="3900" b="1"/>
              <a:t>Bulk Deforming Processes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027"/>
                                        </p:tgtEl>
                                        <p:attrNameLst>
                                          <p:attrName>style.visibility</p:attrName>
                                        </p:attrNameLst>
                                      </p:cBhvr>
                                      <p:to>
                                        <p:strVal val="visible"/>
                                      </p:to>
                                    </p:set>
                                    <p:anim calcmode="lin" valueType="num">
                                      <p:cBhvr additive="base">
                                        <p:cTn id="7" dur="500" fill="hold"/>
                                        <p:tgtEl>
                                          <p:spTgt spid="129027"/>
                                        </p:tgtEl>
                                        <p:attrNameLst>
                                          <p:attrName>ppt_x</p:attrName>
                                        </p:attrNameLst>
                                      </p:cBhvr>
                                      <p:tavLst>
                                        <p:tav tm="0">
                                          <p:val>
                                            <p:strVal val="#ppt_x"/>
                                          </p:val>
                                        </p:tav>
                                        <p:tav tm="100000">
                                          <p:val>
                                            <p:strVal val="#ppt_x"/>
                                          </p:val>
                                        </p:tav>
                                      </p:tavLst>
                                    </p:anim>
                                    <p:anim calcmode="lin" valueType="num">
                                      <p:cBhvr additive="base">
                                        <p:cTn id="8" dur="500" fill="hold"/>
                                        <p:tgtEl>
                                          <p:spTgt spid="1290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9032"/>
                                        </p:tgtEl>
                                        <p:attrNameLst>
                                          <p:attrName>style.visibility</p:attrName>
                                        </p:attrNameLst>
                                      </p:cBhvr>
                                      <p:to>
                                        <p:strVal val="visible"/>
                                      </p:to>
                                    </p:set>
                                    <p:anim calcmode="lin" valueType="num">
                                      <p:cBhvr additive="base">
                                        <p:cTn id="13" dur="500" fill="hold"/>
                                        <p:tgtEl>
                                          <p:spTgt spid="129032"/>
                                        </p:tgtEl>
                                        <p:attrNameLst>
                                          <p:attrName>ppt_x</p:attrName>
                                        </p:attrNameLst>
                                      </p:cBhvr>
                                      <p:tavLst>
                                        <p:tav tm="0">
                                          <p:val>
                                            <p:strVal val="#ppt_x"/>
                                          </p:val>
                                        </p:tav>
                                        <p:tav tm="100000">
                                          <p:val>
                                            <p:strVal val="#ppt_x"/>
                                          </p:val>
                                        </p:tav>
                                      </p:tavLst>
                                    </p:anim>
                                    <p:anim calcmode="lin" valueType="num">
                                      <p:cBhvr additive="base">
                                        <p:cTn id="14" dur="500" fill="hold"/>
                                        <p:tgtEl>
                                          <p:spTgt spid="12903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9030"/>
                                        </p:tgtEl>
                                        <p:attrNameLst>
                                          <p:attrName>style.visibility</p:attrName>
                                        </p:attrNameLst>
                                      </p:cBhvr>
                                      <p:to>
                                        <p:strVal val="visible"/>
                                      </p:to>
                                    </p:set>
                                    <p:anim calcmode="lin" valueType="num">
                                      <p:cBhvr additive="base">
                                        <p:cTn id="19" dur="500" fill="hold"/>
                                        <p:tgtEl>
                                          <p:spTgt spid="129030"/>
                                        </p:tgtEl>
                                        <p:attrNameLst>
                                          <p:attrName>ppt_x</p:attrName>
                                        </p:attrNameLst>
                                      </p:cBhvr>
                                      <p:tavLst>
                                        <p:tav tm="0">
                                          <p:val>
                                            <p:strVal val="#ppt_x"/>
                                          </p:val>
                                        </p:tav>
                                        <p:tav tm="100000">
                                          <p:val>
                                            <p:strVal val="#ppt_x"/>
                                          </p:val>
                                        </p:tav>
                                      </p:tavLst>
                                    </p:anim>
                                    <p:anim calcmode="lin" valueType="num">
                                      <p:cBhvr additive="base">
                                        <p:cTn id="20" dur="500" fill="hold"/>
                                        <p:tgtEl>
                                          <p:spTgt spid="12903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9033"/>
                                        </p:tgtEl>
                                        <p:attrNameLst>
                                          <p:attrName>style.visibility</p:attrName>
                                        </p:attrNameLst>
                                      </p:cBhvr>
                                      <p:to>
                                        <p:strVal val="visible"/>
                                      </p:to>
                                    </p:set>
                                    <p:anim calcmode="lin" valueType="num">
                                      <p:cBhvr additive="base">
                                        <p:cTn id="25" dur="500" fill="hold"/>
                                        <p:tgtEl>
                                          <p:spTgt spid="129033"/>
                                        </p:tgtEl>
                                        <p:attrNameLst>
                                          <p:attrName>ppt_x</p:attrName>
                                        </p:attrNameLst>
                                      </p:cBhvr>
                                      <p:tavLst>
                                        <p:tav tm="0">
                                          <p:val>
                                            <p:strVal val="#ppt_x"/>
                                          </p:val>
                                        </p:tav>
                                        <p:tav tm="100000">
                                          <p:val>
                                            <p:strVal val="#ppt_x"/>
                                          </p:val>
                                        </p:tav>
                                      </p:tavLst>
                                    </p:anim>
                                    <p:anim calcmode="lin" valueType="num">
                                      <p:cBhvr additive="base">
                                        <p:cTn id="26" dur="500" fill="hold"/>
                                        <p:tgtEl>
                                          <p:spTgt spid="1290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p:bldP spid="129030" grpId="0"/>
      <p:bldP spid="129032" grpId="0"/>
      <p:bldP spid="1290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558800" y="622300"/>
            <a:ext cx="1547813" cy="457200"/>
          </a:xfrm>
          <a:prstGeom prst="rect">
            <a:avLst/>
          </a:prstGeom>
          <a:noFill/>
          <a:ln w="9525">
            <a:noFill/>
            <a:miter lim="800000"/>
            <a:headEnd/>
            <a:tailEnd/>
          </a:ln>
        </p:spPr>
        <p:txBody>
          <a:bodyPr wrap="none" anchor="ctr">
            <a:spAutoFit/>
          </a:bodyPr>
          <a:lstStyle/>
          <a:p>
            <a:pPr eaLnBrk="0" hangingPunct="0"/>
            <a:r>
              <a:rPr lang="en-US" sz="2400" b="1"/>
              <a:t>Extrusion</a:t>
            </a:r>
            <a:r>
              <a:rPr lang="en-US" sz="2400"/>
              <a:t> </a:t>
            </a:r>
          </a:p>
        </p:txBody>
      </p:sp>
      <p:sp>
        <p:nvSpPr>
          <p:cNvPr id="17411" name="Rectangle 3"/>
          <p:cNvSpPr>
            <a:spLocks noChangeArrowheads="1"/>
          </p:cNvSpPr>
          <p:nvPr/>
        </p:nvSpPr>
        <p:spPr bwMode="auto">
          <a:xfrm>
            <a:off x="839788" y="1273175"/>
            <a:ext cx="2736850" cy="711200"/>
          </a:xfrm>
          <a:prstGeom prst="rect">
            <a:avLst/>
          </a:prstGeom>
          <a:noFill/>
          <a:ln w="9525">
            <a:solidFill>
              <a:schemeClr val="accent2"/>
            </a:solidFill>
            <a:miter lim="800000"/>
            <a:headEnd/>
            <a:tailEnd/>
          </a:ln>
        </p:spPr>
        <p:txBody>
          <a:bodyPr anchor="ctr">
            <a:spAutoFit/>
          </a:bodyPr>
          <a:lstStyle/>
          <a:p>
            <a:pPr eaLnBrk="0" hangingPunct="0"/>
            <a:r>
              <a:rPr lang="en-US" sz="2000"/>
              <a:t>Metal forced/squeezed out through a hole (die) </a:t>
            </a:r>
          </a:p>
        </p:txBody>
      </p:sp>
      <p:sp>
        <p:nvSpPr>
          <p:cNvPr id="17412" name="Rectangle 4"/>
          <p:cNvSpPr>
            <a:spLocks noChangeArrowheads="1"/>
          </p:cNvSpPr>
          <p:nvPr/>
        </p:nvSpPr>
        <p:spPr bwMode="auto">
          <a:xfrm>
            <a:off x="776288" y="5216525"/>
            <a:ext cx="7088187" cy="406400"/>
          </a:xfrm>
          <a:prstGeom prst="rect">
            <a:avLst/>
          </a:prstGeom>
          <a:noFill/>
          <a:ln w="9525">
            <a:solidFill>
              <a:schemeClr val="accent2"/>
            </a:solidFill>
            <a:miter lim="800000"/>
            <a:headEnd/>
            <a:tailEnd/>
          </a:ln>
        </p:spPr>
        <p:txBody>
          <a:bodyPr anchor="ctr">
            <a:spAutoFit/>
          </a:bodyPr>
          <a:lstStyle/>
          <a:p>
            <a:pPr eaLnBrk="0" hangingPunct="0"/>
            <a:r>
              <a:rPr lang="en-US" sz="2000"/>
              <a:t>Typical use: ductile metals (Cu, Steel, Al, Mg), Plastics, Rubbers </a:t>
            </a:r>
          </a:p>
        </p:txBody>
      </p:sp>
      <p:sp>
        <p:nvSpPr>
          <p:cNvPr id="17413" name="Rectangle 5"/>
          <p:cNvSpPr>
            <a:spLocks noChangeArrowheads="1"/>
          </p:cNvSpPr>
          <p:nvPr/>
        </p:nvSpPr>
        <p:spPr bwMode="auto">
          <a:xfrm>
            <a:off x="711200" y="5580063"/>
            <a:ext cx="5032375" cy="1006475"/>
          </a:xfrm>
          <a:prstGeom prst="rect">
            <a:avLst/>
          </a:prstGeom>
          <a:noFill/>
          <a:ln w="9525">
            <a:noFill/>
            <a:miter lim="800000"/>
            <a:headEnd/>
            <a:tailEnd/>
          </a:ln>
        </p:spPr>
        <p:txBody>
          <a:bodyPr wrap="none" anchor="ctr">
            <a:spAutoFit/>
          </a:bodyPr>
          <a:lstStyle/>
          <a:p>
            <a:pPr eaLnBrk="0" hangingPunct="0"/>
            <a:r>
              <a:rPr lang="en-US" sz="2000"/>
              <a:t>Common products:</a:t>
            </a:r>
          </a:p>
          <a:p>
            <a:pPr eaLnBrk="0" hangingPunct="0"/>
            <a:endParaRPr lang="en-US" sz="2000"/>
          </a:p>
          <a:p>
            <a:pPr eaLnBrk="0" hangingPunct="0"/>
            <a:r>
              <a:rPr lang="en-US" sz="2000"/>
              <a:t>Al frames of white-boards, doors, windows, … </a:t>
            </a:r>
          </a:p>
        </p:txBody>
      </p:sp>
      <p:pic>
        <p:nvPicPr>
          <p:cNvPr id="17414" name="Picture 6"/>
          <p:cNvPicPr>
            <a:picLocks noChangeAspect="1" noChangeArrowheads="1"/>
          </p:cNvPicPr>
          <p:nvPr/>
        </p:nvPicPr>
        <p:blipFill>
          <a:blip r:embed="rId2" cstate="print"/>
          <a:srcRect/>
          <a:stretch>
            <a:fillRect/>
          </a:stretch>
        </p:blipFill>
        <p:spPr bwMode="auto">
          <a:xfrm>
            <a:off x="1258888" y="1985963"/>
            <a:ext cx="2393950" cy="2874962"/>
          </a:xfrm>
          <a:prstGeom prst="rect">
            <a:avLst/>
          </a:prstGeom>
          <a:noFill/>
          <a:ln w="9525">
            <a:noFill/>
            <a:miter lim="800000"/>
            <a:headEnd/>
            <a:tailEnd/>
          </a:ln>
        </p:spPr>
      </p:pic>
      <p:sp>
        <p:nvSpPr>
          <p:cNvPr id="17415" name="Text Box 7"/>
          <p:cNvSpPr txBox="1">
            <a:spLocks noChangeArrowheads="1"/>
          </p:cNvSpPr>
          <p:nvPr/>
        </p:nvSpPr>
        <p:spPr bwMode="auto">
          <a:xfrm>
            <a:off x="7243763" y="3148013"/>
            <a:ext cx="1663700" cy="244475"/>
          </a:xfrm>
          <a:prstGeom prst="rect">
            <a:avLst/>
          </a:prstGeom>
          <a:noFill/>
          <a:ln w="9525">
            <a:noFill/>
            <a:miter lim="800000"/>
            <a:headEnd/>
            <a:tailEnd/>
          </a:ln>
        </p:spPr>
        <p:txBody>
          <a:bodyPr wrap="none">
            <a:spAutoFit/>
          </a:bodyPr>
          <a:lstStyle/>
          <a:p>
            <a:r>
              <a:rPr lang="en-US" sz="1000"/>
              <a:t>[source:www.magnode.com]</a:t>
            </a:r>
          </a:p>
        </p:txBody>
      </p:sp>
      <p:pic>
        <p:nvPicPr>
          <p:cNvPr id="17416" name="Picture 8" descr="extrude"/>
          <p:cNvPicPr>
            <a:picLocks noChangeAspect="1" noChangeArrowheads="1" noCrop="1"/>
          </p:cNvPicPr>
          <p:nvPr/>
        </p:nvPicPr>
        <p:blipFill>
          <a:blip r:embed="rId3" cstate="print"/>
          <a:srcRect/>
          <a:stretch>
            <a:fillRect/>
          </a:stretch>
        </p:blipFill>
        <p:spPr bwMode="auto">
          <a:xfrm>
            <a:off x="4140200" y="239713"/>
            <a:ext cx="4800600" cy="4800600"/>
          </a:xfrm>
          <a:prstGeom prst="rect">
            <a:avLst/>
          </a:prstGeom>
          <a:noFill/>
          <a:ln w="9525">
            <a:noFill/>
            <a:miter lim="800000"/>
            <a:headEnd/>
            <a:tailEnd/>
          </a:ln>
        </p:spPr>
      </p:pic>
      <p:sp>
        <p:nvSpPr>
          <p:cNvPr id="17417" name="Rectangle 9"/>
          <p:cNvSpPr>
            <a:spLocks noChangeArrowheads="1"/>
          </p:cNvSpPr>
          <p:nvPr/>
        </p:nvSpPr>
        <p:spPr bwMode="auto">
          <a:xfrm>
            <a:off x="4627563" y="1293813"/>
            <a:ext cx="1336675" cy="280987"/>
          </a:xfrm>
          <a:prstGeom prst="rect">
            <a:avLst/>
          </a:prstGeom>
          <a:solidFill>
            <a:schemeClr val="tx2"/>
          </a:solidFill>
          <a:ln w="9525">
            <a:solidFill>
              <a:schemeClr val="tx2"/>
            </a:solidFill>
            <a:miter lim="800000"/>
            <a:headEnd/>
            <a:tailEnd/>
          </a:ln>
        </p:spPr>
        <p:txBody>
          <a:bodyPr wrap="none" anchor="ctr"/>
          <a:lstStyle/>
          <a:p>
            <a:endParaRPr lang="th-TH"/>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596900" y="552450"/>
            <a:ext cx="1395413" cy="457200"/>
          </a:xfrm>
          <a:prstGeom prst="rect">
            <a:avLst/>
          </a:prstGeom>
          <a:noFill/>
          <a:ln w="9525">
            <a:noFill/>
            <a:miter lim="800000"/>
            <a:headEnd/>
            <a:tailEnd/>
          </a:ln>
        </p:spPr>
        <p:txBody>
          <a:bodyPr wrap="none">
            <a:spAutoFit/>
          </a:bodyPr>
          <a:lstStyle/>
          <a:p>
            <a:r>
              <a:rPr lang="en-US" sz="2400" b="1"/>
              <a:t>Drawing</a:t>
            </a:r>
            <a:r>
              <a:rPr lang="en-US" sz="2400"/>
              <a:t> </a:t>
            </a:r>
          </a:p>
        </p:txBody>
      </p:sp>
      <p:sp>
        <p:nvSpPr>
          <p:cNvPr id="18435" name="Rectangle 3"/>
          <p:cNvSpPr>
            <a:spLocks noChangeArrowheads="1"/>
          </p:cNvSpPr>
          <p:nvPr/>
        </p:nvSpPr>
        <p:spPr bwMode="auto">
          <a:xfrm>
            <a:off x="1374775" y="5827713"/>
            <a:ext cx="6099175" cy="466725"/>
          </a:xfrm>
          <a:prstGeom prst="rect">
            <a:avLst/>
          </a:prstGeom>
          <a:noFill/>
          <a:ln w="9525">
            <a:solidFill>
              <a:schemeClr val="accent2"/>
            </a:solidFill>
            <a:miter lim="800000"/>
            <a:headEnd/>
            <a:tailEnd/>
          </a:ln>
        </p:spPr>
        <p:txBody>
          <a:bodyPr wrap="none" anchor="ctr">
            <a:spAutoFit/>
          </a:bodyPr>
          <a:lstStyle/>
          <a:p>
            <a:pPr eaLnBrk="0" hangingPunct="0"/>
            <a:r>
              <a:rPr lang="en-US" sz="2400"/>
              <a:t>Commonly used to make wires from round bars </a:t>
            </a:r>
          </a:p>
        </p:txBody>
      </p:sp>
      <p:pic>
        <p:nvPicPr>
          <p:cNvPr id="18436" name="Picture 4"/>
          <p:cNvPicPr>
            <a:picLocks noChangeAspect="1" noChangeArrowheads="1"/>
          </p:cNvPicPr>
          <p:nvPr/>
        </p:nvPicPr>
        <p:blipFill>
          <a:blip r:embed="rId2" cstate="print"/>
          <a:srcRect/>
          <a:stretch>
            <a:fillRect/>
          </a:stretch>
        </p:blipFill>
        <p:spPr bwMode="auto">
          <a:xfrm>
            <a:off x="1627188" y="2365375"/>
            <a:ext cx="6653212" cy="2787650"/>
          </a:xfrm>
          <a:prstGeom prst="rect">
            <a:avLst/>
          </a:prstGeom>
          <a:noFill/>
          <a:ln w="9525">
            <a:noFill/>
            <a:miter lim="800000"/>
            <a:headEnd/>
            <a:tailEnd/>
          </a:ln>
        </p:spPr>
      </p:pic>
      <p:sp>
        <p:nvSpPr>
          <p:cNvPr id="18437" name="Rectangle 5"/>
          <p:cNvSpPr>
            <a:spLocks noChangeArrowheads="1"/>
          </p:cNvSpPr>
          <p:nvPr/>
        </p:nvSpPr>
        <p:spPr bwMode="auto">
          <a:xfrm>
            <a:off x="1276350" y="1457325"/>
            <a:ext cx="6651625" cy="457200"/>
          </a:xfrm>
          <a:prstGeom prst="rect">
            <a:avLst/>
          </a:prstGeom>
          <a:noFill/>
          <a:ln w="9525">
            <a:noFill/>
            <a:miter lim="800000"/>
            <a:headEnd/>
            <a:tailEnd/>
          </a:ln>
        </p:spPr>
        <p:txBody>
          <a:bodyPr wrap="none" anchor="ctr">
            <a:spAutoFit/>
          </a:bodyPr>
          <a:lstStyle/>
          <a:p>
            <a:pPr eaLnBrk="0" hangingPunct="0"/>
            <a:r>
              <a:rPr lang="en-US" sz="2400"/>
              <a:t>Similar to extrusion, except: </a:t>
            </a:r>
            <a:r>
              <a:rPr lang="en-US" sz="2400" b="1" i="1"/>
              <a:t>pulling force</a:t>
            </a:r>
            <a:r>
              <a:rPr lang="en-US" sz="2400"/>
              <a:t> is applied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Continuous Drawing</a:t>
            </a:r>
            <a:endParaRPr lang="th-TH"/>
          </a:p>
        </p:txBody>
      </p:sp>
      <p:pic>
        <p:nvPicPr>
          <p:cNvPr id="19459" name="Picture 3"/>
          <p:cNvPicPr>
            <a:picLocks noGrp="1" noChangeAspect="1" noChangeArrowheads="1"/>
          </p:cNvPicPr>
          <p:nvPr>
            <p:ph idx="1"/>
          </p:nvPr>
        </p:nvPicPr>
        <p:blipFill>
          <a:blip r:embed="rId2" cstate="print"/>
          <a:srcRect/>
          <a:stretch>
            <a:fillRect/>
          </a:stretch>
        </p:blipFill>
        <p:spPr>
          <a:xfrm>
            <a:off x="701675" y="1631950"/>
            <a:ext cx="8037513" cy="4189413"/>
          </a:xfr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sz="quarter"/>
          </p:nvPr>
        </p:nvSpPr>
        <p:spPr>
          <a:xfrm>
            <a:off x="671513" y="174625"/>
            <a:ext cx="7772400" cy="1143000"/>
          </a:xfrm>
        </p:spPr>
        <p:txBody>
          <a:bodyPr/>
          <a:lstStyle/>
          <a:p>
            <a:pPr eaLnBrk="1" hangingPunct="1"/>
            <a:r>
              <a:rPr lang="en-US"/>
              <a:t>Sheet Metalworking</a:t>
            </a:r>
            <a:endParaRPr lang="th-TH"/>
          </a:p>
        </p:txBody>
      </p:sp>
      <p:graphicFrame>
        <p:nvGraphicFramePr>
          <p:cNvPr id="1026" name="Object 9"/>
          <p:cNvGraphicFramePr>
            <a:graphicFrameLocks noGrp="1" noChangeAspect="1"/>
          </p:cNvGraphicFramePr>
          <p:nvPr>
            <p:ph sz="quarter" idx="1"/>
          </p:nvPr>
        </p:nvGraphicFramePr>
        <p:xfrm>
          <a:off x="4895850" y="1657350"/>
          <a:ext cx="3589338" cy="2525713"/>
        </p:xfrm>
        <a:graphic>
          <a:graphicData uri="http://schemas.openxmlformats.org/presentationml/2006/ole">
            <mc:AlternateContent xmlns:mc="http://schemas.openxmlformats.org/markup-compatibility/2006">
              <mc:Choice xmlns:v="urn:schemas-microsoft-com:vml" Requires="v">
                <p:oleObj name="Bitmap Image" r:id="rId2" imgW="3533333" imgH="2486372" progId="Paint.Picture">
                  <p:embed/>
                </p:oleObj>
              </mc:Choice>
              <mc:Fallback>
                <p:oleObj name="Bitmap Image" r:id="rId2" imgW="3533333" imgH="2486372" progId="Paint.Picture">
                  <p:embed/>
                  <p:pic>
                    <p:nvPicPr>
                      <p:cNvPr id="1026"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850" y="1657350"/>
                        <a:ext cx="3589338" cy="252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6"/>
          <p:cNvGraphicFramePr>
            <a:graphicFrameLocks noGrp="1" noChangeAspect="1"/>
          </p:cNvGraphicFramePr>
          <p:nvPr>
            <p:ph sz="quarter" idx="2"/>
          </p:nvPr>
        </p:nvGraphicFramePr>
        <p:xfrm>
          <a:off x="950913" y="1476375"/>
          <a:ext cx="1851025" cy="2325688"/>
        </p:xfrm>
        <a:graphic>
          <a:graphicData uri="http://schemas.openxmlformats.org/presentationml/2006/ole">
            <mc:AlternateContent xmlns:mc="http://schemas.openxmlformats.org/markup-compatibility/2006">
              <mc:Choice xmlns:v="urn:schemas-microsoft-com:vml" Requires="v">
                <p:oleObj name="Bitmap Image" r:id="rId4" imgW="1076475" imgH="1352381" progId="Paint.Picture">
                  <p:embed/>
                </p:oleObj>
              </mc:Choice>
              <mc:Fallback>
                <p:oleObj name="Bitmap Image" r:id="rId4" imgW="1076475" imgH="1352381" progId="Paint.Picture">
                  <p:embed/>
                  <p:pic>
                    <p:nvPicPr>
                      <p:cNvPr id="1027" name="Object 6"/>
                      <p:cNvPicPr>
                        <a:picLocks noChangeAspect="1" noChangeArrowheads="1"/>
                      </p:cNvPicPr>
                      <p:nvPr/>
                    </p:nvPicPr>
                    <p:blipFill>
                      <a:blip r:embed="rId5">
                        <a:lum bright="18000" contrast="12000"/>
                        <a:extLst>
                          <a:ext uri="{28A0092B-C50C-407E-A947-70E740481C1C}">
                            <a14:useLocalDpi xmlns:a14="http://schemas.microsoft.com/office/drawing/2010/main" val="0"/>
                          </a:ext>
                        </a:extLst>
                      </a:blip>
                      <a:srcRect/>
                      <a:stretch>
                        <a:fillRect/>
                      </a:stretch>
                    </p:blipFill>
                    <p:spPr bwMode="auto">
                      <a:xfrm>
                        <a:off x="950913" y="1476375"/>
                        <a:ext cx="1851025" cy="232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30" name="Picture 11"/>
          <p:cNvPicPr>
            <a:picLocks noGrp="1" noChangeAspect="1" noChangeArrowheads="1"/>
          </p:cNvPicPr>
          <p:nvPr>
            <p:ph sz="quarter" idx="3"/>
          </p:nvPr>
        </p:nvPicPr>
        <p:blipFill>
          <a:blip r:embed="rId6" cstate="print"/>
          <a:srcRect/>
          <a:stretch>
            <a:fillRect/>
          </a:stretch>
        </p:blipFill>
        <p:spPr>
          <a:xfrm>
            <a:off x="5691188" y="4467225"/>
            <a:ext cx="2997200" cy="2105025"/>
          </a:xfrm>
          <a:noFill/>
        </p:spPr>
      </p:pic>
      <p:graphicFrame>
        <p:nvGraphicFramePr>
          <p:cNvPr id="1028" name="Object 13"/>
          <p:cNvGraphicFramePr>
            <a:graphicFrameLocks noGrp="1" noChangeAspect="1"/>
          </p:cNvGraphicFramePr>
          <p:nvPr>
            <p:ph sz="quarter" idx="4"/>
          </p:nvPr>
        </p:nvGraphicFramePr>
        <p:xfrm>
          <a:off x="849313" y="4656138"/>
          <a:ext cx="2279650" cy="1416050"/>
        </p:xfrm>
        <a:graphic>
          <a:graphicData uri="http://schemas.openxmlformats.org/presentationml/2006/ole">
            <mc:AlternateContent xmlns:mc="http://schemas.openxmlformats.org/markup-compatibility/2006">
              <mc:Choice xmlns:v="urn:schemas-microsoft-com:vml" Requires="v">
                <p:oleObj name="Bitmap Image" r:id="rId7" imgW="1533739" imgH="952633" progId="Paint.Picture">
                  <p:embed/>
                </p:oleObj>
              </mc:Choice>
              <mc:Fallback>
                <p:oleObj name="Bitmap Image" r:id="rId7" imgW="1533739" imgH="952633" progId="Paint.Picture">
                  <p:embed/>
                  <p:pic>
                    <p:nvPicPr>
                      <p:cNvPr id="1028"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9313" y="4656138"/>
                        <a:ext cx="2279650" cy="141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5119" name="Rectangle 15"/>
          <p:cNvSpPr>
            <a:spLocks noChangeArrowheads="1"/>
          </p:cNvSpPr>
          <p:nvPr/>
        </p:nvSpPr>
        <p:spPr bwMode="auto">
          <a:xfrm>
            <a:off x="595313" y="1630363"/>
            <a:ext cx="1279525" cy="334962"/>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latin typeface="Arial Rounded MT Bold" pitchFamily="34" charset="0"/>
                <a:cs typeface="Angsana New" pitchFamily="18" charset="-34"/>
              </a:rPr>
              <a:t>•  </a:t>
            </a:r>
            <a:r>
              <a:rPr lang="en-US" sz="2200">
                <a:solidFill>
                  <a:schemeClr val="accent2"/>
                </a:solidFill>
                <a:latin typeface="Arial Rounded MT Bold" pitchFamily="34" charset="0"/>
                <a:cs typeface="Angsana New" pitchFamily="18" charset="-34"/>
              </a:rPr>
              <a:t>Bending</a:t>
            </a:r>
            <a:endParaRPr lang="en-US" sz="2200">
              <a:solidFill>
                <a:srgbClr val="000000"/>
              </a:solidFill>
              <a:latin typeface="Arial Rounded MT Bold" pitchFamily="34" charset="0"/>
              <a:cs typeface="Angsana New" pitchFamily="18" charset="-34"/>
            </a:endParaRPr>
          </a:p>
        </p:txBody>
      </p:sp>
      <p:sp>
        <p:nvSpPr>
          <p:cNvPr id="175121" name="Rectangle 17"/>
          <p:cNvSpPr>
            <a:spLocks noChangeArrowheads="1"/>
          </p:cNvSpPr>
          <p:nvPr/>
        </p:nvSpPr>
        <p:spPr bwMode="auto">
          <a:xfrm>
            <a:off x="5265738" y="1325563"/>
            <a:ext cx="1979612" cy="669925"/>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latin typeface="Arial Rounded MT Bold" pitchFamily="34" charset="0"/>
                <a:cs typeface="Angsana New" pitchFamily="18" charset="-34"/>
              </a:rPr>
              <a:t>•  </a:t>
            </a:r>
            <a:r>
              <a:rPr lang="en-US" sz="2200">
                <a:solidFill>
                  <a:schemeClr val="accent2"/>
                </a:solidFill>
                <a:latin typeface="Arial Rounded MT Bold" pitchFamily="34" charset="0"/>
                <a:cs typeface="Angsana New" pitchFamily="18" charset="-34"/>
              </a:rPr>
              <a:t>Deep drawing</a:t>
            </a:r>
            <a:endParaRPr lang="en-US" sz="2200">
              <a:latin typeface="Arial Rounded MT Bold" pitchFamily="34" charset="0"/>
              <a:cs typeface="Angsana New" pitchFamily="18" charset="-34"/>
            </a:endParaRPr>
          </a:p>
          <a:p>
            <a:pPr eaLnBrk="0" hangingPunct="0"/>
            <a:r>
              <a:rPr lang="en-US" sz="2200">
                <a:latin typeface="Arial Rounded MT Bold" pitchFamily="34" charset="0"/>
                <a:cs typeface="Angsana New" pitchFamily="18" charset="-34"/>
              </a:rPr>
              <a:t>    </a:t>
            </a:r>
            <a:endParaRPr lang="en-US" sz="2200">
              <a:solidFill>
                <a:srgbClr val="000000"/>
              </a:solidFill>
              <a:latin typeface="Arial Rounded MT Bold" pitchFamily="34" charset="0"/>
              <a:cs typeface="Angsana New" pitchFamily="18" charset="-34"/>
            </a:endParaRPr>
          </a:p>
        </p:txBody>
      </p:sp>
      <p:sp>
        <p:nvSpPr>
          <p:cNvPr id="175122" name="Rectangle 18"/>
          <p:cNvSpPr>
            <a:spLocks noChangeArrowheads="1"/>
          </p:cNvSpPr>
          <p:nvPr/>
        </p:nvSpPr>
        <p:spPr bwMode="auto">
          <a:xfrm>
            <a:off x="4406900" y="4554538"/>
            <a:ext cx="1373188" cy="669925"/>
          </a:xfrm>
          <a:prstGeom prst="rect">
            <a:avLst/>
          </a:prstGeom>
          <a:noFill/>
          <a:ln w="9525">
            <a:noFill/>
            <a:miter lim="800000"/>
            <a:headEnd/>
            <a:tailEnd/>
          </a:ln>
        </p:spPr>
        <p:txBody>
          <a:bodyPr wrap="none" lIns="0" tIns="0" rIns="0" bIns="0">
            <a:spAutoFit/>
          </a:bodyPr>
          <a:lstStyle/>
          <a:p>
            <a:pPr eaLnBrk="0" hangingPunct="0"/>
            <a:r>
              <a:rPr lang="en-US" sz="2200">
                <a:solidFill>
                  <a:srgbClr val="000000"/>
                </a:solidFill>
                <a:latin typeface="Arial Rounded MT Bold" pitchFamily="34" charset="0"/>
                <a:cs typeface="Angsana New" pitchFamily="18" charset="-34"/>
              </a:rPr>
              <a:t>•  </a:t>
            </a:r>
            <a:r>
              <a:rPr lang="en-US" sz="2200">
                <a:solidFill>
                  <a:schemeClr val="accent2"/>
                </a:solidFill>
                <a:latin typeface="Arial Rounded MT Bold" pitchFamily="34" charset="0"/>
                <a:cs typeface="Angsana New" pitchFamily="18" charset="-34"/>
              </a:rPr>
              <a:t>Shearing</a:t>
            </a:r>
            <a:endParaRPr lang="en-US" sz="2200">
              <a:latin typeface="Arial Rounded MT Bold" pitchFamily="34" charset="0"/>
              <a:cs typeface="Angsana New" pitchFamily="18" charset="-34"/>
            </a:endParaRPr>
          </a:p>
          <a:p>
            <a:pPr eaLnBrk="0" hangingPunct="0"/>
            <a:endParaRPr lang="en-US" sz="2200">
              <a:solidFill>
                <a:srgbClr val="000000"/>
              </a:solidFill>
              <a:latin typeface="Arial Rounded MT Bold" pitchFamily="34" charset="0"/>
              <a:cs typeface="Angsana New" pitchFamily="18" charset="-3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5119"/>
                                        </p:tgtEl>
                                        <p:attrNameLst>
                                          <p:attrName>style.visibility</p:attrName>
                                        </p:attrNameLst>
                                      </p:cBhvr>
                                      <p:to>
                                        <p:strVal val="visible"/>
                                      </p:to>
                                    </p:set>
                                    <p:anim calcmode="lin" valueType="num">
                                      <p:cBhvr additive="base">
                                        <p:cTn id="7" dur="500" fill="hold"/>
                                        <p:tgtEl>
                                          <p:spTgt spid="175119"/>
                                        </p:tgtEl>
                                        <p:attrNameLst>
                                          <p:attrName>ppt_x</p:attrName>
                                        </p:attrNameLst>
                                      </p:cBhvr>
                                      <p:tavLst>
                                        <p:tav tm="0">
                                          <p:val>
                                            <p:strVal val="#ppt_x"/>
                                          </p:val>
                                        </p:tav>
                                        <p:tav tm="100000">
                                          <p:val>
                                            <p:strVal val="#ppt_x"/>
                                          </p:val>
                                        </p:tav>
                                      </p:tavLst>
                                    </p:anim>
                                    <p:anim calcmode="lin" valueType="num">
                                      <p:cBhvr additive="base">
                                        <p:cTn id="8" dur="500" fill="hold"/>
                                        <p:tgtEl>
                                          <p:spTgt spid="1751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5121"/>
                                        </p:tgtEl>
                                        <p:attrNameLst>
                                          <p:attrName>style.visibility</p:attrName>
                                        </p:attrNameLst>
                                      </p:cBhvr>
                                      <p:to>
                                        <p:strVal val="visible"/>
                                      </p:to>
                                    </p:set>
                                    <p:anim calcmode="lin" valueType="num">
                                      <p:cBhvr additive="base">
                                        <p:cTn id="13" dur="500" fill="hold"/>
                                        <p:tgtEl>
                                          <p:spTgt spid="175121"/>
                                        </p:tgtEl>
                                        <p:attrNameLst>
                                          <p:attrName>ppt_x</p:attrName>
                                        </p:attrNameLst>
                                      </p:cBhvr>
                                      <p:tavLst>
                                        <p:tav tm="0">
                                          <p:val>
                                            <p:strVal val="#ppt_x"/>
                                          </p:val>
                                        </p:tav>
                                        <p:tav tm="100000">
                                          <p:val>
                                            <p:strVal val="#ppt_x"/>
                                          </p:val>
                                        </p:tav>
                                      </p:tavLst>
                                    </p:anim>
                                    <p:anim calcmode="lin" valueType="num">
                                      <p:cBhvr additive="base">
                                        <p:cTn id="14" dur="500" fill="hold"/>
                                        <p:tgtEl>
                                          <p:spTgt spid="1751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5122"/>
                                        </p:tgtEl>
                                        <p:attrNameLst>
                                          <p:attrName>style.visibility</p:attrName>
                                        </p:attrNameLst>
                                      </p:cBhvr>
                                      <p:to>
                                        <p:strVal val="visible"/>
                                      </p:to>
                                    </p:set>
                                    <p:anim calcmode="lin" valueType="num">
                                      <p:cBhvr additive="base">
                                        <p:cTn id="19" dur="500" fill="hold"/>
                                        <p:tgtEl>
                                          <p:spTgt spid="175122"/>
                                        </p:tgtEl>
                                        <p:attrNameLst>
                                          <p:attrName>ppt_x</p:attrName>
                                        </p:attrNameLst>
                                      </p:cBhvr>
                                      <p:tavLst>
                                        <p:tav tm="0">
                                          <p:val>
                                            <p:strVal val="#ppt_x"/>
                                          </p:val>
                                        </p:tav>
                                        <p:tav tm="100000">
                                          <p:val>
                                            <p:strVal val="#ppt_x"/>
                                          </p:val>
                                        </p:tav>
                                      </p:tavLst>
                                    </p:anim>
                                    <p:anim calcmode="lin" valueType="num">
                                      <p:cBhvr additive="base">
                                        <p:cTn id="20" dur="500" fill="hold"/>
                                        <p:tgtEl>
                                          <p:spTgt spid="17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19" grpId="0"/>
      <p:bldP spid="175121" grpId="0"/>
      <p:bldP spid="1751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577850" y="566738"/>
            <a:ext cx="1292225" cy="457200"/>
          </a:xfrm>
          <a:prstGeom prst="rect">
            <a:avLst/>
          </a:prstGeom>
          <a:noFill/>
          <a:ln w="9525">
            <a:noFill/>
            <a:miter lim="800000"/>
            <a:headEnd/>
            <a:tailEnd/>
          </a:ln>
        </p:spPr>
        <p:txBody>
          <a:bodyPr wrap="none" anchor="ctr">
            <a:spAutoFit/>
          </a:bodyPr>
          <a:lstStyle/>
          <a:p>
            <a:pPr eaLnBrk="0" hangingPunct="0"/>
            <a:r>
              <a:rPr lang="en-US" sz="2400" b="1"/>
              <a:t>Forging</a:t>
            </a:r>
            <a:r>
              <a:rPr lang="en-US" sz="2400"/>
              <a:t> </a:t>
            </a:r>
          </a:p>
        </p:txBody>
      </p:sp>
      <p:sp>
        <p:nvSpPr>
          <p:cNvPr id="20483" name="Rectangle 3"/>
          <p:cNvSpPr>
            <a:spLocks noChangeArrowheads="1"/>
          </p:cNvSpPr>
          <p:nvPr/>
        </p:nvSpPr>
        <p:spPr bwMode="auto">
          <a:xfrm>
            <a:off x="1008063" y="1320800"/>
            <a:ext cx="7867650" cy="406400"/>
          </a:xfrm>
          <a:prstGeom prst="rect">
            <a:avLst/>
          </a:prstGeom>
          <a:noFill/>
          <a:ln w="9525">
            <a:solidFill>
              <a:schemeClr val="accent2"/>
            </a:solidFill>
            <a:miter lim="800000"/>
            <a:headEnd/>
            <a:tailEnd/>
          </a:ln>
        </p:spPr>
        <p:txBody>
          <a:bodyPr wrap="none" anchor="ctr">
            <a:spAutoFit/>
          </a:bodyPr>
          <a:lstStyle/>
          <a:p>
            <a:pPr eaLnBrk="0" hangingPunct="0"/>
            <a:r>
              <a:rPr lang="en-US" sz="2000"/>
              <a:t>[Heated] metal is beaten with a heavy hammer to give it the required shape </a:t>
            </a:r>
          </a:p>
        </p:txBody>
      </p:sp>
      <p:pic>
        <p:nvPicPr>
          <p:cNvPr id="20484" name="Picture 4"/>
          <p:cNvPicPr>
            <a:picLocks noChangeAspect="1" noChangeArrowheads="1"/>
          </p:cNvPicPr>
          <p:nvPr/>
        </p:nvPicPr>
        <p:blipFill>
          <a:blip r:embed="rId2" cstate="print"/>
          <a:srcRect/>
          <a:stretch>
            <a:fillRect/>
          </a:stretch>
        </p:blipFill>
        <p:spPr bwMode="auto">
          <a:xfrm>
            <a:off x="1476375" y="1754188"/>
            <a:ext cx="3722688" cy="4849812"/>
          </a:xfrm>
          <a:prstGeom prst="rect">
            <a:avLst/>
          </a:prstGeom>
          <a:noFill/>
          <a:ln w="9525">
            <a:noFill/>
            <a:miter lim="800000"/>
            <a:headEnd/>
            <a:tailEnd/>
          </a:ln>
        </p:spPr>
      </p:pic>
      <p:sp>
        <p:nvSpPr>
          <p:cNvPr id="20485" name="Text Box 5"/>
          <p:cNvSpPr txBox="1">
            <a:spLocks noChangeArrowheads="1"/>
          </p:cNvSpPr>
          <p:nvPr/>
        </p:nvSpPr>
        <p:spPr bwMode="auto">
          <a:xfrm>
            <a:off x="5661025" y="3278188"/>
            <a:ext cx="1438275" cy="1311275"/>
          </a:xfrm>
          <a:prstGeom prst="rect">
            <a:avLst/>
          </a:prstGeom>
          <a:noFill/>
          <a:ln w="9525">
            <a:noFill/>
            <a:miter lim="800000"/>
            <a:headEnd/>
            <a:tailEnd/>
          </a:ln>
        </p:spPr>
        <p:txBody>
          <a:bodyPr wrap="none">
            <a:spAutoFit/>
          </a:bodyPr>
          <a:lstStyle/>
          <a:p>
            <a:r>
              <a:rPr lang="en-US" sz="2000"/>
              <a:t>Hot forging,</a:t>
            </a:r>
          </a:p>
          <a:p>
            <a:endParaRPr lang="en-US" sz="2000"/>
          </a:p>
          <a:p>
            <a:endParaRPr lang="en-US" sz="2000"/>
          </a:p>
          <a:p>
            <a:r>
              <a:rPr lang="en-US" sz="2000"/>
              <a:t>open-die</a:t>
            </a:r>
          </a:p>
        </p:txBody>
      </p:sp>
      <p:sp>
        <p:nvSpPr>
          <p:cNvPr id="20486" name="Line 6"/>
          <p:cNvSpPr>
            <a:spLocks noChangeShapeType="1"/>
          </p:cNvSpPr>
          <p:nvPr/>
        </p:nvSpPr>
        <p:spPr bwMode="auto">
          <a:xfrm flipH="1">
            <a:off x="3338513" y="3548063"/>
            <a:ext cx="2312987" cy="1277937"/>
          </a:xfrm>
          <a:prstGeom prst="line">
            <a:avLst/>
          </a:prstGeom>
          <a:noFill/>
          <a:ln w="9525">
            <a:solidFill>
              <a:schemeClr val="tx1"/>
            </a:solidFill>
            <a:round/>
            <a:headEnd/>
            <a:tailEnd type="triangle" w="med" len="med"/>
          </a:ln>
        </p:spPr>
        <p:txBody>
          <a:bodyPr/>
          <a:lstStyle/>
          <a:p>
            <a:endParaRPr lang="th-TH"/>
          </a:p>
        </p:txBody>
      </p:sp>
      <p:sp>
        <p:nvSpPr>
          <p:cNvPr id="20487" name="Line 7"/>
          <p:cNvSpPr>
            <a:spLocks noChangeShapeType="1"/>
          </p:cNvSpPr>
          <p:nvPr/>
        </p:nvSpPr>
        <p:spPr bwMode="auto">
          <a:xfrm flipH="1">
            <a:off x="3513138" y="4418013"/>
            <a:ext cx="2159000" cy="615950"/>
          </a:xfrm>
          <a:prstGeom prst="line">
            <a:avLst/>
          </a:prstGeom>
          <a:noFill/>
          <a:ln w="9525">
            <a:solidFill>
              <a:schemeClr val="tx1"/>
            </a:solidFill>
            <a:round/>
            <a:headEnd/>
            <a:tailEnd type="triangle" w="med" len="med"/>
          </a:ln>
        </p:spPr>
        <p:txBody>
          <a:bodyPr/>
          <a:lstStyle/>
          <a:p>
            <a:endParaRPr lang="th-TH"/>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p:txBody>
          <a:bodyPr/>
          <a:lstStyle/>
          <a:p>
            <a:pPr eaLnBrk="1" hangingPunct="1"/>
            <a:endParaRPr lang="th-TH"/>
          </a:p>
        </p:txBody>
      </p:sp>
      <p:sp>
        <p:nvSpPr>
          <p:cNvPr id="21507" name="Rectangle 4"/>
          <p:cNvSpPr>
            <a:spLocks noChangeArrowheads="1"/>
          </p:cNvSpPr>
          <p:nvPr/>
        </p:nvSpPr>
        <p:spPr bwMode="auto">
          <a:xfrm>
            <a:off x="3657600" y="304800"/>
            <a:ext cx="2819400" cy="914400"/>
          </a:xfrm>
          <a:prstGeom prst="rect">
            <a:avLst/>
          </a:prstGeom>
          <a:solidFill>
            <a:srgbClr val="CCFFFF">
              <a:alpha val="50195"/>
            </a:srgbClr>
          </a:solidFill>
          <a:ln w="9525">
            <a:solidFill>
              <a:srgbClr val="969696"/>
            </a:solidFill>
            <a:miter lim="800000"/>
            <a:headEnd/>
            <a:tailEnd/>
          </a:ln>
        </p:spPr>
        <p:txBody>
          <a:bodyPr anchor="ctr"/>
          <a:lstStyle/>
          <a:p>
            <a:pPr algn="ctr"/>
            <a:r>
              <a:rPr lang="en-US" sz="4400">
                <a:solidFill>
                  <a:schemeClr val="tx2"/>
                </a:solidFill>
              </a:rPr>
              <a:t>Forging</a:t>
            </a:r>
          </a:p>
        </p:txBody>
      </p:sp>
      <p:grpSp>
        <p:nvGrpSpPr>
          <p:cNvPr id="21508" name="Group 5"/>
          <p:cNvGrpSpPr>
            <a:grpSpLocks/>
          </p:cNvGrpSpPr>
          <p:nvPr/>
        </p:nvGrpSpPr>
        <p:grpSpPr bwMode="auto">
          <a:xfrm>
            <a:off x="838200" y="1371600"/>
            <a:ext cx="3336925" cy="4795838"/>
            <a:chOff x="528" y="1379"/>
            <a:chExt cx="2102" cy="3021"/>
          </a:xfrm>
        </p:grpSpPr>
        <p:pic>
          <p:nvPicPr>
            <p:cNvPr id="21513" name="Picture 6"/>
            <p:cNvPicPr>
              <a:picLocks noChangeAspect="1" noChangeArrowheads="1"/>
            </p:cNvPicPr>
            <p:nvPr/>
          </p:nvPicPr>
          <p:blipFill>
            <a:blip r:embed="rId2" cstate="print"/>
            <a:srcRect/>
            <a:stretch>
              <a:fillRect/>
            </a:stretch>
          </p:blipFill>
          <p:spPr bwMode="auto">
            <a:xfrm>
              <a:off x="528" y="1382"/>
              <a:ext cx="2102" cy="3018"/>
            </a:xfrm>
            <a:prstGeom prst="rect">
              <a:avLst/>
            </a:prstGeom>
            <a:noFill/>
            <a:ln w="9525">
              <a:noFill/>
              <a:miter lim="800000"/>
              <a:headEnd/>
              <a:tailEnd/>
            </a:ln>
          </p:spPr>
        </p:pic>
        <p:sp>
          <p:nvSpPr>
            <p:cNvPr id="21514" name="Text Box 7"/>
            <p:cNvSpPr txBox="1">
              <a:spLocks noChangeArrowheads="1"/>
            </p:cNvSpPr>
            <p:nvPr/>
          </p:nvSpPr>
          <p:spPr bwMode="auto">
            <a:xfrm>
              <a:off x="569" y="1379"/>
              <a:ext cx="163" cy="131"/>
            </a:xfrm>
            <a:prstGeom prst="rect">
              <a:avLst/>
            </a:prstGeom>
            <a:noFill/>
            <a:ln w="9525">
              <a:noFill/>
              <a:miter lim="800000"/>
              <a:headEnd/>
              <a:tailEnd/>
            </a:ln>
          </p:spPr>
          <p:txBody>
            <a:bodyPr lIns="0" tIns="0" rIns="0" bIns="0"/>
            <a:lstStyle/>
            <a:p>
              <a:pPr eaLnBrk="0" hangingPunct="0">
                <a:lnSpc>
                  <a:spcPct val="85000"/>
                </a:lnSpc>
              </a:pPr>
              <a:r>
                <a:rPr lang="en-GB" sz="1400">
                  <a:latin typeface="Times" charset="0"/>
                </a:rPr>
                <a:t>(a)</a:t>
              </a:r>
            </a:p>
          </p:txBody>
        </p:sp>
      </p:grpSp>
      <p:grpSp>
        <p:nvGrpSpPr>
          <p:cNvPr id="21509" name="Group 8"/>
          <p:cNvGrpSpPr>
            <a:grpSpLocks/>
          </p:cNvGrpSpPr>
          <p:nvPr/>
        </p:nvGrpSpPr>
        <p:grpSpPr bwMode="auto">
          <a:xfrm>
            <a:off x="4495800" y="1371600"/>
            <a:ext cx="4662488" cy="3997325"/>
            <a:chOff x="2882" y="1379"/>
            <a:chExt cx="2937" cy="2518"/>
          </a:xfrm>
        </p:grpSpPr>
        <p:pic>
          <p:nvPicPr>
            <p:cNvPr id="21511" name="Picture 9"/>
            <p:cNvPicPr>
              <a:picLocks noChangeAspect="1" noChangeArrowheads="1"/>
            </p:cNvPicPr>
            <p:nvPr/>
          </p:nvPicPr>
          <p:blipFill>
            <a:blip r:embed="rId3" cstate="print"/>
            <a:srcRect/>
            <a:stretch>
              <a:fillRect/>
            </a:stretch>
          </p:blipFill>
          <p:spPr bwMode="auto">
            <a:xfrm>
              <a:off x="2882" y="1381"/>
              <a:ext cx="2937" cy="2516"/>
            </a:xfrm>
            <a:prstGeom prst="rect">
              <a:avLst/>
            </a:prstGeom>
            <a:noFill/>
            <a:ln w="9525">
              <a:noFill/>
              <a:miter lim="800000"/>
              <a:headEnd/>
              <a:tailEnd/>
            </a:ln>
          </p:spPr>
        </p:pic>
        <p:sp>
          <p:nvSpPr>
            <p:cNvPr id="21512" name="Text Box 10"/>
            <p:cNvSpPr txBox="1">
              <a:spLocks noChangeArrowheads="1"/>
            </p:cNvSpPr>
            <p:nvPr/>
          </p:nvSpPr>
          <p:spPr bwMode="auto">
            <a:xfrm>
              <a:off x="2922" y="1379"/>
              <a:ext cx="225" cy="131"/>
            </a:xfrm>
            <a:prstGeom prst="rect">
              <a:avLst/>
            </a:prstGeom>
            <a:noFill/>
            <a:ln w="9525">
              <a:noFill/>
              <a:miter lim="800000"/>
              <a:headEnd/>
              <a:tailEnd/>
            </a:ln>
          </p:spPr>
          <p:txBody>
            <a:bodyPr lIns="0" tIns="0" rIns="0" bIns="0"/>
            <a:lstStyle/>
            <a:p>
              <a:pPr eaLnBrk="0" hangingPunct="0">
                <a:lnSpc>
                  <a:spcPct val="85000"/>
                </a:lnSpc>
              </a:pPr>
              <a:r>
                <a:rPr lang="en-GB" sz="1400">
                  <a:solidFill>
                    <a:srgbClr val="FFFFFF"/>
                  </a:solidFill>
                  <a:latin typeface="Times" charset="0"/>
                </a:rPr>
                <a:t>(b)</a:t>
              </a:r>
            </a:p>
          </p:txBody>
        </p:sp>
      </p:grpSp>
      <p:sp>
        <p:nvSpPr>
          <p:cNvPr id="21510" name="Rectangle 11"/>
          <p:cNvSpPr>
            <a:spLocks noChangeArrowheads="1"/>
          </p:cNvSpPr>
          <p:nvPr/>
        </p:nvSpPr>
        <p:spPr bwMode="auto">
          <a:xfrm>
            <a:off x="4495800" y="5513388"/>
            <a:ext cx="4724400" cy="1131887"/>
          </a:xfrm>
          <a:prstGeom prst="rect">
            <a:avLst/>
          </a:prstGeom>
          <a:noFill/>
          <a:ln w="9525">
            <a:noFill/>
            <a:miter lim="800000"/>
            <a:headEnd/>
            <a:tailEnd/>
          </a:ln>
        </p:spPr>
        <p:txBody>
          <a:bodyPr anchor="ctr">
            <a:spAutoFit/>
          </a:bodyPr>
          <a:lstStyle/>
          <a:p>
            <a:pPr eaLnBrk="0" hangingPunct="0">
              <a:lnSpc>
                <a:spcPct val="85000"/>
              </a:lnSpc>
              <a:spcBef>
                <a:spcPct val="20000"/>
              </a:spcBef>
            </a:pPr>
            <a:r>
              <a:rPr lang="en-GB" sz="1600"/>
              <a:t>Figure 14.1  (a) Schematic illustration of the steps involved in forging a bevel gear with a shaft.  </a:t>
            </a:r>
            <a:r>
              <a:rPr lang="en-GB" sz="1600" i="1"/>
              <a:t>Source</a:t>
            </a:r>
            <a:r>
              <a:rPr lang="en-GB" sz="1600"/>
              <a:t>: Forging Industry Association.  (b) Landing-gear components for the C5A and C5B transport aircraft, made by forging.  </a:t>
            </a:r>
            <a:r>
              <a:rPr lang="en-GB" sz="1600" i="1"/>
              <a:t>Source</a:t>
            </a:r>
            <a:r>
              <a:rPr lang="en-GB" sz="1600"/>
              <a:t>: Wyman-Gordon Company.</a:t>
            </a:r>
            <a:endParaRPr lang="en-US" sz="1600">
              <a:latin typeface="Helvetica"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503238" y="522288"/>
            <a:ext cx="3248025" cy="457200"/>
          </a:xfrm>
          <a:prstGeom prst="rect">
            <a:avLst/>
          </a:prstGeom>
          <a:noFill/>
          <a:ln w="9525">
            <a:noFill/>
            <a:miter lim="800000"/>
            <a:headEnd/>
            <a:tailEnd/>
          </a:ln>
        </p:spPr>
        <p:txBody>
          <a:bodyPr wrap="none" anchor="ctr">
            <a:spAutoFit/>
          </a:bodyPr>
          <a:lstStyle/>
          <a:p>
            <a:pPr eaLnBrk="0" hangingPunct="0"/>
            <a:r>
              <a:rPr lang="en-US" sz="2400" b="1"/>
              <a:t>Quality of forged parts</a:t>
            </a:r>
            <a:r>
              <a:rPr lang="en-US" sz="2400"/>
              <a:t> </a:t>
            </a:r>
          </a:p>
        </p:txBody>
      </p:sp>
      <p:sp>
        <p:nvSpPr>
          <p:cNvPr id="22531" name="Rectangle 3"/>
          <p:cNvSpPr>
            <a:spLocks noChangeArrowheads="1"/>
          </p:cNvSpPr>
          <p:nvPr/>
        </p:nvSpPr>
        <p:spPr bwMode="auto">
          <a:xfrm>
            <a:off x="963613" y="2420938"/>
            <a:ext cx="7512050" cy="457200"/>
          </a:xfrm>
          <a:prstGeom prst="rect">
            <a:avLst/>
          </a:prstGeom>
          <a:noFill/>
          <a:ln w="9525">
            <a:noFill/>
            <a:miter lim="800000"/>
            <a:headEnd/>
            <a:tailEnd/>
          </a:ln>
        </p:spPr>
        <p:txBody>
          <a:bodyPr wrap="none" anchor="ctr">
            <a:spAutoFit/>
          </a:bodyPr>
          <a:lstStyle/>
          <a:p>
            <a:pPr eaLnBrk="0" hangingPunct="0"/>
            <a:r>
              <a:rPr lang="en-US" sz="2400"/>
              <a:t>Stronger/tougher than cast/machined parts of same material </a:t>
            </a:r>
          </a:p>
        </p:txBody>
      </p:sp>
      <p:sp>
        <p:nvSpPr>
          <p:cNvPr id="22532" name="Rectangle 4"/>
          <p:cNvSpPr>
            <a:spLocks noChangeArrowheads="1"/>
          </p:cNvSpPr>
          <p:nvPr/>
        </p:nvSpPr>
        <p:spPr bwMode="auto">
          <a:xfrm>
            <a:off x="1333500" y="1560513"/>
            <a:ext cx="4722813" cy="822325"/>
          </a:xfrm>
          <a:prstGeom prst="rect">
            <a:avLst/>
          </a:prstGeom>
          <a:noFill/>
          <a:ln w="9525">
            <a:noFill/>
            <a:miter lim="800000"/>
            <a:headEnd/>
            <a:tailEnd/>
          </a:ln>
        </p:spPr>
        <p:txBody>
          <a:bodyPr wrap="none" anchor="ctr">
            <a:spAutoFit/>
          </a:bodyPr>
          <a:lstStyle/>
          <a:p>
            <a:pPr eaLnBrk="0" hangingPunct="0"/>
            <a:r>
              <a:rPr lang="en-US" sz="2400"/>
              <a:t>Surface finish/Dimensional control:</a:t>
            </a:r>
          </a:p>
          <a:p>
            <a:pPr eaLnBrk="0" hangingPunct="0"/>
            <a:r>
              <a:rPr lang="en-US" sz="2400"/>
              <a:t>	Better than casting (typically)</a:t>
            </a:r>
          </a:p>
        </p:txBody>
      </p:sp>
      <p:pic>
        <p:nvPicPr>
          <p:cNvPr id="22533" name="Picture 5" descr="graingrowth3"/>
          <p:cNvPicPr>
            <a:picLocks noChangeAspect="1" noChangeArrowheads="1"/>
          </p:cNvPicPr>
          <p:nvPr/>
        </p:nvPicPr>
        <p:blipFill>
          <a:blip r:embed="rId2" cstate="print"/>
          <a:srcRect/>
          <a:stretch>
            <a:fillRect/>
          </a:stretch>
        </p:blipFill>
        <p:spPr bwMode="auto">
          <a:xfrm>
            <a:off x="1973263" y="3032125"/>
            <a:ext cx="5740400" cy="3190875"/>
          </a:xfrm>
          <a:prstGeom prst="rect">
            <a:avLst/>
          </a:prstGeom>
          <a:noFill/>
          <a:ln w="9525">
            <a:noFill/>
            <a:miter lim="800000"/>
            <a:headEnd/>
            <a:tailEnd/>
          </a:ln>
        </p:spPr>
      </p:pic>
      <p:sp>
        <p:nvSpPr>
          <p:cNvPr id="22534" name="Text Box 6"/>
          <p:cNvSpPr txBox="1">
            <a:spLocks noChangeArrowheads="1"/>
          </p:cNvSpPr>
          <p:nvPr/>
        </p:nvSpPr>
        <p:spPr bwMode="auto">
          <a:xfrm>
            <a:off x="1449388" y="6408738"/>
            <a:ext cx="1671637" cy="244475"/>
          </a:xfrm>
          <a:prstGeom prst="rect">
            <a:avLst/>
          </a:prstGeom>
          <a:noFill/>
          <a:ln w="9525">
            <a:noFill/>
            <a:miter lim="800000"/>
            <a:headEnd/>
            <a:tailEnd/>
          </a:ln>
        </p:spPr>
        <p:txBody>
          <a:bodyPr wrap="none">
            <a:spAutoFit/>
          </a:bodyPr>
          <a:lstStyle/>
          <a:p>
            <a:r>
              <a:rPr lang="en-US" sz="1000"/>
              <a:t>[source:www.scotforge.com]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87375" y="228600"/>
            <a:ext cx="8067675" cy="1524000"/>
          </a:xfrm>
        </p:spPr>
        <p:txBody>
          <a:bodyPr/>
          <a:lstStyle/>
          <a:p>
            <a:pPr eaLnBrk="1" hangingPunct="1"/>
            <a:r>
              <a:rPr lang="en-US" sz="3200"/>
              <a:t>Grain Flow Pattern of Pierced Round Billet</a:t>
            </a:r>
          </a:p>
        </p:txBody>
      </p:sp>
      <p:pic>
        <p:nvPicPr>
          <p:cNvPr id="23555" name="Picture 3"/>
          <p:cNvPicPr>
            <a:picLocks noChangeAspect="1" noChangeArrowheads="1"/>
          </p:cNvPicPr>
          <p:nvPr/>
        </p:nvPicPr>
        <p:blipFill>
          <a:blip r:embed="rId2" cstate="print"/>
          <a:srcRect/>
          <a:stretch>
            <a:fillRect/>
          </a:stretch>
        </p:blipFill>
        <p:spPr bwMode="auto">
          <a:xfrm>
            <a:off x="622300" y="1728788"/>
            <a:ext cx="4700588" cy="4376737"/>
          </a:xfrm>
          <a:prstGeom prst="rect">
            <a:avLst/>
          </a:prstGeom>
          <a:noFill/>
          <a:ln w="9525">
            <a:noFill/>
            <a:miter lim="800000"/>
            <a:headEnd/>
            <a:tailEnd/>
          </a:ln>
        </p:spPr>
      </p:pic>
      <p:sp>
        <p:nvSpPr>
          <p:cNvPr id="23556" name="Text Box 4"/>
          <p:cNvSpPr txBox="1">
            <a:spLocks noChangeArrowheads="1"/>
          </p:cNvSpPr>
          <p:nvPr/>
        </p:nvSpPr>
        <p:spPr bwMode="auto">
          <a:xfrm>
            <a:off x="5546725" y="1714500"/>
            <a:ext cx="2916238" cy="906463"/>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 pos="2627313" algn="l"/>
              </a:tabLst>
            </a:pPr>
            <a:r>
              <a:rPr lang="en-GB" sz="2000"/>
              <a:t>Figure 14.12  A pierced round billet, showing grain flow pattern.  </a:t>
            </a:r>
            <a:r>
              <a:rPr lang="en-GB" sz="2000" i="1"/>
              <a:t>Source</a:t>
            </a:r>
            <a:r>
              <a:rPr lang="en-GB" sz="2000"/>
              <a:t>: Courtesy of Ladish Co., Inc.</a:t>
            </a:r>
            <a:endParaRPr lang="en-GB" sz="2000">
              <a:latin typeface="Helvetica"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735138" y="469900"/>
            <a:ext cx="5791200" cy="1284288"/>
          </a:xfrm>
        </p:spPr>
        <p:txBody>
          <a:bodyPr/>
          <a:lstStyle/>
          <a:p>
            <a:pPr eaLnBrk="1" hangingPunct="1"/>
            <a:r>
              <a:rPr lang="en-US"/>
              <a:t>Grain Flow Comparison</a:t>
            </a:r>
          </a:p>
        </p:txBody>
      </p:sp>
      <p:pic>
        <p:nvPicPr>
          <p:cNvPr id="24579" name="Picture 3"/>
          <p:cNvPicPr>
            <a:picLocks noChangeAspect="1" noChangeArrowheads="1"/>
          </p:cNvPicPr>
          <p:nvPr/>
        </p:nvPicPr>
        <p:blipFill>
          <a:blip r:embed="rId2" cstate="print"/>
          <a:srcRect/>
          <a:stretch>
            <a:fillRect/>
          </a:stretch>
        </p:blipFill>
        <p:spPr bwMode="auto">
          <a:xfrm>
            <a:off x="690563" y="2695575"/>
            <a:ext cx="7812087" cy="1360488"/>
          </a:xfrm>
          <a:prstGeom prst="rect">
            <a:avLst/>
          </a:prstGeom>
          <a:noFill/>
          <a:ln w="9525">
            <a:noFill/>
            <a:miter lim="800000"/>
            <a:headEnd/>
            <a:tailEnd/>
          </a:ln>
        </p:spPr>
      </p:pic>
      <p:sp>
        <p:nvSpPr>
          <p:cNvPr id="24580" name="Text Box 4"/>
          <p:cNvSpPr txBox="1">
            <a:spLocks noChangeArrowheads="1"/>
          </p:cNvSpPr>
          <p:nvPr/>
        </p:nvSpPr>
        <p:spPr bwMode="auto">
          <a:xfrm>
            <a:off x="495300" y="4814888"/>
            <a:ext cx="7980363" cy="1244600"/>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 pos="2627313" algn="l"/>
                <a:tab pos="3282950" algn="l"/>
                <a:tab pos="3940175" algn="l"/>
                <a:tab pos="4595813" algn="l"/>
                <a:tab pos="5253038" algn="l"/>
                <a:tab pos="5910263" algn="l"/>
                <a:tab pos="6565900" algn="l"/>
                <a:tab pos="7223125" algn="l"/>
              </a:tabLst>
            </a:pPr>
            <a:r>
              <a:rPr lang="en-GB" sz="2400"/>
              <a:t>Figure 14.3  A part made by three different processes, showing grain flow.  (a) casting, (b) machining, (c) forging.  </a:t>
            </a:r>
            <a:r>
              <a:rPr lang="en-GB" sz="2400" i="1"/>
              <a:t>Source</a:t>
            </a:r>
            <a:r>
              <a:rPr lang="en-GB" sz="2400"/>
              <a:t>: Forging Industry Association.</a:t>
            </a:r>
            <a:endParaRPr lang="en-GB" sz="2400">
              <a:latin typeface="Helvetica"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017838" y="314325"/>
            <a:ext cx="3773487" cy="1143000"/>
          </a:xfrm>
        </p:spPr>
        <p:txBody>
          <a:bodyPr/>
          <a:lstStyle/>
          <a:p>
            <a:pPr eaLnBrk="1" hangingPunct="1"/>
            <a:r>
              <a:rPr lang="en-US"/>
              <a:t>Upsetting</a:t>
            </a:r>
          </a:p>
        </p:txBody>
      </p:sp>
      <p:pic>
        <p:nvPicPr>
          <p:cNvPr id="25603" name="Picture 3"/>
          <p:cNvPicPr>
            <a:picLocks noChangeAspect="1" noChangeArrowheads="1"/>
          </p:cNvPicPr>
          <p:nvPr/>
        </p:nvPicPr>
        <p:blipFill>
          <a:blip r:embed="rId2" cstate="print"/>
          <a:srcRect/>
          <a:stretch>
            <a:fillRect/>
          </a:stretch>
        </p:blipFill>
        <p:spPr bwMode="auto">
          <a:xfrm>
            <a:off x="690563" y="1797050"/>
            <a:ext cx="7812087" cy="3043238"/>
          </a:xfrm>
          <a:prstGeom prst="rect">
            <a:avLst/>
          </a:prstGeom>
          <a:noFill/>
          <a:ln w="9525">
            <a:noFill/>
            <a:miter lim="800000"/>
            <a:headEnd/>
            <a:tailEnd/>
          </a:ln>
        </p:spPr>
      </p:pic>
      <p:sp>
        <p:nvSpPr>
          <p:cNvPr id="25604" name="Text Box 4"/>
          <p:cNvSpPr txBox="1">
            <a:spLocks noChangeArrowheads="1"/>
          </p:cNvSpPr>
          <p:nvPr/>
        </p:nvSpPr>
        <p:spPr bwMode="auto">
          <a:xfrm>
            <a:off x="690563" y="5114925"/>
            <a:ext cx="7812087" cy="622300"/>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 pos="2627313" algn="l"/>
                <a:tab pos="3282950" algn="l"/>
                <a:tab pos="3940175" algn="l"/>
                <a:tab pos="4595813" algn="l"/>
                <a:tab pos="5253038" algn="l"/>
                <a:tab pos="5910263" algn="l"/>
                <a:tab pos="6565900" algn="l"/>
                <a:tab pos="7223125" algn="l"/>
              </a:tabLst>
            </a:pPr>
            <a:r>
              <a:rPr lang="en-GB" sz="2000"/>
              <a:t>Figure (a) Solid cylindrical billet upset between two flat dies.  (b) Uniform deformation of the billet without friction.  (c) Deformation with friction.  Note barreling of the billet caused by friction forces at the billet-die interfaces.</a:t>
            </a:r>
            <a:endParaRPr lang="en-GB" sz="2000">
              <a:latin typeface="Helvetica"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130425" y="609600"/>
            <a:ext cx="4818063" cy="1143000"/>
          </a:xfrm>
        </p:spPr>
        <p:txBody>
          <a:bodyPr/>
          <a:lstStyle/>
          <a:p>
            <a:pPr eaLnBrk="1" hangingPunct="1"/>
            <a:r>
              <a:rPr lang="en-US"/>
              <a:t>Impression-Die Forging</a:t>
            </a:r>
          </a:p>
        </p:txBody>
      </p:sp>
      <p:pic>
        <p:nvPicPr>
          <p:cNvPr id="26627" name="Picture 3"/>
          <p:cNvPicPr>
            <a:picLocks noChangeAspect="1" noChangeArrowheads="1"/>
          </p:cNvPicPr>
          <p:nvPr/>
        </p:nvPicPr>
        <p:blipFill>
          <a:blip r:embed="rId2" cstate="print"/>
          <a:srcRect/>
          <a:stretch>
            <a:fillRect/>
          </a:stretch>
        </p:blipFill>
        <p:spPr bwMode="auto">
          <a:xfrm>
            <a:off x="842963" y="2014538"/>
            <a:ext cx="7456487" cy="2413000"/>
          </a:xfrm>
          <a:prstGeom prst="rect">
            <a:avLst/>
          </a:prstGeom>
          <a:noFill/>
          <a:ln w="9525">
            <a:noFill/>
            <a:miter lim="800000"/>
            <a:headEnd/>
            <a:tailEnd/>
          </a:ln>
        </p:spPr>
      </p:pic>
      <p:sp>
        <p:nvSpPr>
          <p:cNvPr id="26628" name="Text Box 4"/>
          <p:cNvSpPr txBox="1">
            <a:spLocks noChangeArrowheads="1"/>
          </p:cNvSpPr>
          <p:nvPr/>
        </p:nvSpPr>
        <p:spPr bwMode="auto">
          <a:xfrm>
            <a:off x="842963" y="4791075"/>
            <a:ext cx="7456487" cy="447675"/>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 pos="2627313" algn="l"/>
                <a:tab pos="3282950" algn="l"/>
                <a:tab pos="3940175" algn="l"/>
                <a:tab pos="4595813" algn="l"/>
                <a:tab pos="5253038" algn="l"/>
                <a:tab pos="5910263" algn="l"/>
                <a:tab pos="6565900" algn="l"/>
                <a:tab pos="7223125" algn="l"/>
              </a:tabLst>
            </a:pPr>
            <a:r>
              <a:rPr lang="en-GB" sz="1500"/>
              <a:t>Figure 14.6  Stages in impression-die forging of a solid round billet.  Note the formation of flash, which is excess metal that is subsequently trimmed off (see Fig. 14.8).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754063" y="214313"/>
            <a:ext cx="6405562" cy="830262"/>
          </a:xfrm>
        </p:spPr>
        <p:txBody>
          <a:bodyPr/>
          <a:lstStyle/>
          <a:p>
            <a:pPr eaLnBrk="1" hangingPunct="1"/>
            <a:r>
              <a:rPr lang="en-US"/>
              <a:t>Forging a Connecting Rod</a:t>
            </a:r>
          </a:p>
        </p:txBody>
      </p:sp>
      <p:pic>
        <p:nvPicPr>
          <p:cNvPr id="27651" name="Picture 3"/>
          <p:cNvPicPr>
            <a:picLocks noChangeAspect="1" noChangeArrowheads="1"/>
          </p:cNvPicPr>
          <p:nvPr/>
        </p:nvPicPr>
        <p:blipFill>
          <a:blip r:embed="rId2" cstate="print"/>
          <a:srcRect/>
          <a:stretch>
            <a:fillRect/>
          </a:stretch>
        </p:blipFill>
        <p:spPr bwMode="auto">
          <a:xfrm>
            <a:off x="3427413" y="1320800"/>
            <a:ext cx="5191125" cy="4737100"/>
          </a:xfrm>
          <a:prstGeom prst="rect">
            <a:avLst/>
          </a:prstGeom>
          <a:noFill/>
          <a:ln w="9525">
            <a:noFill/>
            <a:miter lim="800000"/>
            <a:headEnd/>
            <a:tailEnd/>
          </a:ln>
        </p:spPr>
      </p:pic>
      <p:sp>
        <p:nvSpPr>
          <p:cNvPr id="27652" name="Text Box 4"/>
          <p:cNvSpPr txBox="1">
            <a:spLocks noChangeArrowheads="1"/>
          </p:cNvSpPr>
          <p:nvPr/>
        </p:nvSpPr>
        <p:spPr bwMode="auto">
          <a:xfrm>
            <a:off x="311150" y="2005013"/>
            <a:ext cx="2640013" cy="2979737"/>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Lst>
            </a:pPr>
            <a:r>
              <a:rPr lang="en-GB" sz="2000"/>
              <a:t>Figure (a) Stages in forging a connecting rod for an internal combustion engine.  Note the amount of flash required to ensure proper filling of the die cavities.  (b) Fullering, and (c) edging operations to distribute the material when preshaping the blank for forging.</a:t>
            </a:r>
          </a:p>
        </p:txBody>
      </p:sp>
      <p:sp>
        <p:nvSpPr>
          <p:cNvPr id="27653" name="Line 5"/>
          <p:cNvSpPr>
            <a:spLocks noChangeShapeType="1"/>
          </p:cNvSpPr>
          <p:nvPr/>
        </p:nvSpPr>
        <p:spPr bwMode="auto">
          <a:xfrm flipV="1">
            <a:off x="5834063" y="2554288"/>
            <a:ext cx="377825" cy="44450"/>
          </a:xfrm>
          <a:prstGeom prst="line">
            <a:avLst/>
          </a:prstGeom>
          <a:noFill/>
          <a:ln w="9525">
            <a:solidFill>
              <a:schemeClr val="tx1"/>
            </a:solidFill>
            <a:round/>
            <a:headEnd/>
            <a:tailEnd type="triangle" w="med" len="med"/>
          </a:ln>
        </p:spPr>
        <p:txBody>
          <a:bodyPr/>
          <a:lstStyle/>
          <a:p>
            <a:endParaRPr lang="th-TH"/>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09563" y="300038"/>
            <a:ext cx="8528050" cy="1143000"/>
          </a:xfrm>
        </p:spPr>
        <p:txBody>
          <a:bodyPr/>
          <a:lstStyle/>
          <a:p>
            <a:pPr eaLnBrk="1" hangingPunct="1"/>
            <a:r>
              <a:rPr lang="en-US"/>
              <a:t>Trimming Flash from a Forged Part</a:t>
            </a:r>
          </a:p>
        </p:txBody>
      </p:sp>
      <p:pic>
        <p:nvPicPr>
          <p:cNvPr id="28675" name="Picture 3"/>
          <p:cNvPicPr>
            <a:picLocks noChangeAspect="1" noChangeArrowheads="1"/>
          </p:cNvPicPr>
          <p:nvPr/>
        </p:nvPicPr>
        <p:blipFill>
          <a:blip r:embed="rId2" cstate="print"/>
          <a:srcRect/>
          <a:stretch>
            <a:fillRect/>
          </a:stretch>
        </p:blipFill>
        <p:spPr bwMode="auto">
          <a:xfrm>
            <a:off x="423863" y="1827213"/>
            <a:ext cx="4651375" cy="3340100"/>
          </a:xfrm>
          <a:prstGeom prst="rect">
            <a:avLst/>
          </a:prstGeom>
          <a:noFill/>
          <a:ln w="9525">
            <a:noFill/>
            <a:miter lim="800000"/>
            <a:headEnd/>
            <a:tailEnd/>
          </a:ln>
        </p:spPr>
      </p:pic>
      <p:sp>
        <p:nvSpPr>
          <p:cNvPr id="28676" name="Text Box 4"/>
          <p:cNvSpPr txBox="1">
            <a:spLocks noChangeArrowheads="1"/>
          </p:cNvSpPr>
          <p:nvPr/>
        </p:nvSpPr>
        <p:spPr bwMode="auto">
          <a:xfrm>
            <a:off x="5908675" y="3660775"/>
            <a:ext cx="2646363" cy="766763"/>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 pos="2627313" algn="l"/>
              </a:tabLst>
            </a:pPr>
            <a:r>
              <a:rPr lang="en-GB" sz="2000"/>
              <a:t>Figure. Trimming flash from a forged part.  Note that the thin material at the center is removed by punching.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a:spLocks noGrp="1" noChangeArrowheads="1"/>
          </p:cNvSpPr>
          <p:nvPr>
            <p:ph type="title"/>
          </p:nvPr>
        </p:nvSpPr>
        <p:spPr/>
        <p:txBody>
          <a:bodyPr/>
          <a:lstStyle/>
          <a:p>
            <a:pPr eaLnBrk="1" hangingPunct="1"/>
            <a:r>
              <a:rPr lang="en-US"/>
              <a:t>Flashless forging</a:t>
            </a:r>
            <a:endParaRPr lang="th-TH"/>
          </a:p>
        </p:txBody>
      </p:sp>
      <p:pic>
        <p:nvPicPr>
          <p:cNvPr id="29699" name="Picture 4"/>
          <p:cNvPicPr>
            <a:picLocks noGrp="1" noChangeAspect="1" noChangeArrowheads="1"/>
          </p:cNvPicPr>
          <p:nvPr>
            <p:ph idx="1"/>
          </p:nvPr>
        </p:nvPicPr>
        <p:blipFill>
          <a:blip r:embed="rId2" cstate="print"/>
          <a:srcRect/>
          <a:stretch>
            <a:fillRect/>
          </a:stretch>
        </p:blipFill>
        <p:spPr>
          <a:xfrm>
            <a:off x="939800" y="2063750"/>
            <a:ext cx="6943725" cy="4051300"/>
          </a:xfr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p:cNvSpPr>
            <a:spLocks noGrp="1" noChangeArrowheads="1"/>
          </p:cNvSpPr>
          <p:nvPr>
            <p:ph type="title"/>
          </p:nvPr>
        </p:nvSpPr>
        <p:spPr/>
        <p:txBody>
          <a:bodyPr/>
          <a:lstStyle/>
          <a:p>
            <a:pPr eaLnBrk="1" hangingPunct="1"/>
            <a:r>
              <a:rPr lang="en-US"/>
              <a:t>Normal</a:t>
            </a:r>
            <a:endParaRPr lang="th-TH"/>
          </a:p>
        </p:txBody>
      </p:sp>
      <p:grpSp>
        <p:nvGrpSpPr>
          <p:cNvPr id="30723" name="Group 23"/>
          <p:cNvGrpSpPr>
            <a:grpSpLocks/>
          </p:cNvGrpSpPr>
          <p:nvPr/>
        </p:nvGrpSpPr>
        <p:grpSpPr bwMode="auto">
          <a:xfrm>
            <a:off x="2509838" y="2106613"/>
            <a:ext cx="4035425" cy="3903662"/>
            <a:chOff x="237" y="1080"/>
            <a:chExt cx="2542" cy="2459"/>
          </a:xfrm>
        </p:grpSpPr>
        <p:pic>
          <p:nvPicPr>
            <p:cNvPr id="30724" name="Picture 4"/>
            <p:cNvPicPr>
              <a:picLocks noChangeAspect="1" noChangeArrowheads="1"/>
            </p:cNvPicPr>
            <p:nvPr/>
          </p:nvPicPr>
          <p:blipFill>
            <a:blip r:embed="rId2" cstate="print"/>
            <a:srcRect l="69431" t="37384" r="19241" b="33873"/>
            <a:stretch>
              <a:fillRect/>
            </a:stretch>
          </p:blipFill>
          <p:spPr bwMode="auto">
            <a:xfrm>
              <a:off x="860" y="1614"/>
              <a:ext cx="628" cy="1307"/>
            </a:xfrm>
            <a:prstGeom prst="rect">
              <a:avLst/>
            </a:prstGeom>
            <a:noFill/>
            <a:ln w="9525">
              <a:noFill/>
              <a:miter lim="800000"/>
              <a:headEnd/>
              <a:tailEnd/>
            </a:ln>
          </p:spPr>
        </p:pic>
        <p:sp>
          <p:nvSpPr>
            <p:cNvPr id="30725" name="Line 7"/>
            <p:cNvSpPr>
              <a:spLocks noChangeShapeType="1"/>
            </p:cNvSpPr>
            <p:nvPr/>
          </p:nvSpPr>
          <p:spPr bwMode="auto">
            <a:xfrm flipH="1">
              <a:off x="292" y="2158"/>
              <a:ext cx="567" cy="0"/>
            </a:xfrm>
            <a:prstGeom prst="line">
              <a:avLst/>
            </a:prstGeom>
            <a:noFill/>
            <a:ln w="9525">
              <a:solidFill>
                <a:schemeClr val="tx1"/>
              </a:solidFill>
              <a:round/>
              <a:headEnd/>
              <a:tailEnd/>
            </a:ln>
          </p:spPr>
          <p:txBody>
            <a:bodyPr/>
            <a:lstStyle/>
            <a:p>
              <a:endParaRPr lang="th-TH"/>
            </a:p>
          </p:txBody>
        </p:sp>
        <p:sp>
          <p:nvSpPr>
            <p:cNvPr id="30726" name="Line 8"/>
            <p:cNvSpPr>
              <a:spLocks noChangeShapeType="1"/>
            </p:cNvSpPr>
            <p:nvPr/>
          </p:nvSpPr>
          <p:spPr bwMode="auto">
            <a:xfrm flipH="1">
              <a:off x="292" y="2286"/>
              <a:ext cx="567" cy="0"/>
            </a:xfrm>
            <a:prstGeom prst="line">
              <a:avLst/>
            </a:prstGeom>
            <a:noFill/>
            <a:ln w="9525">
              <a:solidFill>
                <a:schemeClr val="tx1"/>
              </a:solidFill>
              <a:round/>
              <a:headEnd/>
              <a:tailEnd/>
            </a:ln>
          </p:spPr>
          <p:txBody>
            <a:bodyPr/>
            <a:lstStyle/>
            <a:p>
              <a:endParaRPr lang="th-TH"/>
            </a:p>
          </p:txBody>
        </p:sp>
        <p:sp>
          <p:nvSpPr>
            <p:cNvPr id="30727" name="Rectangle 9"/>
            <p:cNvSpPr>
              <a:spLocks noChangeArrowheads="1"/>
            </p:cNvSpPr>
            <p:nvPr/>
          </p:nvSpPr>
          <p:spPr bwMode="auto">
            <a:xfrm>
              <a:off x="283" y="2286"/>
              <a:ext cx="632" cy="631"/>
            </a:xfrm>
            <a:prstGeom prst="rect">
              <a:avLst/>
            </a:prstGeom>
            <a:solidFill>
              <a:srgbClr val="006600"/>
            </a:solidFill>
            <a:ln w="9525">
              <a:solidFill>
                <a:srgbClr val="008000"/>
              </a:solidFill>
              <a:miter lim="800000"/>
              <a:headEnd/>
              <a:tailEnd/>
            </a:ln>
          </p:spPr>
          <p:txBody>
            <a:bodyPr wrap="none" anchor="ctr"/>
            <a:lstStyle/>
            <a:p>
              <a:endParaRPr lang="th-TH"/>
            </a:p>
          </p:txBody>
        </p:sp>
        <p:sp>
          <p:nvSpPr>
            <p:cNvPr id="30728" name="Rectangle 10"/>
            <p:cNvSpPr>
              <a:spLocks noChangeArrowheads="1"/>
            </p:cNvSpPr>
            <p:nvPr/>
          </p:nvSpPr>
          <p:spPr bwMode="auto">
            <a:xfrm>
              <a:off x="246" y="1610"/>
              <a:ext cx="677" cy="549"/>
            </a:xfrm>
            <a:prstGeom prst="rect">
              <a:avLst/>
            </a:prstGeom>
            <a:solidFill>
              <a:srgbClr val="006600"/>
            </a:solidFill>
            <a:ln w="9525">
              <a:solidFill>
                <a:srgbClr val="008000"/>
              </a:solidFill>
              <a:miter lim="800000"/>
              <a:headEnd/>
              <a:tailEnd/>
            </a:ln>
          </p:spPr>
          <p:txBody>
            <a:bodyPr wrap="none" anchor="ctr"/>
            <a:lstStyle/>
            <a:p>
              <a:endParaRPr lang="th-TH"/>
            </a:p>
          </p:txBody>
        </p:sp>
        <p:sp>
          <p:nvSpPr>
            <p:cNvPr id="30729" name="Rectangle 11"/>
            <p:cNvSpPr>
              <a:spLocks noChangeArrowheads="1"/>
            </p:cNvSpPr>
            <p:nvPr/>
          </p:nvSpPr>
          <p:spPr bwMode="auto">
            <a:xfrm>
              <a:off x="237" y="1080"/>
              <a:ext cx="2515" cy="549"/>
            </a:xfrm>
            <a:prstGeom prst="rect">
              <a:avLst/>
            </a:prstGeom>
            <a:solidFill>
              <a:srgbClr val="006600"/>
            </a:solidFill>
            <a:ln w="9525">
              <a:solidFill>
                <a:srgbClr val="008000"/>
              </a:solidFill>
              <a:miter lim="800000"/>
              <a:headEnd/>
              <a:tailEnd/>
            </a:ln>
          </p:spPr>
          <p:txBody>
            <a:bodyPr wrap="none" anchor="ctr"/>
            <a:lstStyle/>
            <a:p>
              <a:endParaRPr lang="th-TH"/>
            </a:p>
          </p:txBody>
        </p:sp>
        <p:sp>
          <p:nvSpPr>
            <p:cNvPr id="30730" name="Rectangle 12"/>
            <p:cNvSpPr>
              <a:spLocks noChangeArrowheads="1"/>
            </p:cNvSpPr>
            <p:nvPr/>
          </p:nvSpPr>
          <p:spPr bwMode="auto">
            <a:xfrm>
              <a:off x="292" y="2844"/>
              <a:ext cx="2432" cy="695"/>
            </a:xfrm>
            <a:prstGeom prst="rect">
              <a:avLst/>
            </a:prstGeom>
            <a:solidFill>
              <a:srgbClr val="006600"/>
            </a:solidFill>
            <a:ln w="9525">
              <a:solidFill>
                <a:srgbClr val="008000"/>
              </a:solidFill>
              <a:miter lim="800000"/>
              <a:headEnd/>
              <a:tailEnd/>
            </a:ln>
          </p:spPr>
          <p:txBody>
            <a:bodyPr wrap="none" anchor="ctr"/>
            <a:lstStyle/>
            <a:p>
              <a:endParaRPr lang="th-TH"/>
            </a:p>
          </p:txBody>
        </p:sp>
        <p:pic>
          <p:nvPicPr>
            <p:cNvPr id="30731" name="Picture 13"/>
            <p:cNvPicPr>
              <a:picLocks noChangeAspect="1" noChangeArrowheads="1"/>
            </p:cNvPicPr>
            <p:nvPr/>
          </p:nvPicPr>
          <p:blipFill>
            <a:blip r:embed="rId3" cstate="print"/>
            <a:srcRect l="19241" t="33873" r="69431" b="37384"/>
            <a:stretch>
              <a:fillRect/>
            </a:stretch>
          </p:blipFill>
          <p:spPr bwMode="auto">
            <a:xfrm>
              <a:off x="1491" y="1532"/>
              <a:ext cx="628" cy="1307"/>
            </a:xfrm>
            <a:prstGeom prst="rect">
              <a:avLst/>
            </a:prstGeom>
            <a:noFill/>
            <a:ln w="9525">
              <a:noFill/>
              <a:miter lim="800000"/>
              <a:headEnd/>
              <a:tailEnd/>
            </a:ln>
          </p:spPr>
        </p:pic>
        <p:sp>
          <p:nvSpPr>
            <p:cNvPr id="30732" name="Rectangle 15"/>
            <p:cNvSpPr>
              <a:spLocks noChangeArrowheads="1"/>
            </p:cNvSpPr>
            <p:nvPr/>
          </p:nvSpPr>
          <p:spPr bwMode="auto">
            <a:xfrm>
              <a:off x="2093" y="2295"/>
              <a:ext cx="632" cy="631"/>
            </a:xfrm>
            <a:prstGeom prst="rect">
              <a:avLst/>
            </a:prstGeom>
            <a:solidFill>
              <a:srgbClr val="006600"/>
            </a:solidFill>
            <a:ln w="9525">
              <a:solidFill>
                <a:srgbClr val="008000"/>
              </a:solidFill>
              <a:miter lim="800000"/>
              <a:headEnd/>
              <a:tailEnd/>
            </a:ln>
          </p:spPr>
          <p:txBody>
            <a:bodyPr wrap="none" anchor="ctr"/>
            <a:lstStyle/>
            <a:p>
              <a:endParaRPr lang="th-TH"/>
            </a:p>
          </p:txBody>
        </p:sp>
        <p:sp>
          <p:nvSpPr>
            <p:cNvPr id="30733" name="Rectangle 16"/>
            <p:cNvSpPr>
              <a:spLocks noChangeArrowheads="1"/>
            </p:cNvSpPr>
            <p:nvPr/>
          </p:nvSpPr>
          <p:spPr bwMode="auto">
            <a:xfrm>
              <a:off x="2102" y="1628"/>
              <a:ext cx="677" cy="549"/>
            </a:xfrm>
            <a:prstGeom prst="rect">
              <a:avLst/>
            </a:prstGeom>
            <a:solidFill>
              <a:srgbClr val="006600"/>
            </a:solidFill>
            <a:ln w="9525">
              <a:solidFill>
                <a:srgbClr val="008000"/>
              </a:solidFill>
              <a:miter lim="800000"/>
              <a:headEnd/>
              <a:tailEnd/>
            </a:ln>
          </p:spPr>
          <p:txBody>
            <a:bodyPr wrap="none" anchor="ctr"/>
            <a:lstStyle/>
            <a:p>
              <a:endParaRPr lang="th-TH"/>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Grp="1" noChangeArrowheads="1"/>
          </p:cNvSpPr>
          <p:nvPr>
            <p:ph type="title"/>
          </p:nvPr>
        </p:nvSpPr>
        <p:spPr/>
        <p:txBody>
          <a:bodyPr/>
          <a:lstStyle/>
          <a:p>
            <a:pPr eaLnBrk="1" hangingPunct="1"/>
            <a:r>
              <a:rPr lang="en-US"/>
              <a:t>Flashless Forging</a:t>
            </a:r>
            <a:endParaRPr lang="th-TH"/>
          </a:p>
        </p:txBody>
      </p:sp>
      <p:grpSp>
        <p:nvGrpSpPr>
          <p:cNvPr id="31747" name="Group 9"/>
          <p:cNvGrpSpPr>
            <a:grpSpLocks/>
          </p:cNvGrpSpPr>
          <p:nvPr/>
        </p:nvGrpSpPr>
        <p:grpSpPr bwMode="auto">
          <a:xfrm>
            <a:off x="401638" y="2368550"/>
            <a:ext cx="3803650" cy="3205163"/>
            <a:chOff x="866" y="605"/>
            <a:chExt cx="3018" cy="2888"/>
          </a:xfrm>
        </p:grpSpPr>
        <p:pic>
          <p:nvPicPr>
            <p:cNvPr id="31753" name="Picture 4"/>
            <p:cNvPicPr>
              <a:picLocks noChangeAspect="1" noChangeArrowheads="1"/>
            </p:cNvPicPr>
            <p:nvPr/>
          </p:nvPicPr>
          <p:blipFill>
            <a:blip r:embed="rId2" cstate="print"/>
            <a:srcRect l="21011" t="9529" r="52087" b="18712"/>
            <a:stretch>
              <a:fillRect/>
            </a:stretch>
          </p:blipFill>
          <p:spPr bwMode="auto">
            <a:xfrm>
              <a:off x="2378" y="605"/>
              <a:ext cx="1506" cy="2879"/>
            </a:xfrm>
            <a:prstGeom prst="rect">
              <a:avLst/>
            </a:prstGeom>
            <a:noFill/>
            <a:ln w="9525">
              <a:noFill/>
              <a:miter lim="800000"/>
              <a:headEnd/>
              <a:tailEnd/>
            </a:ln>
          </p:spPr>
        </p:pic>
        <p:pic>
          <p:nvPicPr>
            <p:cNvPr id="31754" name="Picture 7"/>
            <p:cNvPicPr>
              <a:picLocks noChangeAspect="1" noChangeArrowheads="1"/>
            </p:cNvPicPr>
            <p:nvPr/>
          </p:nvPicPr>
          <p:blipFill>
            <a:blip r:embed="rId2" cstate="print"/>
            <a:srcRect l="21011" t="9529" r="52087" b="18712"/>
            <a:stretch>
              <a:fillRect/>
            </a:stretch>
          </p:blipFill>
          <p:spPr bwMode="auto">
            <a:xfrm flipH="1">
              <a:off x="866" y="614"/>
              <a:ext cx="1551" cy="2879"/>
            </a:xfrm>
            <a:prstGeom prst="rect">
              <a:avLst/>
            </a:prstGeom>
            <a:noFill/>
            <a:ln w="9525">
              <a:noFill/>
              <a:miter lim="800000"/>
              <a:headEnd/>
              <a:tailEnd/>
            </a:ln>
          </p:spPr>
        </p:pic>
        <p:sp>
          <p:nvSpPr>
            <p:cNvPr id="31755" name="Rectangle 8"/>
            <p:cNvSpPr>
              <a:spLocks noChangeArrowheads="1"/>
            </p:cNvSpPr>
            <p:nvPr/>
          </p:nvSpPr>
          <p:spPr bwMode="auto">
            <a:xfrm>
              <a:off x="1207" y="741"/>
              <a:ext cx="740" cy="566"/>
            </a:xfrm>
            <a:prstGeom prst="rect">
              <a:avLst/>
            </a:prstGeom>
            <a:solidFill>
              <a:schemeClr val="bg1"/>
            </a:solidFill>
            <a:ln w="9525">
              <a:solidFill>
                <a:schemeClr val="bg1"/>
              </a:solidFill>
              <a:miter lim="800000"/>
              <a:headEnd/>
              <a:tailEnd/>
            </a:ln>
          </p:spPr>
          <p:txBody>
            <a:bodyPr wrap="none" anchor="ctr"/>
            <a:lstStyle/>
            <a:p>
              <a:endParaRPr lang="th-TH"/>
            </a:p>
          </p:txBody>
        </p:sp>
      </p:grpSp>
      <p:grpSp>
        <p:nvGrpSpPr>
          <p:cNvPr id="31748" name="Group 10"/>
          <p:cNvGrpSpPr>
            <a:grpSpLocks/>
          </p:cNvGrpSpPr>
          <p:nvPr/>
        </p:nvGrpSpPr>
        <p:grpSpPr bwMode="auto">
          <a:xfrm>
            <a:off x="4659313" y="1909763"/>
            <a:ext cx="3351212" cy="4722812"/>
            <a:chOff x="3054" y="1148"/>
            <a:chExt cx="2111" cy="2975"/>
          </a:xfrm>
        </p:grpSpPr>
        <p:pic>
          <p:nvPicPr>
            <p:cNvPr id="31749" name="Picture 11"/>
            <p:cNvPicPr>
              <a:picLocks noChangeAspect="1" noChangeArrowheads="1"/>
            </p:cNvPicPr>
            <p:nvPr/>
          </p:nvPicPr>
          <p:blipFill>
            <a:blip r:embed="rId2" cstate="print"/>
            <a:srcRect l="80583"/>
            <a:stretch>
              <a:fillRect/>
            </a:stretch>
          </p:blipFill>
          <p:spPr bwMode="auto">
            <a:xfrm>
              <a:off x="4253" y="1148"/>
              <a:ext cx="912" cy="2848"/>
            </a:xfrm>
            <a:prstGeom prst="rect">
              <a:avLst/>
            </a:prstGeom>
            <a:noFill/>
            <a:ln w="9525">
              <a:noFill/>
              <a:miter lim="800000"/>
              <a:headEnd/>
              <a:tailEnd/>
            </a:ln>
          </p:spPr>
        </p:pic>
        <p:pic>
          <p:nvPicPr>
            <p:cNvPr id="31750" name="Picture 12"/>
            <p:cNvPicPr>
              <a:picLocks noChangeAspect="1" noChangeArrowheads="1"/>
            </p:cNvPicPr>
            <p:nvPr/>
          </p:nvPicPr>
          <p:blipFill>
            <a:blip r:embed="rId2" cstate="print"/>
            <a:srcRect l="80583"/>
            <a:stretch>
              <a:fillRect/>
            </a:stretch>
          </p:blipFill>
          <p:spPr bwMode="auto">
            <a:xfrm flipH="1">
              <a:off x="3279" y="1158"/>
              <a:ext cx="981" cy="2848"/>
            </a:xfrm>
            <a:prstGeom prst="rect">
              <a:avLst/>
            </a:prstGeom>
            <a:noFill/>
            <a:ln w="9525">
              <a:noFill/>
              <a:miter lim="800000"/>
              <a:headEnd/>
              <a:tailEnd/>
            </a:ln>
          </p:spPr>
        </p:pic>
        <p:sp>
          <p:nvSpPr>
            <p:cNvPr id="31751" name="Rectangle 13"/>
            <p:cNvSpPr>
              <a:spLocks noChangeArrowheads="1"/>
            </p:cNvSpPr>
            <p:nvPr/>
          </p:nvSpPr>
          <p:spPr bwMode="auto">
            <a:xfrm>
              <a:off x="3054" y="1573"/>
              <a:ext cx="813" cy="320"/>
            </a:xfrm>
            <a:prstGeom prst="rect">
              <a:avLst/>
            </a:prstGeom>
            <a:solidFill>
              <a:schemeClr val="bg1"/>
            </a:solidFill>
            <a:ln w="9525">
              <a:solidFill>
                <a:schemeClr val="bg1"/>
              </a:solidFill>
              <a:miter lim="800000"/>
              <a:headEnd/>
              <a:tailEnd/>
            </a:ln>
          </p:spPr>
          <p:txBody>
            <a:bodyPr wrap="none" anchor="ctr"/>
            <a:lstStyle/>
            <a:p>
              <a:endParaRPr lang="th-TH"/>
            </a:p>
          </p:txBody>
        </p:sp>
        <p:sp>
          <p:nvSpPr>
            <p:cNvPr id="31752" name="Rectangle 14"/>
            <p:cNvSpPr>
              <a:spLocks noChangeArrowheads="1"/>
            </p:cNvSpPr>
            <p:nvPr/>
          </p:nvSpPr>
          <p:spPr bwMode="auto">
            <a:xfrm>
              <a:off x="3109" y="3685"/>
              <a:ext cx="1124" cy="438"/>
            </a:xfrm>
            <a:prstGeom prst="rect">
              <a:avLst/>
            </a:prstGeom>
            <a:solidFill>
              <a:schemeClr val="bg1"/>
            </a:solidFill>
            <a:ln w="9525">
              <a:solidFill>
                <a:schemeClr val="bg1"/>
              </a:solidFill>
              <a:miter lim="800000"/>
              <a:headEnd/>
              <a:tailEnd/>
            </a:ln>
          </p:spPr>
          <p:txBody>
            <a:bodyPr wrap="none" anchor="ctr"/>
            <a:lstStyle/>
            <a:p>
              <a:endParaRPr lang="th-TH"/>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14338" y="484188"/>
            <a:ext cx="8294687" cy="828675"/>
          </a:xfrm>
        </p:spPr>
        <p:txBody>
          <a:bodyPr/>
          <a:lstStyle/>
          <a:p>
            <a:pPr eaLnBrk="1" hangingPunct="1"/>
            <a:r>
              <a:rPr lang="en-US"/>
              <a:t>Comparison of Forging With and Without Flash</a:t>
            </a:r>
          </a:p>
        </p:txBody>
      </p:sp>
      <p:pic>
        <p:nvPicPr>
          <p:cNvPr id="32771" name="Picture 3"/>
          <p:cNvPicPr>
            <a:picLocks noChangeAspect="1" noChangeArrowheads="1"/>
          </p:cNvPicPr>
          <p:nvPr/>
        </p:nvPicPr>
        <p:blipFill>
          <a:blip r:embed="rId2" cstate="print"/>
          <a:srcRect/>
          <a:stretch>
            <a:fillRect/>
          </a:stretch>
        </p:blipFill>
        <p:spPr bwMode="auto">
          <a:xfrm>
            <a:off x="622300" y="1658938"/>
            <a:ext cx="5289550" cy="4338637"/>
          </a:xfrm>
          <a:prstGeom prst="rect">
            <a:avLst/>
          </a:prstGeom>
          <a:noFill/>
          <a:ln w="9525">
            <a:noFill/>
            <a:miter lim="800000"/>
            <a:headEnd/>
            <a:tailEnd/>
          </a:ln>
        </p:spPr>
      </p:pic>
      <p:sp>
        <p:nvSpPr>
          <p:cNvPr id="32772" name="Text Box 4"/>
          <p:cNvSpPr txBox="1">
            <a:spLocks noChangeArrowheads="1"/>
          </p:cNvSpPr>
          <p:nvPr/>
        </p:nvSpPr>
        <p:spPr bwMode="auto">
          <a:xfrm>
            <a:off x="6561138" y="2625725"/>
            <a:ext cx="2320925" cy="1581150"/>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Lst>
            </a:pPr>
            <a:r>
              <a:rPr lang="en-GB" sz="2000"/>
              <a:t>Figure 14.9  Comparison of closed-die forging to precision or flashless forging of a cylindrical billet. </a:t>
            </a:r>
            <a:r>
              <a:rPr lang="en-GB" sz="2000" i="1"/>
              <a:t>Source</a:t>
            </a:r>
            <a:r>
              <a:rPr lang="en-GB" sz="2000"/>
              <a:t>: H. Takemasu, V. Vazquez, B. Painter, and T. Altan.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830388" y="327025"/>
            <a:ext cx="6302375" cy="1143000"/>
          </a:xfrm>
        </p:spPr>
        <p:txBody>
          <a:bodyPr/>
          <a:lstStyle/>
          <a:p>
            <a:pPr eaLnBrk="1" hangingPunct="1"/>
            <a:r>
              <a:rPr lang="en-US"/>
              <a:t>Unit Cost in Forging</a:t>
            </a:r>
          </a:p>
        </p:txBody>
      </p:sp>
      <p:pic>
        <p:nvPicPr>
          <p:cNvPr id="33795" name="Picture 3"/>
          <p:cNvPicPr>
            <a:picLocks noChangeAspect="1" noChangeArrowheads="1"/>
          </p:cNvPicPr>
          <p:nvPr/>
        </p:nvPicPr>
        <p:blipFill>
          <a:blip r:embed="rId2" cstate="print"/>
          <a:srcRect/>
          <a:stretch>
            <a:fillRect/>
          </a:stretch>
        </p:blipFill>
        <p:spPr bwMode="auto">
          <a:xfrm>
            <a:off x="247650" y="1985963"/>
            <a:ext cx="6094413" cy="4179887"/>
          </a:xfrm>
          <a:prstGeom prst="rect">
            <a:avLst/>
          </a:prstGeom>
          <a:noFill/>
          <a:ln w="9525">
            <a:noFill/>
            <a:miter lim="800000"/>
            <a:headEnd/>
            <a:tailEnd/>
          </a:ln>
        </p:spPr>
      </p:pic>
      <p:sp>
        <p:nvSpPr>
          <p:cNvPr id="33796" name="Text Box 4"/>
          <p:cNvSpPr txBox="1">
            <a:spLocks noChangeArrowheads="1"/>
          </p:cNvSpPr>
          <p:nvPr/>
        </p:nvSpPr>
        <p:spPr bwMode="auto">
          <a:xfrm>
            <a:off x="6692900" y="2992438"/>
            <a:ext cx="2195513" cy="2744787"/>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Lst>
            </a:pPr>
            <a:r>
              <a:rPr lang="en-GB" sz="2000"/>
              <a:t>Figure Typical unit cost (cost per piece) in forging; note how the setup and the tooling costs per piece decrease as the number of pieces forged increases, if all pieces use the same die.</a:t>
            </a:r>
            <a:endParaRPr lang="en-GB" sz="2000">
              <a:latin typeface="Helvetica"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14338" y="484188"/>
            <a:ext cx="8294687" cy="828675"/>
          </a:xfrm>
        </p:spPr>
        <p:txBody>
          <a:bodyPr/>
          <a:lstStyle/>
          <a:p>
            <a:pPr eaLnBrk="1" hangingPunct="1"/>
            <a:r>
              <a:rPr lang="en-US"/>
              <a:t>Relative Unit Costs of a Small Connecting Rod</a:t>
            </a:r>
          </a:p>
        </p:txBody>
      </p:sp>
      <p:pic>
        <p:nvPicPr>
          <p:cNvPr id="34819" name="Picture 3"/>
          <p:cNvPicPr>
            <a:picLocks noChangeAspect="1" noChangeArrowheads="1"/>
          </p:cNvPicPr>
          <p:nvPr/>
        </p:nvPicPr>
        <p:blipFill>
          <a:blip r:embed="rId2" cstate="print"/>
          <a:srcRect/>
          <a:stretch>
            <a:fillRect/>
          </a:stretch>
        </p:blipFill>
        <p:spPr bwMode="auto">
          <a:xfrm>
            <a:off x="3230563" y="1701800"/>
            <a:ext cx="5661025" cy="4830763"/>
          </a:xfrm>
          <a:prstGeom prst="rect">
            <a:avLst/>
          </a:prstGeom>
          <a:noFill/>
          <a:ln w="9525">
            <a:noFill/>
            <a:miter lim="800000"/>
            <a:headEnd/>
            <a:tailEnd/>
          </a:ln>
        </p:spPr>
      </p:pic>
      <p:sp>
        <p:nvSpPr>
          <p:cNvPr id="34820" name="Text Box 4"/>
          <p:cNvSpPr txBox="1">
            <a:spLocks noChangeArrowheads="1"/>
          </p:cNvSpPr>
          <p:nvPr/>
        </p:nvSpPr>
        <p:spPr bwMode="auto">
          <a:xfrm>
            <a:off x="457200" y="2136775"/>
            <a:ext cx="2568575" cy="2022475"/>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Lst>
            </a:pPr>
            <a:r>
              <a:rPr lang="en-GB" sz="2000"/>
              <a:t>Figure .</a:t>
            </a:r>
          </a:p>
          <a:p>
            <a:pPr defTabSz="828675" eaLnBrk="0" hangingPunct="0">
              <a:lnSpc>
                <a:spcPct val="85000"/>
              </a:lnSpc>
              <a:tabLst>
                <a:tab pos="657225" algn="l"/>
                <a:tab pos="1312863" algn="l"/>
                <a:tab pos="1970088" algn="l"/>
              </a:tabLst>
            </a:pPr>
            <a:r>
              <a:rPr lang="en-GB" sz="2000"/>
              <a:t>Relative unit costs of a small connecting rod made by various forging and casting processes.  Note that, for large quantities, forging is more economical.  Sand casting is the more economical process for fewer than about 20,000 pieces</a:t>
            </a:r>
            <a:r>
              <a:rPr lang="en-GB" sz="1500"/>
              <a:t>.</a:t>
            </a:r>
            <a:endParaRPr lang="en-GB" sz="1500">
              <a:latin typeface="Helvetica"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ChangeArrowheads="1"/>
          </p:cNvSpPr>
          <p:nvPr/>
        </p:nvSpPr>
        <p:spPr bwMode="auto">
          <a:xfrm>
            <a:off x="1531938" y="3546475"/>
            <a:ext cx="6962775" cy="1927225"/>
          </a:xfrm>
          <a:prstGeom prst="rect">
            <a:avLst/>
          </a:prstGeom>
          <a:noFill/>
          <a:ln w="9525">
            <a:solidFill>
              <a:schemeClr val="accent2"/>
            </a:solidFill>
            <a:miter lim="800000"/>
            <a:headEnd/>
            <a:tailEnd/>
          </a:ln>
        </p:spPr>
        <p:txBody>
          <a:bodyPr wrap="none" anchor="ctr">
            <a:spAutoFit/>
          </a:bodyPr>
          <a:lstStyle/>
          <a:p>
            <a:pPr eaLnBrk="0" hangingPunct="0"/>
            <a:r>
              <a:rPr lang="en-US" sz="2400"/>
              <a:t>Important Applications:</a:t>
            </a:r>
          </a:p>
          <a:p>
            <a:pPr eaLnBrk="0" hangingPunct="0"/>
            <a:endParaRPr lang="en-US" sz="2400"/>
          </a:p>
          <a:p>
            <a:pPr eaLnBrk="0" hangingPunct="0"/>
            <a:r>
              <a:rPr lang="en-US" sz="2400"/>
              <a:t>	Steel Plants,</a:t>
            </a:r>
          </a:p>
          <a:p>
            <a:pPr eaLnBrk="0" hangingPunct="0"/>
            <a:r>
              <a:rPr lang="en-US" sz="2400"/>
              <a:t>	Raw stock production (sheets, tubes, Rods, etc.)</a:t>
            </a:r>
          </a:p>
          <a:p>
            <a:pPr eaLnBrk="0" hangingPunct="0"/>
            <a:r>
              <a:rPr lang="en-US" sz="2400"/>
              <a:t>	Screw manufacture</a:t>
            </a:r>
          </a:p>
        </p:txBody>
      </p:sp>
      <p:pic>
        <p:nvPicPr>
          <p:cNvPr id="35843" name="Picture 4" descr="rolling"/>
          <p:cNvPicPr>
            <a:picLocks noChangeAspect="1" noChangeArrowheads="1"/>
          </p:cNvPicPr>
          <p:nvPr/>
        </p:nvPicPr>
        <p:blipFill>
          <a:blip r:embed="rId2" cstate="print"/>
          <a:srcRect/>
          <a:stretch>
            <a:fillRect/>
          </a:stretch>
        </p:blipFill>
        <p:spPr bwMode="auto">
          <a:xfrm>
            <a:off x="4121150" y="354013"/>
            <a:ext cx="4246563" cy="2336800"/>
          </a:xfrm>
          <a:prstGeom prst="rect">
            <a:avLst/>
          </a:prstGeom>
          <a:noFill/>
          <a:ln w="9525">
            <a:noFill/>
            <a:miter lim="800000"/>
            <a:headEnd/>
            <a:tailEnd/>
          </a:ln>
        </p:spPr>
      </p:pic>
      <p:sp>
        <p:nvSpPr>
          <p:cNvPr id="35844" name="WordArt 6"/>
          <p:cNvSpPr>
            <a:spLocks noChangeArrowheads="1" noChangeShapeType="1" noTextEdit="1"/>
          </p:cNvSpPr>
          <p:nvPr/>
        </p:nvSpPr>
        <p:spPr bwMode="auto">
          <a:xfrm>
            <a:off x="401638" y="1182688"/>
            <a:ext cx="2724150" cy="1030287"/>
          </a:xfrm>
          <a:prstGeom prst="rect">
            <a:avLst/>
          </a:prstGeom>
        </p:spPr>
        <p:txBody>
          <a:bodyPr wrap="none" fromWordArt="1">
            <a:prstTxWarp prst="textPlain">
              <a:avLst>
                <a:gd name="adj" fmla="val 50000"/>
              </a:avLst>
            </a:prstTxWarp>
          </a:bodyPr>
          <a:lstStyle/>
          <a:p>
            <a:pPr algn="ctr"/>
            <a:r>
              <a:rPr lang="en-US" sz="3600" i="1" kern="10">
                <a:ln w="9525">
                  <a:solidFill>
                    <a:srgbClr val="000000"/>
                  </a:solidFill>
                  <a:round/>
                  <a:headEnd/>
                  <a:tailEnd/>
                </a:ln>
                <a:solidFill>
                  <a:srgbClr val="FFFFFF"/>
                </a:solidFill>
                <a:effectLst>
                  <a:outerShdw dist="35921" dir="2700000" algn="ctr" rotWithShape="0">
                    <a:srgbClr val="808080">
                      <a:alpha val="79999"/>
                    </a:srgbClr>
                  </a:outerShdw>
                </a:effectLst>
                <a:latin typeface="Arial Black"/>
              </a:rPr>
              <a:t>Rolling</a:t>
            </a:r>
            <a:endParaRPr lang="th-TH" sz="3600" i="1" kern="10">
              <a:ln w="9525">
                <a:solidFill>
                  <a:srgbClr val="000000"/>
                </a:solidFill>
                <a:round/>
                <a:headEnd/>
                <a:tailEnd/>
              </a:ln>
              <a:solidFill>
                <a:srgbClr val="FFFFFF"/>
              </a:solidFill>
              <a:effectLst>
                <a:outerShdw dist="35921" dir="2700000" algn="ctr" rotWithShape="0">
                  <a:srgbClr val="808080">
                    <a:alpha val="79999"/>
                  </a:srgbClr>
                </a:outerShdw>
              </a:effectLst>
              <a:latin typeface="Arial Black"/>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519113" y="520700"/>
            <a:ext cx="2020887" cy="457200"/>
          </a:xfrm>
          <a:prstGeom prst="rect">
            <a:avLst/>
          </a:prstGeom>
          <a:noFill/>
          <a:ln w="9525">
            <a:noFill/>
            <a:miter lim="800000"/>
            <a:headEnd/>
            <a:tailEnd/>
          </a:ln>
        </p:spPr>
        <p:txBody>
          <a:bodyPr wrap="none">
            <a:spAutoFit/>
          </a:bodyPr>
          <a:lstStyle/>
          <a:p>
            <a:r>
              <a:rPr lang="en-US" sz="2400" b="1"/>
              <a:t>Rolling Basics</a:t>
            </a:r>
            <a:endParaRPr lang="en-US" sz="2400"/>
          </a:p>
        </p:txBody>
      </p:sp>
      <p:pic>
        <p:nvPicPr>
          <p:cNvPr id="36867" name="Picture 7"/>
          <p:cNvPicPr>
            <a:picLocks noChangeAspect="1" noChangeArrowheads="1"/>
          </p:cNvPicPr>
          <p:nvPr/>
        </p:nvPicPr>
        <p:blipFill>
          <a:blip r:embed="rId2" cstate="print"/>
          <a:srcRect/>
          <a:stretch>
            <a:fillRect/>
          </a:stretch>
        </p:blipFill>
        <p:spPr bwMode="auto">
          <a:xfrm>
            <a:off x="3062288" y="3548063"/>
            <a:ext cx="5907087" cy="3163887"/>
          </a:xfrm>
          <a:prstGeom prst="rect">
            <a:avLst/>
          </a:prstGeom>
          <a:noFill/>
          <a:ln w="9525">
            <a:noFill/>
            <a:miter lim="800000"/>
            <a:headEnd/>
            <a:tailEnd/>
          </a:ln>
        </p:spPr>
      </p:pic>
      <p:sp>
        <p:nvSpPr>
          <p:cNvPr id="36868" name="Rectangle 8"/>
          <p:cNvSpPr>
            <a:spLocks noChangeArrowheads="1"/>
          </p:cNvSpPr>
          <p:nvPr/>
        </p:nvSpPr>
        <p:spPr bwMode="auto">
          <a:xfrm>
            <a:off x="392113" y="3971925"/>
            <a:ext cx="2627312" cy="457200"/>
          </a:xfrm>
          <a:prstGeom prst="rect">
            <a:avLst/>
          </a:prstGeom>
          <a:noFill/>
          <a:ln w="9525">
            <a:noFill/>
            <a:miter lim="800000"/>
            <a:headEnd/>
            <a:tailEnd/>
          </a:ln>
        </p:spPr>
        <p:txBody>
          <a:bodyPr wrap="none" anchor="ctr">
            <a:spAutoFit/>
          </a:bodyPr>
          <a:lstStyle/>
          <a:p>
            <a:pPr eaLnBrk="0" hangingPunct="0"/>
            <a:r>
              <a:rPr lang="en-US" sz="2400"/>
              <a:t>Screw manufacture:</a:t>
            </a:r>
          </a:p>
        </p:txBody>
      </p:sp>
      <p:sp>
        <p:nvSpPr>
          <p:cNvPr id="36869" name="Line 9"/>
          <p:cNvSpPr>
            <a:spLocks noChangeShapeType="1"/>
          </p:cNvSpPr>
          <p:nvPr/>
        </p:nvSpPr>
        <p:spPr bwMode="auto">
          <a:xfrm>
            <a:off x="617538" y="3481388"/>
            <a:ext cx="8316912" cy="0"/>
          </a:xfrm>
          <a:prstGeom prst="line">
            <a:avLst/>
          </a:prstGeom>
          <a:noFill/>
          <a:ln w="9525" cap="rnd">
            <a:solidFill>
              <a:schemeClr val="tx1"/>
            </a:solidFill>
            <a:prstDash val="sysDot"/>
            <a:round/>
            <a:headEnd/>
            <a:tailEnd/>
          </a:ln>
        </p:spPr>
        <p:txBody>
          <a:bodyPr/>
          <a:lstStyle/>
          <a:p>
            <a:endParaRPr lang="th-TH"/>
          </a:p>
        </p:txBody>
      </p:sp>
      <p:grpSp>
        <p:nvGrpSpPr>
          <p:cNvPr id="36870" name="Group 10"/>
          <p:cNvGrpSpPr>
            <a:grpSpLocks/>
          </p:cNvGrpSpPr>
          <p:nvPr/>
        </p:nvGrpSpPr>
        <p:grpSpPr bwMode="auto">
          <a:xfrm>
            <a:off x="1952625" y="1436688"/>
            <a:ext cx="4972050" cy="1524000"/>
            <a:chOff x="2332" y="896"/>
            <a:chExt cx="3132" cy="960"/>
          </a:xfrm>
        </p:grpSpPr>
        <p:pic>
          <p:nvPicPr>
            <p:cNvPr id="36871" name="Picture 11"/>
            <p:cNvPicPr>
              <a:picLocks noChangeAspect="1" noChangeArrowheads="1"/>
            </p:cNvPicPr>
            <p:nvPr/>
          </p:nvPicPr>
          <p:blipFill>
            <a:blip r:embed="rId3" cstate="print"/>
            <a:srcRect/>
            <a:stretch>
              <a:fillRect/>
            </a:stretch>
          </p:blipFill>
          <p:spPr bwMode="auto">
            <a:xfrm>
              <a:off x="2332" y="896"/>
              <a:ext cx="1788" cy="960"/>
            </a:xfrm>
            <a:prstGeom prst="rect">
              <a:avLst/>
            </a:prstGeom>
            <a:noFill/>
            <a:ln w="9525">
              <a:noFill/>
              <a:miter lim="800000"/>
              <a:headEnd/>
              <a:tailEnd/>
            </a:ln>
          </p:spPr>
        </p:pic>
        <p:pic>
          <p:nvPicPr>
            <p:cNvPr id="36872" name="Picture 12"/>
            <p:cNvPicPr>
              <a:picLocks noChangeAspect="1" noChangeArrowheads="1"/>
            </p:cNvPicPr>
            <p:nvPr/>
          </p:nvPicPr>
          <p:blipFill>
            <a:blip r:embed="rId3" cstate="print"/>
            <a:srcRect/>
            <a:stretch>
              <a:fillRect/>
            </a:stretch>
          </p:blipFill>
          <p:spPr bwMode="auto">
            <a:xfrm>
              <a:off x="4238" y="1051"/>
              <a:ext cx="1226" cy="658"/>
            </a:xfrm>
            <a:prstGeom prst="rect">
              <a:avLst/>
            </a:prstGeom>
            <a:noFill/>
            <a:ln w="9525">
              <a:noFill/>
              <a:miter lim="800000"/>
              <a:headEnd/>
              <a:tailEnd/>
            </a:ln>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sP2020295"/>
          <p:cNvPicPr>
            <a:picLocks noChangeAspect="1" noChangeArrowheads="1"/>
          </p:cNvPicPr>
          <p:nvPr/>
        </p:nvPicPr>
        <p:blipFill>
          <a:blip r:embed="rId2" cstate="print"/>
          <a:srcRect/>
          <a:stretch>
            <a:fillRect/>
          </a:stretch>
        </p:blipFill>
        <p:spPr bwMode="auto">
          <a:xfrm>
            <a:off x="509588" y="114300"/>
            <a:ext cx="7943850" cy="6743700"/>
          </a:xfrm>
          <a:prstGeom prst="rect">
            <a:avLst/>
          </a:prstGeom>
          <a:noFill/>
          <a:ln w="9525">
            <a:noFill/>
            <a:miter lim="800000"/>
            <a:headEnd/>
            <a:tailEnd/>
          </a:ln>
        </p:spPr>
      </p:pic>
      <p:grpSp>
        <p:nvGrpSpPr>
          <p:cNvPr id="37891" name="Group 3"/>
          <p:cNvGrpSpPr>
            <a:grpSpLocks/>
          </p:cNvGrpSpPr>
          <p:nvPr/>
        </p:nvGrpSpPr>
        <p:grpSpPr bwMode="auto">
          <a:xfrm>
            <a:off x="596900" y="357188"/>
            <a:ext cx="3579813" cy="1187450"/>
            <a:chOff x="376" y="225"/>
            <a:chExt cx="2255" cy="748"/>
          </a:xfrm>
        </p:grpSpPr>
        <p:sp>
          <p:nvSpPr>
            <p:cNvPr id="37892" name="Rectangle 4"/>
            <p:cNvSpPr>
              <a:spLocks noChangeArrowheads="1"/>
            </p:cNvSpPr>
            <p:nvPr/>
          </p:nvSpPr>
          <p:spPr bwMode="auto">
            <a:xfrm>
              <a:off x="376" y="447"/>
              <a:ext cx="761" cy="288"/>
            </a:xfrm>
            <a:prstGeom prst="rect">
              <a:avLst/>
            </a:prstGeom>
            <a:noFill/>
            <a:ln w="9525">
              <a:noFill/>
              <a:miter lim="800000"/>
              <a:headEnd/>
              <a:tailEnd/>
            </a:ln>
          </p:spPr>
          <p:txBody>
            <a:bodyPr wrap="none" anchor="ctr">
              <a:spAutoFit/>
            </a:bodyPr>
            <a:lstStyle/>
            <a:p>
              <a:pPr eaLnBrk="0" hangingPunct="0"/>
              <a:r>
                <a:rPr lang="en-US" sz="2400" b="1"/>
                <a:t>Rolling</a:t>
              </a:r>
              <a:r>
                <a:rPr lang="en-US" sz="2400"/>
                <a:t> </a:t>
              </a:r>
            </a:p>
          </p:txBody>
        </p:sp>
        <p:sp>
          <p:nvSpPr>
            <p:cNvPr id="37893" name="Rectangle 5"/>
            <p:cNvSpPr>
              <a:spLocks noChangeArrowheads="1"/>
            </p:cNvSpPr>
            <p:nvPr/>
          </p:nvSpPr>
          <p:spPr bwMode="auto">
            <a:xfrm>
              <a:off x="1497" y="225"/>
              <a:ext cx="1134" cy="748"/>
            </a:xfrm>
            <a:prstGeom prst="rect">
              <a:avLst/>
            </a:prstGeom>
            <a:noFill/>
            <a:ln w="9525">
              <a:noFill/>
              <a:miter lim="800000"/>
              <a:headEnd/>
              <a:tailEnd/>
            </a:ln>
          </p:spPr>
          <p:txBody>
            <a:bodyPr wrap="none" anchor="ctr">
              <a:spAutoFit/>
            </a:bodyPr>
            <a:lstStyle/>
            <a:p>
              <a:pPr eaLnBrk="0" hangingPunct="0"/>
              <a:r>
                <a:rPr lang="en-US" sz="2400" b="1" i="1"/>
                <a:t>Hot-rolling</a:t>
              </a:r>
              <a:endParaRPr lang="en-US" sz="2400"/>
            </a:p>
            <a:p>
              <a:pPr eaLnBrk="0" hangingPunct="0"/>
              <a:endParaRPr lang="en-US" sz="2400"/>
            </a:p>
            <a:p>
              <a:pPr eaLnBrk="0" hangingPunct="0"/>
              <a:r>
                <a:rPr lang="en-US" sz="2400" b="1" i="1"/>
                <a:t>Cold-rolling</a:t>
              </a:r>
              <a:r>
                <a:rPr lang="en-US" sz="2400"/>
                <a:t> </a:t>
              </a:r>
            </a:p>
          </p:txBody>
        </p:sp>
        <p:sp>
          <p:nvSpPr>
            <p:cNvPr id="37894" name="Line 6"/>
            <p:cNvSpPr>
              <a:spLocks noChangeShapeType="1"/>
            </p:cNvSpPr>
            <p:nvPr/>
          </p:nvSpPr>
          <p:spPr bwMode="auto">
            <a:xfrm flipV="1">
              <a:off x="1131" y="416"/>
              <a:ext cx="361" cy="202"/>
            </a:xfrm>
            <a:prstGeom prst="line">
              <a:avLst/>
            </a:prstGeom>
            <a:noFill/>
            <a:ln w="9525">
              <a:solidFill>
                <a:schemeClr val="tx1"/>
              </a:solidFill>
              <a:round/>
              <a:headEnd/>
              <a:tailEnd type="triangle" w="med" len="med"/>
            </a:ln>
          </p:spPr>
          <p:txBody>
            <a:bodyPr/>
            <a:lstStyle/>
            <a:p>
              <a:endParaRPr lang="th-TH"/>
            </a:p>
          </p:txBody>
        </p:sp>
        <p:sp>
          <p:nvSpPr>
            <p:cNvPr id="37895" name="Line 7"/>
            <p:cNvSpPr>
              <a:spLocks noChangeShapeType="1"/>
            </p:cNvSpPr>
            <p:nvPr/>
          </p:nvSpPr>
          <p:spPr bwMode="auto">
            <a:xfrm>
              <a:off x="1124" y="618"/>
              <a:ext cx="354" cy="208"/>
            </a:xfrm>
            <a:prstGeom prst="line">
              <a:avLst/>
            </a:prstGeom>
            <a:noFill/>
            <a:ln w="9525">
              <a:solidFill>
                <a:schemeClr val="tx1"/>
              </a:solidFill>
              <a:round/>
              <a:headEnd/>
              <a:tailEnd type="triangle" w="med" len="med"/>
            </a:ln>
          </p:spPr>
          <p:txBody>
            <a:bodyPr/>
            <a:lstStyle/>
            <a:p>
              <a:endParaRPr lang="th-TH"/>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511175" y="333375"/>
            <a:ext cx="7772400" cy="1143000"/>
          </a:xfrm>
        </p:spPr>
        <p:txBody>
          <a:bodyPr/>
          <a:lstStyle/>
          <a:p>
            <a:pPr eaLnBrk="1" hangingPunct="1"/>
            <a:r>
              <a:rPr lang="en-US"/>
              <a:t>Rolling Theory</a:t>
            </a:r>
            <a:endParaRPr lang="th-TH"/>
          </a:p>
        </p:txBody>
      </p:sp>
      <p:grpSp>
        <p:nvGrpSpPr>
          <p:cNvPr id="38915" name="Group 3"/>
          <p:cNvGrpSpPr>
            <a:grpSpLocks/>
          </p:cNvGrpSpPr>
          <p:nvPr/>
        </p:nvGrpSpPr>
        <p:grpSpPr bwMode="auto">
          <a:xfrm>
            <a:off x="2193925" y="1687513"/>
            <a:ext cx="5761038" cy="4535487"/>
            <a:chOff x="793" y="1026"/>
            <a:chExt cx="3629" cy="2857"/>
          </a:xfrm>
        </p:grpSpPr>
        <p:sp>
          <p:nvSpPr>
            <p:cNvPr id="349188" name="Rectangle 4"/>
            <p:cNvSpPr>
              <a:spLocks noChangeArrowheads="1"/>
            </p:cNvSpPr>
            <p:nvPr/>
          </p:nvSpPr>
          <p:spPr bwMode="auto">
            <a:xfrm>
              <a:off x="1292" y="2205"/>
              <a:ext cx="2994" cy="499"/>
            </a:xfrm>
            <a:prstGeom prst="rect">
              <a:avLst/>
            </a:prstGeom>
            <a:solidFill>
              <a:schemeClr val="bg1"/>
            </a:solidFill>
            <a:ln w="9525">
              <a:solidFill>
                <a:schemeClr val="tx1"/>
              </a:solidFill>
              <a:miter lim="800000"/>
              <a:headEnd/>
              <a:tailEnd/>
            </a:ln>
            <a:effectLst>
              <a:outerShdw sy="50000" rotWithShape="0">
                <a:schemeClr val="bg2">
                  <a:alpha val="50000"/>
                </a:schemeClr>
              </a:outerShdw>
            </a:effectLst>
          </p:spPr>
          <p:txBody>
            <a:bodyPr wrap="none" anchor="ctr"/>
            <a:lstStyle/>
            <a:p>
              <a:pPr>
                <a:defRPr/>
              </a:pPr>
              <a:endParaRPr lang="th-TH"/>
            </a:p>
          </p:txBody>
        </p:sp>
        <p:sp>
          <p:nvSpPr>
            <p:cNvPr id="38917" name="AutoShape 5"/>
            <p:cNvSpPr>
              <a:spLocks noChangeArrowheads="1"/>
            </p:cNvSpPr>
            <p:nvPr/>
          </p:nvSpPr>
          <p:spPr bwMode="auto">
            <a:xfrm>
              <a:off x="1726" y="1026"/>
              <a:ext cx="1316" cy="1315"/>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38918" name="AutoShape 6"/>
            <p:cNvSpPr>
              <a:spLocks noChangeArrowheads="1"/>
            </p:cNvSpPr>
            <p:nvPr/>
          </p:nvSpPr>
          <p:spPr bwMode="auto">
            <a:xfrm>
              <a:off x="1726" y="2568"/>
              <a:ext cx="1316" cy="1315"/>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38919" name="Line 7"/>
            <p:cNvSpPr>
              <a:spLocks noChangeShapeType="1"/>
            </p:cNvSpPr>
            <p:nvPr/>
          </p:nvSpPr>
          <p:spPr bwMode="auto">
            <a:xfrm>
              <a:off x="2361" y="2341"/>
              <a:ext cx="1542" cy="0"/>
            </a:xfrm>
            <a:prstGeom prst="line">
              <a:avLst/>
            </a:prstGeom>
            <a:noFill/>
            <a:ln w="9525">
              <a:solidFill>
                <a:schemeClr val="tx1"/>
              </a:solidFill>
              <a:round/>
              <a:headEnd/>
              <a:tailEnd/>
            </a:ln>
          </p:spPr>
          <p:txBody>
            <a:bodyPr/>
            <a:lstStyle/>
            <a:p>
              <a:endParaRPr lang="th-TH"/>
            </a:p>
          </p:txBody>
        </p:sp>
        <p:sp>
          <p:nvSpPr>
            <p:cNvPr id="38920" name="Line 8"/>
            <p:cNvSpPr>
              <a:spLocks noChangeShapeType="1"/>
            </p:cNvSpPr>
            <p:nvPr/>
          </p:nvSpPr>
          <p:spPr bwMode="auto">
            <a:xfrm>
              <a:off x="2361" y="2568"/>
              <a:ext cx="1542" cy="0"/>
            </a:xfrm>
            <a:prstGeom prst="line">
              <a:avLst/>
            </a:prstGeom>
            <a:noFill/>
            <a:ln w="9525">
              <a:solidFill>
                <a:schemeClr val="tx1"/>
              </a:solidFill>
              <a:round/>
              <a:headEnd/>
              <a:tailEnd/>
            </a:ln>
          </p:spPr>
          <p:txBody>
            <a:bodyPr/>
            <a:lstStyle/>
            <a:p>
              <a:endParaRPr lang="th-TH"/>
            </a:p>
          </p:txBody>
        </p:sp>
        <p:sp>
          <p:nvSpPr>
            <p:cNvPr id="38921" name="Freeform 9"/>
            <p:cNvSpPr>
              <a:spLocks/>
            </p:cNvSpPr>
            <p:nvPr/>
          </p:nvSpPr>
          <p:spPr bwMode="auto">
            <a:xfrm>
              <a:off x="3863" y="2328"/>
              <a:ext cx="48" cy="256"/>
            </a:xfrm>
            <a:custGeom>
              <a:avLst/>
              <a:gdLst>
                <a:gd name="T0" fmla="*/ 16 w 48"/>
                <a:gd name="T1" fmla="*/ 0 h 256"/>
                <a:gd name="T2" fmla="*/ 48 w 48"/>
                <a:gd name="T3" fmla="*/ 72 h 256"/>
                <a:gd name="T4" fmla="*/ 40 w 48"/>
                <a:gd name="T5" fmla="*/ 128 h 256"/>
                <a:gd name="T6" fmla="*/ 16 w 48"/>
                <a:gd name="T7" fmla="*/ 136 h 256"/>
                <a:gd name="T8" fmla="*/ 0 w 48"/>
                <a:gd name="T9" fmla="*/ 160 h 256"/>
                <a:gd name="T10" fmla="*/ 16 w 48"/>
                <a:gd name="T11" fmla="*/ 232 h 256"/>
                <a:gd name="T12" fmla="*/ 48 w 48"/>
                <a:gd name="T13" fmla="*/ 256 h 256"/>
                <a:gd name="T14" fmla="*/ 0 60000 65536"/>
                <a:gd name="T15" fmla="*/ 0 60000 65536"/>
                <a:gd name="T16" fmla="*/ 0 60000 65536"/>
                <a:gd name="T17" fmla="*/ 0 60000 65536"/>
                <a:gd name="T18" fmla="*/ 0 60000 65536"/>
                <a:gd name="T19" fmla="*/ 0 60000 65536"/>
                <a:gd name="T20" fmla="*/ 0 60000 65536"/>
                <a:gd name="T21" fmla="*/ 0 w 48"/>
                <a:gd name="T22" fmla="*/ 0 h 256"/>
                <a:gd name="T23" fmla="*/ 48 w 48"/>
                <a:gd name="T24" fmla="*/ 256 h 2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56">
                  <a:moveTo>
                    <a:pt x="16" y="0"/>
                  </a:moveTo>
                  <a:cubicBezTo>
                    <a:pt x="35" y="57"/>
                    <a:pt x="23" y="34"/>
                    <a:pt x="48" y="72"/>
                  </a:cubicBezTo>
                  <a:cubicBezTo>
                    <a:pt x="45" y="91"/>
                    <a:pt x="48" y="111"/>
                    <a:pt x="40" y="128"/>
                  </a:cubicBezTo>
                  <a:cubicBezTo>
                    <a:pt x="36" y="136"/>
                    <a:pt x="23" y="131"/>
                    <a:pt x="16" y="136"/>
                  </a:cubicBezTo>
                  <a:cubicBezTo>
                    <a:pt x="8" y="142"/>
                    <a:pt x="5" y="152"/>
                    <a:pt x="0" y="160"/>
                  </a:cubicBezTo>
                  <a:cubicBezTo>
                    <a:pt x="0" y="160"/>
                    <a:pt x="8" y="222"/>
                    <a:pt x="16" y="232"/>
                  </a:cubicBezTo>
                  <a:cubicBezTo>
                    <a:pt x="24" y="242"/>
                    <a:pt x="39" y="247"/>
                    <a:pt x="48" y="256"/>
                  </a:cubicBezTo>
                </a:path>
              </a:pathLst>
            </a:custGeom>
            <a:noFill/>
            <a:ln w="9525">
              <a:solidFill>
                <a:schemeClr val="tx1"/>
              </a:solidFill>
              <a:round/>
              <a:headEnd/>
              <a:tailEnd/>
            </a:ln>
          </p:spPr>
          <p:txBody>
            <a:bodyPr/>
            <a:lstStyle/>
            <a:p>
              <a:endParaRPr lang="th-TH"/>
            </a:p>
          </p:txBody>
        </p:sp>
        <p:sp>
          <p:nvSpPr>
            <p:cNvPr id="38922" name="Freeform 10"/>
            <p:cNvSpPr>
              <a:spLocks/>
            </p:cNvSpPr>
            <p:nvPr/>
          </p:nvSpPr>
          <p:spPr bwMode="auto">
            <a:xfrm>
              <a:off x="2783" y="2084"/>
              <a:ext cx="1639" cy="766"/>
            </a:xfrm>
            <a:custGeom>
              <a:avLst/>
              <a:gdLst>
                <a:gd name="T0" fmla="*/ 9 w 1639"/>
                <a:gd name="T1" fmla="*/ 157 h 766"/>
                <a:gd name="T2" fmla="*/ 63 w 1639"/>
                <a:gd name="T3" fmla="*/ 115 h 766"/>
                <a:gd name="T4" fmla="*/ 210 w 1639"/>
                <a:gd name="T5" fmla="*/ 76 h 766"/>
                <a:gd name="T6" fmla="*/ 684 w 1639"/>
                <a:gd name="T7" fmla="*/ 1 h 766"/>
                <a:gd name="T8" fmla="*/ 1386 w 1639"/>
                <a:gd name="T9" fmla="*/ 10 h 766"/>
                <a:gd name="T10" fmla="*/ 1482 w 1639"/>
                <a:gd name="T11" fmla="*/ 37 h 766"/>
                <a:gd name="T12" fmla="*/ 1521 w 1639"/>
                <a:gd name="T13" fmla="*/ 49 h 766"/>
                <a:gd name="T14" fmla="*/ 1548 w 1639"/>
                <a:gd name="T15" fmla="*/ 91 h 766"/>
                <a:gd name="T16" fmla="*/ 1566 w 1639"/>
                <a:gd name="T17" fmla="*/ 160 h 766"/>
                <a:gd name="T18" fmla="*/ 1581 w 1639"/>
                <a:gd name="T19" fmla="*/ 199 h 766"/>
                <a:gd name="T20" fmla="*/ 1602 w 1639"/>
                <a:gd name="T21" fmla="*/ 253 h 766"/>
                <a:gd name="T22" fmla="*/ 1575 w 1639"/>
                <a:gd name="T23" fmla="*/ 679 h 766"/>
                <a:gd name="T24" fmla="*/ 1434 w 1639"/>
                <a:gd name="T25" fmla="*/ 757 h 766"/>
                <a:gd name="T26" fmla="*/ 1356 w 1639"/>
                <a:gd name="T27" fmla="*/ 766 h 766"/>
                <a:gd name="T28" fmla="*/ 933 w 1639"/>
                <a:gd name="T29" fmla="*/ 739 h 766"/>
                <a:gd name="T30" fmla="*/ 798 w 1639"/>
                <a:gd name="T31" fmla="*/ 712 h 766"/>
                <a:gd name="T32" fmla="*/ 690 w 1639"/>
                <a:gd name="T33" fmla="*/ 691 h 766"/>
                <a:gd name="T34" fmla="*/ 357 w 1639"/>
                <a:gd name="T35" fmla="*/ 664 h 766"/>
                <a:gd name="T36" fmla="*/ 180 w 1639"/>
                <a:gd name="T37" fmla="*/ 652 h 766"/>
                <a:gd name="T38" fmla="*/ 30 w 1639"/>
                <a:gd name="T39" fmla="*/ 628 h 766"/>
                <a:gd name="T40" fmla="*/ 3 w 1639"/>
                <a:gd name="T41" fmla="*/ 610 h 766"/>
                <a:gd name="T42" fmla="*/ 705 w 1639"/>
                <a:gd name="T43" fmla="*/ 592 h 766"/>
                <a:gd name="T44" fmla="*/ 1035 w 1639"/>
                <a:gd name="T45" fmla="*/ 577 h 766"/>
                <a:gd name="T46" fmla="*/ 1146 w 1639"/>
                <a:gd name="T47" fmla="*/ 556 h 766"/>
                <a:gd name="T48" fmla="*/ 1116 w 1639"/>
                <a:gd name="T49" fmla="*/ 517 h 766"/>
                <a:gd name="T50" fmla="*/ 1110 w 1639"/>
                <a:gd name="T51" fmla="*/ 499 h 766"/>
                <a:gd name="T52" fmla="*/ 1110 w 1639"/>
                <a:gd name="T53" fmla="*/ 493 h 766"/>
                <a:gd name="T54" fmla="*/ 1119 w 1639"/>
                <a:gd name="T55" fmla="*/ 490 h 766"/>
                <a:gd name="T56" fmla="*/ 1146 w 1639"/>
                <a:gd name="T57" fmla="*/ 487 h 766"/>
                <a:gd name="T58" fmla="*/ 1197 w 1639"/>
                <a:gd name="T59" fmla="*/ 427 h 766"/>
                <a:gd name="T60" fmla="*/ 1173 w 1639"/>
                <a:gd name="T61" fmla="*/ 301 h 766"/>
                <a:gd name="T62" fmla="*/ 1134 w 1639"/>
                <a:gd name="T63" fmla="*/ 286 h 766"/>
                <a:gd name="T64" fmla="*/ 1116 w 1639"/>
                <a:gd name="T65" fmla="*/ 274 h 766"/>
                <a:gd name="T66" fmla="*/ 1101 w 1639"/>
                <a:gd name="T67" fmla="*/ 256 h 766"/>
                <a:gd name="T68" fmla="*/ 966 w 1639"/>
                <a:gd name="T69" fmla="*/ 202 h 766"/>
                <a:gd name="T70" fmla="*/ 498 w 1639"/>
                <a:gd name="T71" fmla="*/ 187 h 766"/>
                <a:gd name="T72" fmla="*/ 225 w 1639"/>
                <a:gd name="T73" fmla="*/ 151 h 766"/>
                <a:gd name="T74" fmla="*/ 153 w 1639"/>
                <a:gd name="T75" fmla="*/ 139 h 766"/>
                <a:gd name="T76" fmla="*/ 84 w 1639"/>
                <a:gd name="T77" fmla="*/ 139 h 766"/>
                <a:gd name="T78" fmla="*/ 30 w 1639"/>
                <a:gd name="T79" fmla="*/ 145 h 766"/>
                <a:gd name="T80" fmla="*/ 9 w 1639"/>
                <a:gd name="T81" fmla="*/ 157 h 76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39"/>
                <a:gd name="T124" fmla="*/ 0 h 766"/>
                <a:gd name="T125" fmla="*/ 1639 w 1639"/>
                <a:gd name="T126" fmla="*/ 766 h 76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39" h="766">
                  <a:moveTo>
                    <a:pt x="9" y="157"/>
                  </a:moveTo>
                  <a:cubicBezTo>
                    <a:pt x="0" y="113"/>
                    <a:pt x="23" y="118"/>
                    <a:pt x="63" y="115"/>
                  </a:cubicBezTo>
                  <a:cubicBezTo>
                    <a:pt x="103" y="85"/>
                    <a:pt x="162" y="80"/>
                    <a:pt x="210" y="76"/>
                  </a:cubicBezTo>
                  <a:cubicBezTo>
                    <a:pt x="366" y="40"/>
                    <a:pt x="528" y="35"/>
                    <a:pt x="684" y="1"/>
                  </a:cubicBezTo>
                  <a:cubicBezTo>
                    <a:pt x="797" y="2"/>
                    <a:pt x="1203" y="0"/>
                    <a:pt x="1386" y="10"/>
                  </a:cubicBezTo>
                  <a:cubicBezTo>
                    <a:pt x="1418" y="12"/>
                    <a:pt x="1450" y="31"/>
                    <a:pt x="1482" y="37"/>
                  </a:cubicBezTo>
                  <a:cubicBezTo>
                    <a:pt x="1495" y="43"/>
                    <a:pt x="1507" y="44"/>
                    <a:pt x="1521" y="49"/>
                  </a:cubicBezTo>
                  <a:cubicBezTo>
                    <a:pt x="1529" y="64"/>
                    <a:pt x="1539" y="77"/>
                    <a:pt x="1548" y="91"/>
                  </a:cubicBezTo>
                  <a:cubicBezTo>
                    <a:pt x="1560" y="109"/>
                    <a:pt x="1561" y="141"/>
                    <a:pt x="1566" y="160"/>
                  </a:cubicBezTo>
                  <a:cubicBezTo>
                    <a:pt x="1571" y="176"/>
                    <a:pt x="1566" y="189"/>
                    <a:pt x="1581" y="199"/>
                  </a:cubicBezTo>
                  <a:cubicBezTo>
                    <a:pt x="1586" y="217"/>
                    <a:pt x="1595" y="235"/>
                    <a:pt x="1602" y="253"/>
                  </a:cubicBezTo>
                  <a:cubicBezTo>
                    <a:pt x="1601" y="379"/>
                    <a:pt x="1639" y="551"/>
                    <a:pt x="1575" y="679"/>
                  </a:cubicBezTo>
                  <a:cubicBezTo>
                    <a:pt x="1549" y="730"/>
                    <a:pt x="1486" y="749"/>
                    <a:pt x="1434" y="757"/>
                  </a:cubicBezTo>
                  <a:cubicBezTo>
                    <a:pt x="1408" y="761"/>
                    <a:pt x="1356" y="766"/>
                    <a:pt x="1356" y="766"/>
                  </a:cubicBezTo>
                  <a:cubicBezTo>
                    <a:pt x="1208" y="763"/>
                    <a:pt x="1076" y="759"/>
                    <a:pt x="933" y="739"/>
                  </a:cubicBezTo>
                  <a:cubicBezTo>
                    <a:pt x="890" y="725"/>
                    <a:pt x="839" y="729"/>
                    <a:pt x="798" y="712"/>
                  </a:cubicBezTo>
                  <a:cubicBezTo>
                    <a:pt x="763" y="698"/>
                    <a:pt x="727" y="697"/>
                    <a:pt x="690" y="691"/>
                  </a:cubicBezTo>
                  <a:cubicBezTo>
                    <a:pt x="567" y="671"/>
                    <a:pt x="491" y="666"/>
                    <a:pt x="357" y="664"/>
                  </a:cubicBezTo>
                  <a:cubicBezTo>
                    <a:pt x="303" y="653"/>
                    <a:pt x="234" y="654"/>
                    <a:pt x="180" y="652"/>
                  </a:cubicBezTo>
                  <a:cubicBezTo>
                    <a:pt x="127" y="634"/>
                    <a:pt x="88" y="630"/>
                    <a:pt x="30" y="628"/>
                  </a:cubicBezTo>
                  <a:cubicBezTo>
                    <a:pt x="18" y="624"/>
                    <a:pt x="10" y="621"/>
                    <a:pt x="3" y="610"/>
                  </a:cubicBezTo>
                  <a:cubicBezTo>
                    <a:pt x="190" y="470"/>
                    <a:pt x="471" y="593"/>
                    <a:pt x="705" y="592"/>
                  </a:cubicBezTo>
                  <a:cubicBezTo>
                    <a:pt x="891" y="590"/>
                    <a:pt x="907" y="585"/>
                    <a:pt x="1035" y="577"/>
                  </a:cubicBezTo>
                  <a:cubicBezTo>
                    <a:pt x="1082" y="565"/>
                    <a:pt x="1091" y="559"/>
                    <a:pt x="1146" y="556"/>
                  </a:cubicBezTo>
                  <a:cubicBezTo>
                    <a:pt x="1136" y="546"/>
                    <a:pt x="1122" y="530"/>
                    <a:pt x="1116" y="517"/>
                  </a:cubicBezTo>
                  <a:cubicBezTo>
                    <a:pt x="1113" y="511"/>
                    <a:pt x="1110" y="499"/>
                    <a:pt x="1110" y="499"/>
                  </a:cubicBezTo>
                  <a:cubicBezTo>
                    <a:pt x="1143" y="492"/>
                    <a:pt x="1117" y="500"/>
                    <a:pt x="1110" y="493"/>
                  </a:cubicBezTo>
                  <a:cubicBezTo>
                    <a:pt x="1108" y="491"/>
                    <a:pt x="1116" y="491"/>
                    <a:pt x="1119" y="490"/>
                  </a:cubicBezTo>
                  <a:cubicBezTo>
                    <a:pt x="1128" y="489"/>
                    <a:pt x="1137" y="488"/>
                    <a:pt x="1146" y="487"/>
                  </a:cubicBezTo>
                  <a:cubicBezTo>
                    <a:pt x="1172" y="478"/>
                    <a:pt x="1191" y="453"/>
                    <a:pt x="1197" y="427"/>
                  </a:cubicBezTo>
                  <a:cubicBezTo>
                    <a:pt x="1195" y="380"/>
                    <a:pt x="1207" y="335"/>
                    <a:pt x="1173" y="301"/>
                  </a:cubicBezTo>
                  <a:cubicBezTo>
                    <a:pt x="1167" y="284"/>
                    <a:pt x="1152" y="288"/>
                    <a:pt x="1134" y="286"/>
                  </a:cubicBezTo>
                  <a:cubicBezTo>
                    <a:pt x="1105" y="257"/>
                    <a:pt x="1142" y="291"/>
                    <a:pt x="1116" y="274"/>
                  </a:cubicBezTo>
                  <a:cubicBezTo>
                    <a:pt x="1093" y="259"/>
                    <a:pt x="1119" y="271"/>
                    <a:pt x="1101" y="256"/>
                  </a:cubicBezTo>
                  <a:cubicBezTo>
                    <a:pt x="1067" y="226"/>
                    <a:pt x="1010" y="207"/>
                    <a:pt x="966" y="202"/>
                  </a:cubicBezTo>
                  <a:cubicBezTo>
                    <a:pt x="828" y="167"/>
                    <a:pt x="554" y="187"/>
                    <a:pt x="498" y="187"/>
                  </a:cubicBezTo>
                  <a:cubicBezTo>
                    <a:pt x="405" y="183"/>
                    <a:pt x="317" y="159"/>
                    <a:pt x="225" y="151"/>
                  </a:cubicBezTo>
                  <a:cubicBezTo>
                    <a:pt x="201" y="146"/>
                    <a:pt x="178" y="141"/>
                    <a:pt x="153" y="139"/>
                  </a:cubicBezTo>
                  <a:cubicBezTo>
                    <a:pt x="126" y="130"/>
                    <a:pt x="143" y="134"/>
                    <a:pt x="84" y="139"/>
                  </a:cubicBezTo>
                  <a:cubicBezTo>
                    <a:pt x="66" y="140"/>
                    <a:pt x="30" y="145"/>
                    <a:pt x="30" y="145"/>
                  </a:cubicBezTo>
                  <a:cubicBezTo>
                    <a:pt x="23" y="152"/>
                    <a:pt x="19" y="157"/>
                    <a:pt x="9" y="157"/>
                  </a:cubicBezTo>
                  <a:close/>
                </a:path>
              </a:pathLst>
            </a:custGeom>
            <a:solidFill>
              <a:schemeClr val="bg1"/>
            </a:solidFill>
            <a:ln w="9525">
              <a:solidFill>
                <a:schemeClr val="bg1"/>
              </a:solidFill>
              <a:round/>
              <a:headEnd/>
              <a:tailEnd/>
            </a:ln>
          </p:spPr>
          <p:txBody>
            <a:bodyPr/>
            <a:lstStyle/>
            <a:p>
              <a:endParaRPr lang="th-TH"/>
            </a:p>
          </p:txBody>
        </p:sp>
        <p:sp>
          <p:nvSpPr>
            <p:cNvPr id="38923" name="Line 11"/>
            <p:cNvSpPr>
              <a:spLocks noChangeShapeType="1"/>
            </p:cNvSpPr>
            <p:nvPr/>
          </p:nvSpPr>
          <p:spPr bwMode="auto">
            <a:xfrm>
              <a:off x="3994" y="2341"/>
              <a:ext cx="227" cy="0"/>
            </a:xfrm>
            <a:prstGeom prst="line">
              <a:avLst/>
            </a:prstGeom>
            <a:noFill/>
            <a:ln w="9525">
              <a:solidFill>
                <a:schemeClr val="tx1"/>
              </a:solidFill>
              <a:round/>
              <a:headEnd/>
              <a:tailEnd/>
            </a:ln>
          </p:spPr>
          <p:txBody>
            <a:bodyPr/>
            <a:lstStyle/>
            <a:p>
              <a:endParaRPr lang="th-TH"/>
            </a:p>
          </p:txBody>
        </p:sp>
        <p:sp>
          <p:nvSpPr>
            <p:cNvPr id="38924" name="Line 12"/>
            <p:cNvSpPr>
              <a:spLocks noChangeShapeType="1"/>
            </p:cNvSpPr>
            <p:nvPr/>
          </p:nvSpPr>
          <p:spPr bwMode="auto">
            <a:xfrm>
              <a:off x="3994" y="2568"/>
              <a:ext cx="227" cy="0"/>
            </a:xfrm>
            <a:prstGeom prst="line">
              <a:avLst/>
            </a:prstGeom>
            <a:noFill/>
            <a:ln w="9525">
              <a:solidFill>
                <a:schemeClr val="tx1"/>
              </a:solidFill>
              <a:round/>
              <a:headEnd/>
              <a:tailEnd/>
            </a:ln>
          </p:spPr>
          <p:txBody>
            <a:bodyPr/>
            <a:lstStyle/>
            <a:p>
              <a:endParaRPr lang="th-TH"/>
            </a:p>
          </p:txBody>
        </p:sp>
        <p:sp>
          <p:nvSpPr>
            <p:cNvPr id="38925" name="Line 13"/>
            <p:cNvSpPr>
              <a:spLocks noChangeShapeType="1"/>
            </p:cNvSpPr>
            <p:nvPr/>
          </p:nvSpPr>
          <p:spPr bwMode="auto">
            <a:xfrm>
              <a:off x="4085" y="2160"/>
              <a:ext cx="0" cy="182"/>
            </a:xfrm>
            <a:prstGeom prst="line">
              <a:avLst/>
            </a:prstGeom>
            <a:noFill/>
            <a:ln w="9525">
              <a:solidFill>
                <a:schemeClr val="tx1"/>
              </a:solidFill>
              <a:round/>
              <a:headEnd/>
              <a:tailEnd type="triangle" w="med" len="med"/>
            </a:ln>
          </p:spPr>
          <p:txBody>
            <a:bodyPr/>
            <a:lstStyle/>
            <a:p>
              <a:endParaRPr lang="th-TH"/>
            </a:p>
          </p:txBody>
        </p:sp>
        <p:sp>
          <p:nvSpPr>
            <p:cNvPr id="38926" name="Line 14"/>
            <p:cNvSpPr>
              <a:spLocks noChangeShapeType="1"/>
            </p:cNvSpPr>
            <p:nvPr/>
          </p:nvSpPr>
          <p:spPr bwMode="auto">
            <a:xfrm flipV="1">
              <a:off x="4085" y="2568"/>
              <a:ext cx="0" cy="182"/>
            </a:xfrm>
            <a:prstGeom prst="line">
              <a:avLst/>
            </a:prstGeom>
            <a:noFill/>
            <a:ln w="9525">
              <a:solidFill>
                <a:schemeClr val="tx1"/>
              </a:solidFill>
              <a:round/>
              <a:headEnd/>
              <a:tailEnd type="triangle" w="med" len="med"/>
            </a:ln>
          </p:spPr>
          <p:txBody>
            <a:bodyPr/>
            <a:lstStyle/>
            <a:p>
              <a:endParaRPr lang="th-TH"/>
            </a:p>
          </p:txBody>
        </p:sp>
        <p:sp>
          <p:nvSpPr>
            <p:cNvPr id="38927" name="Line 15"/>
            <p:cNvSpPr>
              <a:spLocks noChangeShapeType="1"/>
            </p:cNvSpPr>
            <p:nvPr/>
          </p:nvSpPr>
          <p:spPr bwMode="auto">
            <a:xfrm flipH="1">
              <a:off x="884" y="2205"/>
              <a:ext cx="272" cy="0"/>
            </a:xfrm>
            <a:prstGeom prst="line">
              <a:avLst/>
            </a:prstGeom>
            <a:noFill/>
            <a:ln w="9525">
              <a:solidFill>
                <a:schemeClr val="tx1"/>
              </a:solidFill>
              <a:round/>
              <a:headEnd/>
              <a:tailEnd/>
            </a:ln>
          </p:spPr>
          <p:txBody>
            <a:bodyPr/>
            <a:lstStyle/>
            <a:p>
              <a:endParaRPr lang="th-TH"/>
            </a:p>
          </p:txBody>
        </p:sp>
        <p:sp>
          <p:nvSpPr>
            <p:cNvPr id="38928" name="Line 16"/>
            <p:cNvSpPr>
              <a:spLocks noChangeShapeType="1"/>
            </p:cNvSpPr>
            <p:nvPr/>
          </p:nvSpPr>
          <p:spPr bwMode="auto">
            <a:xfrm flipH="1">
              <a:off x="884" y="2704"/>
              <a:ext cx="272" cy="0"/>
            </a:xfrm>
            <a:prstGeom prst="line">
              <a:avLst/>
            </a:prstGeom>
            <a:noFill/>
            <a:ln w="9525">
              <a:solidFill>
                <a:schemeClr val="tx1"/>
              </a:solidFill>
              <a:round/>
              <a:headEnd/>
              <a:tailEnd/>
            </a:ln>
          </p:spPr>
          <p:txBody>
            <a:bodyPr/>
            <a:lstStyle/>
            <a:p>
              <a:endParaRPr lang="th-TH"/>
            </a:p>
          </p:txBody>
        </p:sp>
        <p:sp>
          <p:nvSpPr>
            <p:cNvPr id="38929" name="Line 17"/>
            <p:cNvSpPr>
              <a:spLocks noChangeShapeType="1"/>
            </p:cNvSpPr>
            <p:nvPr/>
          </p:nvSpPr>
          <p:spPr bwMode="auto">
            <a:xfrm>
              <a:off x="1111" y="2840"/>
              <a:ext cx="408" cy="0"/>
            </a:xfrm>
            <a:prstGeom prst="line">
              <a:avLst/>
            </a:prstGeom>
            <a:noFill/>
            <a:ln w="9525">
              <a:solidFill>
                <a:schemeClr val="tx1"/>
              </a:solidFill>
              <a:round/>
              <a:headEnd/>
              <a:tailEnd type="triangle" w="med" len="med"/>
            </a:ln>
          </p:spPr>
          <p:txBody>
            <a:bodyPr/>
            <a:lstStyle/>
            <a:p>
              <a:endParaRPr lang="th-TH"/>
            </a:p>
          </p:txBody>
        </p:sp>
        <p:sp>
          <p:nvSpPr>
            <p:cNvPr id="38930" name="Line 18"/>
            <p:cNvSpPr>
              <a:spLocks noChangeShapeType="1"/>
            </p:cNvSpPr>
            <p:nvPr/>
          </p:nvSpPr>
          <p:spPr bwMode="auto">
            <a:xfrm>
              <a:off x="1973" y="2704"/>
              <a:ext cx="91" cy="91"/>
            </a:xfrm>
            <a:prstGeom prst="line">
              <a:avLst/>
            </a:prstGeom>
            <a:noFill/>
            <a:ln w="9525">
              <a:solidFill>
                <a:schemeClr val="tx1"/>
              </a:solidFill>
              <a:round/>
              <a:headEnd/>
              <a:tailEnd/>
            </a:ln>
          </p:spPr>
          <p:txBody>
            <a:bodyPr/>
            <a:lstStyle/>
            <a:p>
              <a:endParaRPr lang="th-TH"/>
            </a:p>
          </p:txBody>
        </p:sp>
        <p:sp>
          <p:nvSpPr>
            <p:cNvPr id="38931" name="Line 19"/>
            <p:cNvSpPr>
              <a:spLocks noChangeShapeType="1"/>
            </p:cNvSpPr>
            <p:nvPr/>
          </p:nvSpPr>
          <p:spPr bwMode="auto">
            <a:xfrm>
              <a:off x="2381" y="2568"/>
              <a:ext cx="0" cy="136"/>
            </a:xfrm>
            <a:prstGeom prst="line">
              <a:avLst/>
            </a:prstGeom>
            <a:noFill/>
            <a:ln w="9525">
              <a:solidFill>
                <a:schemeClr val="tx1"/>
              </a:solidFill>
              <a:round/>
              <a:headEnd/>
              <a:tailEnd/>
            </a:ln>
          </p:spPr>
          <p:txBody>
            <a:bodyPr/>
            <a:lstStyle/>
            <a:p>
              <a:endParaRPr lang="th-TH"/>
            </a:p>
          </p:txBody>
        </p:sp>
        <p:sp>
          <p:nvSpPr>
            <p:cNvPr id="38932" name="Line 20"/>
            <p:cNvSpPr>
              <a:spLocks noChangeShapeType="1"/>
            </p:cNvSpPr>
            <p:nvPr/>
          </p:nvSpPr>
          <p:spPr bwMode="auto">
            <a:xfrm>
              <a:off x="2381" y="1661"/>
              <a:ext cx="0" cy="680"/>
            </a:xfrm>
            <a:prstGeom prst="line">
              <a:avLst/>
            </a:prstGeom>
            <a:noFill/>
            <a:ln w="9525">
              <a:solidFill>
                <a:schemeClr val="tx1"/>
              </a:solidFill>
              <a:round/>
              <a:headEnd/>
              <a:tailEnd type="triangle" w="med" len="med"/>
            </a:ln>
          </p:spPr>
          <p:txBody>
            <a:bodyPr/>
            <a:lstStyle/>
            <a:p>
              <a:endParaRPr lang="th-TH"/>
            </a:p>
          </p:txBody>
        </p:sp>
        <p:sp>
          <p:nvSpPr>
            <p:cNvPr id="38933" name="Line 21"/>
            <p:cNvSpPr>
              <a:spLocks noChangeShapeType="1"/>
            </p:cNvSpPr>
            <p:nvPr/>
          </p:nvSpPr>
          <p:spPr bwMode="auto">
            <a:xfrm flipH="1">
              <a:off x="1973" y="1661"/>
              <a:ext cx="408" cy="544"/>
            </a:xfrm>
            <a:prstGeom prst="line">
              <a:avLst/>
            </a:prstGeom>
            <a:noFill/>
            <a:ln w="9525">
              <a:solidFill>
                <a:schemeClr val="tx1"/>
              </a:solidFill>
              <a:round/>
              <a:headEnd/>
              <a:tailEnd/>
            </a:ln>
          </p:spPr>
          <p:txBody>
            <a:bodyPr/>
            <a:lstStyle/>
            <a:p>
              <a:endParaRPr lang="th-TH"/>
            </a:p>
          </p:txBody>
        </p:sp>
        <p:sp>
          <p:nvSpPr>
            <p:cNvPr id="38934" name="Line 22"/>
            <p:cNvSpPr>
              <a:spLocks noChangeShapeType="1"/>
            </p:cNvSpPr>
            <p:nvPr/>
          </p:nvSpPr>
          <p:spPr bwMode="auto">
            <a:xfrm flipV="1">
              <a:off x="2018" y="2614"/>
              <a:ext cx="363" cy="136"/>
            </a:xfrm>
            <a:prstGeom prst="line">
              <a:avLst/>
            </a:prstGeom>
            <a:noFill/>
            <a:ln w="9525">
              <a:solidFill>
                <a:schemeClr val="tx1"/>
              </a:solidFill>
              <a:round/>
              <a:headEnd type="triangle" w="med" len="med"/>
              <a:tailEnd type="triangle" w="med" len="med"/>
            </a:ln>
          </p:spPr>
          <p:txBody>
            <a:bodyPr/>
            <a:lstStyle/>
            <a:p>
              <a:endParaRPr lang="th-TH"/>
            </a:p>
          </p:txBody>
        </p:sp>
        <p:sp>
          <p:nvSpPr>
            <p:cNvPr id="38935" name="Line 23"/>
            <p:cNvSpPr>
              <a:spLocks noChangeShapeType="1"/>
            </p:cNvSpPr>
            <p:nvPr/>
          </p:nvSpPr>
          <p:spPr bwMode="auto">
            <a:xfrm flipH="1" flipV="1">
              <a:off x="2200" y="2659"/>
              <a:ext cx="90" cy="182"/>
            </a:xfrm>
            <a:prstGeom prst="line">
              <a:avLst/>
            </a:prstGeom>
            <a:noFill/>
            <a:ln w="9525">
              <a:solidFill>
                <a:schemeClr val="tx1"/>
              </a:solidFill>
              <a:round/>
              <a:headEnd/>
              <a:tailEnd type="triangle" w="med" len="med"/>
            </a:ln>
          </p:spPr>
          <p:txBody>
            <a:bodyPr/>
            <a:lstStyle/>
            <a:p>
              <a:endParaRPr lang="th-TH"/>
            </a:p>
          </p:txBody>
        </p:sp>
        <p:sp>
          <p:nvSpPr>
            <p:cNvPr id="38936" name="Arc 24"/>
            <p:cNvSpPr>
              <a:spLocks/>
            </p:cNvSpPr>
            <p:nvPr/>
          </p:nvSpPr>
          <p:spPr bwMode="auto">
            <a:xfrm rot="-596732">
              <a:off x="1562" y="2825"/>
              <a:ext cx="363" cy="560"/>
            </a:xfrm>
            <a:custGeom>
              <a:avLst/>
              <a:gdLst>
                <a:gd name="T0" fmla="*/ 0 w 21600"/>
                <a:gd name="T1" fmla="*/ 12 h 25238"/>
                <a:gd name="T2" fmla="*/ 4 w 21600"/>
                <a:gd name="T3" fmla="*/ 0 h 25238"/>
                <a:gd name="T4" fmla="*/ 6 w 21600"/>
                <a:gd name="T5" fmla="*/ 10 h 25238"/>
                <a:gd name="T6" fmla="*/ 0 60000 65536"/>
                <a:gd name="T7" fmla="*/ 0 60000 65536"/>
                <a:gd name="T8" fmla="*/ 0 60000 65536"/>
                <a:gd name="T9" fmla="*/ 0 w 21600"/>
                <a:gd name="T10" fmla="*/ 0 h 25238"/>
                <a:gd name="T11" fmla="*/ 21600 w 21600"/>
                <a:gd name="T12" fmla="*/ 25238 h 25238"/>
              </a:gdLst>
              <a:ahLst/>
              <a:cxnLst>
                <a:cxn ang="T6">
                  <a:pos x="T0" y="T1"/>
                </a:cxn>
                <a:cxn ang="T7">
                  <a:pos x="T2" y="T3"/>
                </a:cxn>
                <a:cxn ang="T8">
                  <a:pos x="T4" y="T5"/>
                </a:cxn>
              </a:cxnLst>
              <a:rect l="T9" t="T10" r="T11" b="T12"/>
              <a:pathLst>
                <a:path w="21600" h="25238" fill="none" extrusionOk="0">
                  <a:moveTo>
                    <a:pt x="669" y="25237"/>
                  </a:moveTo>
                  <a:cubicBezTo>
                    <a:pt x="224" y="23494"/>
                    <a:pt x="0" y="21701"/>
                    <a:pt x="0" y="19902"/>
                  </a:cubicBezTo>
                  <a:cubicBezTo>
                    <a:pt x="-1" y="11216"/>
                    <a:pt x="5202" y="3375"/>
                    <a:pt x="13205" y="-1"/>
                  </a:cubicBezTo>
                </a:path>
                <a:path w="21600" h="25238" stroke="0" extrusionOk="0">
                  <a:moveTo>
                    <a:pt x="669" y="25237"/>
                  </a:moveTo>
                  <a:cubicBezTo>
                    <a:pt x="224" y="23494"/>
                    <a:pt x="0" y="21701"/>
                    <a:pt x="0" y="19902"/>
                  </a:cubicBezTo>
                  <a:cubicBezTo>
                    <a:pt x="-1" y="11216"/>
                    <a:pt x="5202" y="3375"/>
                    <a:pt x="13205" y="-1"/>
                  </a:cubicBezTo>
                  <a:lnTo>
                    <a:pt x="21600" y="19902"/>
                  </a:lnTo>
                  <a:close/>
                </a:path>
              </a:pathLst>
            </a:custGeom>
            <a:noFill/>
            <a:ln w="9525">
              <a:solidFill>
                <a:schemeClr val="tx1"/>
              </a:solidFill>
              <a:round/>
              <a:headEnd/>
              <a:tailEnd/>
            </a:ln>
          </p:spPr>
          <p:txBody>
            <a:bodyPr wrap="none" anchor="ctr"/>
            <a:lstStyle/>
            <a:p>
              <a:endParaRPr lang="th-TH"/>
            </a:p>
          </p:txBody>
        </p:sp>
        <p:sp>
          <p:nvSpPr>
            <p:cNvPr id="38937" name="Arc 25"/>
            <p:cNvSpPr>
              <a:spLocks/>
            </p:cNvSpPr>
            <p:nvPr/>
          </p:nvSpPr>
          <p:spPr bwMode="auto">
            <a:xfrm rot="-1538210">
              <a:off x="1535" y="1489"/>
              <a:ext cx="362" cy="556"/>
            </a:xfrm>
            <a:custGeom>
              <a:avLst/>
              <a:gdLst>
                <a:gd name="T0" fmla="*/ 0 w 21600"/>
                <a:gd name="T1" fmla="*/ 12 h 25056"/>
                <a:gd name="T2" fmla="*/ 3 w 21600"/>
                <a:gd name="T3" fmla="*/ 0 h 25056"/>
                <a:gd name="T4" fmla="*/ 6 w 21600"/>
                <a:gd name="T5" fmla="*/ 9 h 25056"/>
                <a:gd name="T6" fmla="*/ 0 60000 65536"/>
                <a:gd name="T7" fmla="*/ 0 60000 65536"/>
                <a:gd name="T8" fmla="*/ 0 60000 65536"/>
                <a:gd name="T9" fmla="*/ 0 w 21600"/>
                <a:gd name="T10" fmla="*/ 0 h 25056"/>
                <a:gd name="T11" fmla="*/ 21600 w 21600"/>
                <a:gd name="T12" fmla="*/ 25056 h 25056"/>
              </a:gdLst>
              <a:ahLst/>
              <a:cxnLst>
                <a:cxn ang="T6">
                  <a:pos x="T0" y="T1"/>
                </a:cxn>
                <a:cxn ang="T7">
                  <a:pos x="T2" y="T3"/>
                </a:cxn>
                <a:cxn ang="T8">
                  <a:pos x="T4" y="T5"/>
                </a:cxn>
              </a:cxnLst>
              <a:rect l="T9" t="T10" r="T11" b="T12"/>
              <a:pathLst>
                <a:path w="21600" h="25056" fill="none" extrusionOk="0">
                  <a:moveTo>
                    <a:pt x="1008" y="25055"/>
                  </a:moveTo>
                  <a:cubicBezTo>
                    <a:pt x="340" y="22946"/>
                    <a:pt x="0" y="20746"/>
                    <a:pt x="0" y="18534"/>
                  </a:cubicBezTo>
                  <a:cubicBezTo>
                    <a:pt x="-1" y="10938"/>
                    <a:pt x="3989" y="3900"/>
                    <a:pt x="10507" y="0"/>
                  </a:cubicBezTo>
                </a:path>
                <a:path w="21600" h="25056" stroke="0" extrusionOk="0">
                  <a:moveTo>
                    <a:pt x="1008" y="25055"/>
                  </a:moveTo>
                  <a:cubicBezTo>
                    <a:pt x="340" y="22946"/>
                    <a:pt x="0" y="20746"/>
                    <a:pt x="0" y="18534"/>
                  </a:cubicBezTo>
                  <a:cubicBezTo>
                    <a:pt x="-1" y="10938"/>
                    <a:pt x="3989" y="3900"/>
                    <a:pt x="10507" y="0"/>
                  </a:cubicBezTo>
                  <a:lnTo>
                    <a:pt x="21600" y="18534"/>
                  </a:lnTo>
                  <a:close/>
                </a:path>
              </a:pathLst>
            </a:custGeom>
            <a:noFill/>
            <a:ln w="9525">
              <a:solidFill>
                <a:schemeClr val="tx1"/>
              </a:solidFill>
              <a:round/>
              <a:headEnd/>
              <a:tailEnd/>
            </a:ln>
          </p:spPr>
          <p:txBody>
            <a:bodyPr wrap="none" anchor="ctr"/>
            <a:lstStyle/>
            <a:p>
              <a:endParaRPr lang="th-TH"/>
            </a:p>
          </p:txBody>
        </p:sp>
        <p:sp>
          <p:nvSpPr>
            <p:cNvPr id="38938" name="AutoShape 26"/>
            <p:cNvSpPr>
              <a:spLocks noChangeArrowheads="1"/>
            </p:cNvSpPr>
            <p:nvPr/>
          </p:nvSpPr>
          <p:spPr bwMode="auto">
            <a:xfrm rot="-2735078">
              <a:off x="1647" y="2053"/>
              <a:ext cx="91" cy="46"/>
            </a:xfrm>
            <a:prstGeom prst="flowChartMerge">
              <a:avLst/>
            </a:prstGeom>
            <a:solidFill>
              <a:schemeClr val="tx1"/>
            </a:solidFill>
            <a:ln w="9525">
              <a:solidFill>
                <a:schemeClr val="tx1"/>
              </a:solidFill>
              <a:miter lim="800000"/>
              <a:headEnd/>
              <a:tailEnd/>
            </a:ln>
          </p:spPr>
          <p:txBody>
            <a:bodyPr wrap="none" anchor="ctr"/>
            <a:lstStyle/>
            <a:p>
              <a:endParaRPr lang="th-TH"/>
            </a:p>
          </p:txBody>
        </p:sp>
        <p:sp>
          <p:nvSpPr>
            <p:cNvPr id="38939" name="AutoShape 27"/>
            <p:cNvSpPr>
              <a:spLocks noChangeArrowheads="1"/>
            </p:cNvSpPr>
            <p:nvPr/>
          </p:nvSpPr>
          <p:spPr bwMode="auto">
            <a:xfrm rot="-8616660">
              <a:off x="1701" y="2795"/>
              <a:ext cx="90" cy="46"/>
            </a:xfrm>
            <a:prstGeom prst="flowChartMerge">
              <a:avLst/>
            </a:prstGeom>
            <a:solidFill>
              <a:schemeClr val="tx1"/>
            </a:solidFill>
            <a:ln w="9525">
              <a:solidFill>
                <a:schemeClr val="tx1"/>
              </a:solidFill>
              <a:miter lim="800000"/>
              <a:headEnd/>
              <a:tailEnd/>
            </a:ln>
          </p:spPr>
          <p:txBody>
            <a:bodyPr wrap="none" anchor="ctr"/>
            <a:lstStyle/>
            <a:p>
              <a:endParaRPr lang="th-TH"/>
            </a:p>
          </p:txBody>
        </p:sp>
        <p:sp>
          <p:nvSpPr>
            <p:cNvPr id="38940" name="Line 28"/>
            <p:cNvSpPr>
              <a:spLocks noChangeShapeType="1"/>
            </p:cNvSpPr>
            <p:nvPr/>
          </p:nvSpPr>
          <p:spPr bwMode="auto">
            <a:xfrm flipH="1">
              <a:off x="2154" y="2069"/>
              <a:ext cx="90" cy="227"/>
            </a:xfrm>
            <a:prstGeom prst="line">
              <a:avLst/>
            </a:prstGeom>
            <a:noFill/>
            <a:ln w="9525">
              <a:solidFill>
                <a:schemeClr val="tx1"/>
              </a:solidFill>
              <a:round/>
              <a:headEnd/>
              <a:tailEnd type="triangle" w="med" len="med"/>
            </a:ln>
          </p:spPr>
          <p:txBody>
            <a:bodyPr/>
            <a:lstStyle/>
            <a:p>
              <a:endParaRPr lang="th-TH"/>
            </a:p>
          </p:txBody>
        </p:sp>
        <p:sp>
          <p:nvSpPr>
            <p:cNvPr id="38941" name="Line 29"/>
            <p:cNvSpPr>
              <a:spLocks noChangeShapeType="1"/>
            </p:cNvSpPr>
            <p:nvPr/>
          </p:nvSpPr>
          <p:spPr bwMode="auto">
            <a:xfrm flipH="1">
              <a:off x="2200" y="2160"/>
              <a:ext cx="317" cy="0"/>
            </a:xfrm>
            <a:prstGeom prst="line">
              <a:avLst/>
            </a:prstGeom>
            <a:noFill/>
            <a:ln w="9525">
              <a:solidFill>
                <a:schemeClr val="tx1"/>
              </a:solidFill>
              <a:round/>
              <a:headEnd/>
              <a:tailEnd type="triangle" w="med" len="med"/>
            </a:ln>
          </p:spPr>
          <p:txBody>
            <a:bodyPr/>
            <a:lstStyle/>
            <a:p>
              <a:endParaRPr lang="th-TH"/>
            </a:p>
          </p:txBody>
        </p:sp>
        <p:sp>
          <p:nvSpPr>
            <p:cNvPr id="38942" name="Line 30"/>
            <p:cNvSpPr>
              <a:spLocks noChangeShapeType="1"/>
            </p:cNvSpPr>
            <p:nvPr/>
          </p:nvSpPr>
          <p:spPr bwMode="auto">
            <a:xfrm>
              <a:off x="2154" y="1706"/>
              <a:ext cx="136" cy="91"/>
            </a:xfrm>
            <a:prstGeom prst="line">
              <a:avLst/>
            </a:prstGeom>
            <a:noFill/>
            <a:ln w="9525">
              <a:solidFill>
                <a:schemeClr val="tx1"/>
              </a:solidFill>
              <a:round/>
              <a:headEnd/>
              <a:tailEnd type="triangle" w="med" len="med"/>
            </a:ln>
          </p:spPr>
          <p:txBody>
            <a:bodyPr/>
            <a:lstStyle/>
            <a:p>
              <a:endParaRPr lang="th-TH"/>
            </a:p>
          </p:txBody>
        </p:sp>
        <p:sp>
          <p:nvSpPr>
            <p:cNvPr id="38943" name="Line 31"/>
            <p:cNvSpPr>
              <a:spLocks noChangeShapeType="1"/>
            </p:cNvSpPr>
            <p:nvPr/>
          </p:nvSpPr>
          <p:spPr bwMode="auto">
            <a:xfrm flipH="1" flipV="1">
              <a:off x="2381" y="1842"/>
              <a:ext cx="136" cy="46"/>
            </a:xfrm>
            <a:prstGeom prst="line">
              <a:avLst/>
            </a:prstGeom>
            <a:noFill/>
            <a:ln w="9525">
              <a:solidFill>
                <a:schemeClr val="tx1"/>
              </a:solidFill>
              <a:round/>
              <a:headEnd/>
              <a:tailEnd type="triangle" w="med" len="med"/>
            </a:ln>
          </p:spPr>
          <p:txBody>
            <a:bodyPr/>
            <a:lstStyle/>
            <a:p>
              <a:endParaRPr lang="th-TH"/>
            </a:p>
          </p:txBody>
        </p:sp>
        <p:sp>
          <p:nvSpPr>
            <p:cNvPr id="38944" name="Text Box 32"/>
            <p:cNvSpPr txBox="1">
              <a:spLocks noChangeArrowheads="1"/>
            </p:cNvSpPr>
            <p:nvPr/>
          </p:nvSpPr>
          <p:spPr bwMode="auto">
            <a:xfrm rot="1329981">
              <a:off x="2245" y="1706"/>
              <a:ext cx="182" cy="173"/>
            </a:xfrm>
            <a:prstGeom prst="rect">
              <a:avLst/>
            </a:prstGeom>
            <a:noFill/>
            <a:ln w="9525">
              <a:noFill/>
              <a:miter lim="800000"/>
              <a:headEnd/>
              <a:tailEnd/>
            </a:ln>
          </p:spPr>
          <p:txBody>
            <a:bodyPr>
              <a:spAutoFit/>
            </a:bodyPr>
            <a:lstStyle/>
            <a:p>
              <a:pPr>
                <a:spcBef>
                  <a:spcPct val="50000"/>
                </a:spcBef>
              </a:pPr>
              <a:r>
                <a:rPr lang="el-GR" sz="1200" b="1">
                  <a:latin typeface="Batang" pitchFamily="18" charset="-127"/>
                  <a:ea typeface="Batang" pitchFamily="18" charset="-127"/>
                  <a:cs typeface="Vrinda" pitchFamily="2" charset="0"/>
                </a:rPr>
                <a:t>θ</a:t>
              </a:r>
            </a:p>
          </p:txBody>
        </p:sp>
        <p:sp>
          <p:nvSpPr>
            <p:cNvPr id="38945" name="Text Box 33"/>
            <p:cNvSpPr txBox="1">
              <a:spLocks noChangeArrowheads="1"/>
            </p:cNvSpPr>
            <p:nvPr/>
          </p:nvSpPr>
          <p:spPr bwMode="auto">
            <a:xfrm>
              <a:off x="1837" y="2795"/>
              <a:ext cx="1225" cy="51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L=contact length</a:t>
              </a:r>
              <a:endParaRPr lang="th-TH" sz="2400">
                <a:latin typeface="Vrinda" pitchFamily="2" charset="0"/>
                <a:cs typeface="Angsana New" pitchFamily="18" charset="-34"/>
              </a:endParaRPr>
            </a:p>
          </p:txBody>
        </p:sp>
        <p:sp>
          <p:nvSpPr>
            <p:cNvPr id="38946" name="Line 34"/>
            <p:cNvSpPr>
              <a:spLocks noChangeShapeType="1"/>
            </p:cNvSpPr>
            <p:nvPr/>
          </p:nvSpPr>
          <p:spPr bwMode="auto">
            <a:xfrm>
              <a:off x="3379" y="2659"/>
              <a:ext cx="408" cy="0"/>
            </a:xfrm>
            <a:prstGeom prst="line">
              <a:avLst/>
            </a:prstGeom>
            <a:noFill/>
            <a:ln w="9525">
              <a:solidFill>
                <a:schemeClr val="tx1"/>
              </a:solidFill>
              <a:round/>
              <a:headEnd/>
              <a:tailEnd type="triangle" w="med" len="med"/>
            </a:ln>
          </p:spPr>
          <p:txBody>
            <a:bodyPr/>
            <a:lstStyle/>
            <a:p>
              <a:endParaRPr lang="th-TH"/>
            </a:p>
          </p:txBody>
        </p:sp>
        <p:sp>
          <p:nvSpPr>
            <p:cNvPr id="38947" name="Text Box 35"/>
            <p:cNvSpPr txBox="1">
              <a:spLocks noChangeArrowheads="1"/>
            </p:cNvSpPr>
            <p:nvPr/>
          </p:nvSpPr>
          <p:spPr bwMode="auto">
            <a:xfrm>
              <a:off x="2336" y="1888"/>
              <a:ext cx="1542"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R=roll radius</a:t>
              </a:r>
              <a:endParaRPr lang="th-TH" sz="2400">
                <a:latin typeface="Vrinda" pitchFamily="2" charset="0"/>
                <a:cs typeface="Angsana New" pitchFamily="18" charset="-34"/>
              </a:endParaRPr>
            </a:p>
          </p:txBody>
        </p:sp>
        <p:sp>
          <p:nvSpPr>
            <p:cNvPr id="38948" name="Text Box 36"/>
            <p:cNvSpPr txBox="1">
              <a:spLocks noChangeArrowheads="1"/>
            </p:cNvSpPr>
            <p:nvPr/>
          </p:nvSpPr>
          <p:spPr bwMode="auto">
            <a:xfrm>
              <a:off x="2517" y="2024"/>
              <a:ext cx="1225" cy="51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p=roll pressure</a:t>
              </a:r>
              <a:endParaRPr lang="th-TH" sz="2400">
                <a:latin typeface="Vrinda" pitchFamily="2" charset="0"/>
                <a:cs typeface="Angsana New" pitchFamily="18" charset="-34"/>
              </a:endParaRPr>
            </a:p>
          </p:txBody>
        </p:sp>
        <p:sp>
          <p:nvSpPr>
            <p:cNvPr id="38949" name="Text Box 37"/>
            <p:cNvSpPr txBox="1">
              <a:spLocks noChangeArrowheads="1"/>
            </p:cNvSpPr>
            <p:nvPr/>
          </p:nvSpPr>
          <p:spPr bwMode="auto">
            <a:xfrm>
              <a:off x="930" y="2341"/>
              <a:ext cx="277"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t</a:t>
              </a:r>
              <a:r>
                <a:rPr lang="en-US" sz="2400" baseline="-25000">
                  <a:latin typeface="Vrinda" pitchFamily="2" charset="0"/>
                  <a:cs typeface="Angsana New" pitchFamily="18" charset="-34"/>
                </a:rPr>
                <a:t>0</a:t>
              </a:r>
              <a:endParaRPr lang="th-TH" sz="2400">
                <a:latin typeface="Vrinda" pitchFamily="2" charset="0"/>
                <a:cs typeface="Angsana New" pitchFamily="18" charset="-34"/>
              </a:endParaRPr>
            </a:p>
          </p:txBody>
        </p:sp>
        <p:sp>
          <p:nvSpPr>
            <p:cNvPr id="38950" name="Line 38"/>
            <p:cNvSpPr>
              <a:spLocks noChangeShapeType="1"/>
            </p:cNvSpPr>
            <p:nvPr/>
          </p:nvSpPr>
          <p:spPr bwMode="auto">
            <a:xfrm>
              <a:off x="1020" y="2568"/>
              <a:ext cx="0" cy="137"/>
            </a:xfrm>
            <a:prstGeom prst="line">
              <a:avLst/>
            </a:prstGeom>
            <a:noFill/>
            <a:ln w="9525">
              <a:solidFill>
                <a:schemeClr val="tx1"/>
              </a:solidFill>
              <a:round/>
              <a:headEnd/>
              <a:tailEnd type="triangle" w="med" len="med"/>
            </a:ln>
          </p:spPr>
          <p:txBody>
            <a:bodyPr/>
            <a:lstStyle/>
            <a:p>
              <a:endParaRPr lang="th-TH"/>
            </a:p>
          </p:txBody>
        </p:sp>
        <p:sp>
          <p:nvSpPr>
            <p:cNvPr id="38951" name="Line 39"/>
            <p:cNvSpPr>
              <a:spLocks noChangeShapeType="1"/>
            </p:cNvSpPr>
            <p:nvPr/>
          </p:nvSpPr>
          <p:spPr bwMode="auto">
            <a:xfrm flipV="1">
              <a:off x="1020" y="2206"/>
              <a:ext cx="0" cy="181"/>
            </a:xfrm>
            <a:prstGeom prst="line">
              <a:avLst/>
            </a:prstGeom>
            <a:noFill/>
            <a:ln w="9525">
              <a:solidFill>
                <a:schemeClr val="tx1"/>
              </a:solidFill>
              <a:round/>
              <a:headEnd/>
              <a:tailEnd type="triangle" w="med" len="med"/>
            </a:ln>
          </p:spPr>
          <p:txBody>
            <a:bodyPr/>
            <a:lstStyle/>
            <a:p>
              <a:endParaRPr lang="th-TH"/>
            </a:p>
          </p:txBody>
        </p:sp>
        <p:sp>
          <p:nvSpPr>
            <p:cNvPr id="38952" name="Text Box 40"/>
            <p:cNvSpPr txBox="1">
              <a:spLocks noChangeArrowheads="1"/>
            </p:cNvSpPr>
            <p:nvPr/>
          </p:nvSpPr>
          <p:spPr bwMode="auto">
            <a:xfrm>
              <a:off x="793" y="1570"/>
              <a:ext cx="1169" cy="51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Roll speed,v</a:t>
              </a:r>
              <a:r>
                <a:rPr lang="en-US" sz="2400" baseline="-25000">
                  <a:latin typeface="Vrinda" pitchFamily="2" charset="0"/>
                  <a:cs typeface="Angsana New" pitchFamily="18" charset="-34"/>
                </a:rPr>
                <a:t>t</a:t>
              </a:r>
              <a:endParaRPr lang="th-TH" sz="2400">
                <a:latin typeface="Vrinda" pitchFamily="2" charset="0"/>
                <a:cs typeface="Angsana New" pitchFamily="18" charset="-34"/>
              </a:endParaRPr>
            </a:p>
          </p:txBody>
        </p:sp>
        <p:sp>
          <p:nvSpPr>
            <p:cNvPr id="38953" name="Text Box 41"/>
            <p:cNvSpPr txBox="1">
              <a:spLocks noChangeArrowheads="1"/>
            </p:cNvSpPr>
            <p:nvPr/>
          </p:nvSpPr>
          <p:spPr bwMode="auto">
            <a:xfrm>
              <a:off x="1429" y="3339"/>
              <a:ext cx="334"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v</a:t>
              </a:r>
              <a:r>
                <a:rPr lang="en-US" sz="2400" baseline="-25000">
                  <a:latin typeface="Vrinda" pitchFamily="2" charset="0"/>
                  <a:cs typeface="Angsana New" pitchFamily="18" charset="-34"/>
                </a:rPr>
                <a:t>t</a:t>
              </a:r>
              <a:endParaRPr lang="th-TH" sz="2400">
                <a:latin typeface="Vrinda" pitchFamily="2" charset="0"/>
                <a:cs typeface="Angsana New" pitchFamily="18" charset="-34"/>
              </a:endParaRPr>
            </a:p>
          </p:txBody>
        </p:sp>
        <p:sp>
          <p:nvSpPr>
            <p:cNvPr id="38954" name="Text Box 42"/>
            <p:cNvSpPr txBox="1">
              <a:spLocks noChangeArrowheads="1"/>
            </p:cNvSpPr>
            <p:nvPr/>
          </p:nvSpPr>
          <p:spPr bwMode="auto">
            <a:xfrm>
              <a:off x="1156" y="2795"/>
              <a:ext cx="334"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v</a:t>
              </a:r>
              <a:r>
                <a:rPr lang="en-US" sz="2400" baseline="-25000">
                  <a:latin typeface="Vrinda" pitchFamily="2" charset="0"/>
                  <a:cs typeface="Angsana New" pitchFamily="18" charset="-34"/>
                </a:rPr>
                <a:t>0</a:t>
              </a:r>
              <a:endParaRPr lang="th-TH" sz="2400">
                <a:latin typeface="Vrinda" pitchFamily="2" charset="0"/>
                <a:cs typeface="Angsana New" pitchFamily="18" charset="-34"/>
              </a:endParaRPr>
            </a:p>
          </p:txBody>
        </p:sp>
        <p:sp>
          <p:nvSpPr>
            <p:cNvPr id="38955" name="Text Box 43"/>
            <p:cNvSpPr txBox="1">
              <a:spLocks noChangeArrowheads="1"/>
            </p:cNvSpPr>
            <p:nvPr/>
          </p:nvSpPr>
          <p:spPr bwMode="auto">
            <a:xfrm>
              <a:off x="3469" y="2614"/>
              <a:ext cx="335"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v</a:t>
              </a:r>
              <a:r>
                <a:rPr lang="en-US" sz="2400" baseline="-25000">
                  <a:latin typeface="Vrinda" pitchFamily="2" charset="0"/>
                  <a:cs typeface="Angsana New" pitchFamily="18" charset="-34"/>
                </a:rPr>
                <a:t>t</a:t>
              </a:r>
              <a:endParaRPr lang="th-TH" sz="2400">
                <a:latin typeface="Vrinda" pitchFamily="2" charset="0"/>
                <a:cs typeface="Angsana New" pitchFamily="18" charset="-34"/>
              </a:endParaRPr>
            </a:p>
          </p:txBody>
        </p:sp>
        <p:sp>
          <p:nvSpPr>
            <p:cNvPr id="38956" name="Text Box 44"/>
            <p:cNvSpPr txBox="1">
              <a:spLocks noChangeArrowheads="1"/>
            </p:cNvSpPr>
            <p:nvPr/>
          </p:nvSpPr>
          <p:spPr bwMode="auto">
            <a:xfrm>
              <a:off x="4014" y="2337"/>
              <a:ext cx="279"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t</a:t>
              </a:r>
              <a:r>
                <a:rPr lang="en-US" sz="2400" baseline="-25000">
                  <a:latin typeface="Vrinda" pitchFamily="2" charset="0"/>
                  <a:cs typeface="Angsana New" pitchFamily="18" charset="-34"/>
                </a:rPr>
                <a:t>t</a:t>
              </a:r>
              <a:endParaRPr lang="th-TH" sz="2400">
                <a:latin typeface="Vrinda" pitchFamily="2" charset="0"/>
                <a:cs typeface="Angsana New" pitchFamily="18" charset="-34"/>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762000" y="320675"/>
            <a:ext cx="7772400" cy="1143000"/>
          </a:xfrm>
        </p:spPr>
        <p:txBody>
          <a:bodyPr/>
          <a:lstStyle/>
          <a:p>
            <a:pPr eaLnBrk="1" hangingPunct="1"/>
            <a:r>
              <a:rPr lang="en-US"/>
              <a:t>Distorted roll</a:t>
            </a:r>
            <a:endParaRPr lang="th-TH"/>
          </a:p>
        </p:txBody>
      </p:sp>
      <p:grpSp>
        <p:nvGrpSpPr>
          <p:cNvPr id="2" name="Group 49"/>
          <p:cNvGrpSpPr>
            <a:grpSpLocks/>
          </p:cNvGrpSpPr>
          <p:nvPr/>
        </p:nvGrpSpPr>
        <p:grpSpPr bwMode="auto">
          <a:xfrm>
            <a:off x="2571750" y="2608263"/>
            <a:ext cx="3095625" cy="1296987"/>
            <a:chOff x="1620" y="1643"/>
            <a:chExt cx="1950" cy="817"/>
          </a:xfrm>
        </p:grpSpPr>
        <p:sp>
          <p:nvSpPr>
            <p:cNvPr id="39976" name="Rectangle 6"/>
            <p:cNvSpPr>
              <a:spLocks noChangeArrowheads="1"/>
            </p:cNvSpPr>
            <p:nvPr/>
          </p:nvSpPr>
          <p:spPr bwMode="auto">
            <a:xfrm>
              <a:off x="1620" y="1643"/>
              <a:ext cx="1950" cy="318"/>
            </a:xfrm>
            <a:prstGeom prst="rect">
              <a:avLst/>
            </a:prstGeom>
            <a:solidFill>
              <a:schemeClr val="bg1"/>
            </a:solidFill>
            <a:ln w="9525">
              <a:solidFill>
                <a:schemeClr val="tx1"/>
              </a:solidFill>
              <a:miter lim="800000"/>
              <a:headEnd/>
              <a:tailEnd/>
            </a:ln>
          </p:spPr>
          <p:txBody>
            <a:bodyPr wrap="none" anchor="ctr"/>
            <a:lstStyle/>
            <a:p>
              <a:endParaRPr lang="th-TH"/>
            </a:p>
          </p:txBody>
        </p:sp>
        <p:sp>
          <p:nvSpPr>
            <p:cNvPr id="39977" name="Rectangle 7"/>
            <p:cNvSpPr>
              <a:spLocks noChangeArrowheads="1"/>
            </p:cNvSpPr>
            <p:nvPr/>
          </p:nvSpPr>
          <p:spPr bwMode="auto">
            <a:xfrm>
              <a:off x="1620" y="2142"/>
              <a:ext cx="1950" cy="318"/>
            </a:xfrm>
            <a:prstGeom prst="rect">
              <a:avLst/>
            </a:prstGeom>
            <a:solidFill>
              <a:schemeClr val="bg1"/>
            </a:solidFill>
            <a:ln w="9525">
              <a:solidFill>
                <a:schemeClr val="tx1"/>
              </a:solidFill>
              <a:miter lim="800000"/>
              <a:headEnd/>
              <a:tailEnd/>
            </a:ln>
          </p:spPr>
          <p:txBody>
            <a:bodyPr wrap="none" anchor="ctr"/>
            <a:lstStyle/>
            <a:p>
              <a:endParaRPr lang="th-TH"/>
            </a:p>
          </p:txBody>
        </p:sp>
      </p:grpSp>
      <p:sp>
        <p:nvSpPr>
          <p:cNvPr id="39940" name="Rectangle 8"/>
          <p:cNvSpPr>
            <a:spLocks noChangeArrowheads="1"/>
          </p:cNvSpPr>
          <p:nvPr/>
        </p:nvSpPr>
        <p:spPr bwMode="auto">
          <a:xfrm>
            <a:off x="5667375" y="2681288"/>
            <a:ext cx="215900" cy="360362"/>
          </a:xfrm>
          <a:prstGeom prst="rect">
            <a:avLst/>
          </a:prstGeom>
          <a:solidFill>
            <a:schemeClr val="bg1"/>
          </a:solidFill>
          <a:ln w="9525">
            <a:solidFill>
              <a:schemeClr val="tx1"/>
            </a:solidFill>
            <a:miter lim="800000"/>
            <a:headEnd/>
            <a:tailEnd/>
          </a:ln>
        </p:spPr>
        <p:txBody>
          <a:bodyPr wrap="none" anchor="ctr"/>
          <a:lstStyle/>
          <a:p>
            <a:endParaRPr lang="th-TH"/>
          </a:p>
        </p:txBody>
      </p:sp>
      <p:sp>
        <p:nvSpPr>
          <p:cNvPr id="39941" name="Rectangle 9" descr="Dark horizontal"/>
          <p:cNvSpPr>
            <a:spLocks noChangeArrowheads="1"/>
          </p:cNvSpPr>
          <p:nvPr/>
        </p:nvSpPr>
        <p:spPr bwMode="auto">
          <a:xfrm>
            <a:off x="5883275" y="3544888"/>
            <a:ext cx="215900" cy="215900"/>
          </a:xfrm>
          <a:prstGeom prst="rect">
            <a:avLst/>
          </a:prstGeom>
          <a:pattFill prst="dkHorz">
            <a:fgClr>
              <a:schemeClr val="tx1"/>
            </a:fgClr>
            <a:bgClr>
              <a:schemeClr val="bg1"/>
            </a:bgClr>
          </a:pattFill>
          <a:ln w="9525">
            <a:solidFill>
              <a:schemeClr val="tx1"/>
            </a:solidFill>
            <a:miter lim="800000"/>
            <a:headEnd/>
            <a:tailEnd/>
          </a:ln>
        </p:spPr>
        <p:txBody>
          <a:bodyPr wrap="none" anchor="ctr"/>
          <a:lstStyle/>
          <a:p>
            <a:endParaRPr lang="th-TH"/>
          </a:p>
        </p:txBody>
      </p:sp>
      <p:sp>
        <p:nvSpPr>
          <p:cNvPr id="39942" name="Rectangle 10" descr="Dark horizontal"/>
          <p:cNvSpPr>
            <a:spLocks noChangeArrowheads="1"/>
          </p:cNvSpPr>
          <p:nvPr/>
        </p:nvSpPr>
        <p:spPr bwMode="auto">
          <a:xfrm>
            <a:off x="2138363" y="3544888"/>
            <a:ext cx="215900" cy="215900"/>
          </a:xfrm>
          <a:prstGeom prst="rect">
            <a:avLst/>
          </a:prstGeom>
          <a:pattFill prst="dkHorz">
            <a:fgClr>
              <a:schemeClr val="tx1"/>
            </a:fgClr>
            <a:bgClr>
              <a:schemeClr val="bg1"/>
            </a:bgClr>
          </a:pattFill>
          <a:ln w="9525">
            <a:solidFill>
              <a:schemeClr val="tx1"/>
            </a:solidFill>
            <a:miter lim="800000"/>
            <a:headEnd/>
            <a:tailEnd/>
          </a:ln>
        </p:spPr>
        <p:txBody>
          <a:bodyPr wrap="none" anchor="ctr"/>
          <a:lstStyle/>
          <a:p>
            <a:endParaRPr lang="th-TH"/>
          </a:p>
        </p:txBody>
      </p:sp>
      <p:sp>
        <p:nvSpPr>
          <p:cNvPr id="39943" name="Rectangle 11" descr="Dark horizontal"/>
          <p:cNvSpPr>
            <a:spLocks noChangeArrowheads="1"/>
          </p:cNvSpPr>
          <p:nvPr/>
        </p:nvSpPr>
        <p:spPr bwMode="auto">
          <a:xfrm>
            <a:off x="2138363" y="2752725"/>
            <a:ext cx="215900" cy="215900"/>
          </a:xfrm>
          <a:prstGeom prst="rect">
            <a:avLst/>
          </a:prstGeom>
          <a:pattFill prst="dkHorz">
            <a:fgClr>
              <a:schemeClr val="tx1"/>
            </a:fgClr>
            <a:bgClr>
              <a:schemeClr val="bg1"/>
            </a:bgClr>
          </a:pattFill>
          <a:ln w="9525">
            <a:solidFill>
              <a:schemeClr val="tx1"/>
            </a:solidFill>
            <a:miter lim="800000"/>
            <a:headEnd/>
            <a:tailEnd/>
          </a:ln>
        </p:spPr>
        <p:txBody>
          <a:bodyPr wrap="none" anchor="ctr"/>
          <a:lstStyle/>
          <a:p>
            <a:endParaRPr lang="th-TH"/>
          </a:p>
        </p:txBody>
      </p:sp>
      <p:sp>
        <p:nvSpPr>
          <p:cNvPr id="39944" name="Rectangle 12" descr="Dark horizontal"/>
          <p:cNvSpPr>
            <a:spLocks noChangeArrowheads="1"/>
          </p:cNvSpPr>
          <p:nvPr/>
        </p:nvSpPr>
        <p:spPr bwMode="auto">
          <a:xfrm>
            <a:off x="5883275" y="2752725"/>
            <a:ext cx="215900" cy="215900"/>
          </a:xfrm>
          <a:prstGeom prst="rect">
            <a:avLst/>
          </a:prstGeom>
          <a:pattFill prst="dkHorz">
            <a:fgClr>
              <a:schemeClr val="tx1"/>
            </a:fgClr>
            <a:bgClr>
              <a:schemeClr val="bg1"/>
            </a:bgClr>
          </a:pattFill>
          <a:ln w="9525">
            <a:solidFill>
              <a:schemeClr val="tx1"/>
            </a:solidFill>
            <a:miter lim="800000"/>
            <a:headEnd/>
            <a:tailEnd/>
          </a:ln>
        </p:spPr>
        <p:txBody>
          <a:bodyPr wrap="none" anchor="ctr"/>
          <a:lstStyle/>
          <a:p>
            <a:endParaRPr lang="th-TH"/>
          </a:p>
        </p:txBody>
      </p:sp>
      <p:sp>
        <p:nvSpPr>
          <p:cNvPr id="39945" name="Rectangle 13"/>
          <p:cNvSpPr>
            <a:spLocks noChangeArrowheads="1"/>
          </p:cNvSpPr>
          <p:nvPr/>
        </p:nvSpPr>
        <p:spPr bwMode="auto">
          <a:xfrm>
            <a:off x="2354263" y="2681288"/>
            <a:ext cx="215900" cy="360362"/>
          </a:xfrm>
          <a:prstGeom prst="rect">
            <a:avLst/>
          </a:prstGeom>
          <a:solidFill>
            <a:schemeClr val="bg1"/>
          </a:solidFill>
          <a:ln w="9525">
            <a:solidFill>
              <a:schemeClr val="tx1"/>
            </a:solidFill>
            <a:miter lim="800000"/>
            <a:headEnd/>
            <a:tailEnd/>
          </a:ln>
        </p:spPr>
        <p:txBody>
          <a:bodyPr wrap="none" anchor="ctr"/>
          <a:lstStyle/>
          <a:p>
            <a:endParaRPr lang="th-TH"/>
          </a:p>
        </p:txBody>
      </p:sp>
      <p:sp>
        <p:nvSpPr>
          <p:cNvPr id="39946" name="Rectangle 14"/>
          <p:cNvSpPr>
            <a:spLocks noChangeArrowheads="1"/>
          </p:cNvSpPr>
          <p:nvPr/>
        </p:nvSpPr>
        <p:spPr bwMode="auto">
          <a:xfrm>
            <a:off x="2354263" y="3473450"/>
            <a:ext cx="215900" cy="360363"/>
          </a:xfrm>
          <a:prstGeom prst="rect">
            <a:avLst/>
          </a:prstGeom>
          <a:solidFill>
            <a:schemeClr val="bg1"/>
          </a:solidFill>
          <a:ln w="9525">
            <a:solidFill>
              <a:schemeClr val="tx1"/>
            </a:solidFill>
            <a:miter lim="800000"/>
            <a:headEnd/>
            <a:tailEnd/>
          </a:ln>
        </p:spPr>
        <p:txBody>
          <a:bodyPr wrap="none" anchor="ctr"/>
          <a:lstStyle/>
          <a:p>
            <a:endParaRPr lang="th-TH"/>
          </a:p>
        </p:txBody>
      </p:sp>
      <p:sp>
        <p:nvSpPr>
          <p:cNvPr id="39947" name="Rectangle 15"/>
          <p:cNvSpPr>
            <a:spLocks noChangeArrowheads="1"/>
          </p:cNvSpPr>
          <p:nvPr/>
        </p:nvSpPr>
        <p:spPr bwMode="auto">
          <a:xfrm>
            <a:off x="5667375" y="3473450"/>
            <a:ext cx="215900" cy="360363"/>
          </a:xfrm>
          <a:prstGeom prst="rect">
            <a:avLst/>
          </a:prstGeom>
          <a:solidFill>
            <a:schemeClr val="bg1"/>
          </a:solidFill>
          <a:ln w="9525">
            <a:solidFill>
              <a:schemeClr val="tx1"/>
            </a:solidFill>
            <a:miter lim="800000"/>
            <a:headEnd/>
            <a:tailEnd/>
          </a:ln>
        </p:spPr>
        <p:txBody>
          <a:bodyPr wrap="none" anchor="ctr"/>
          <a:lstStyle/>
          <a:p>
            <a:endParaRPr lang="th-TH"/>
          </a:p>
        </p:txBody>
      </p:sp>
      <p:grpSp>
        <p:nvGrpSpPr>
          <p:cNvPr id="3" name="Group 48"/>
          <p:cNvGrpSpPr>
            <a:grpSpLocks/>
          </p:cNvGrpSpPr>
          <p:nvPr/>
        </p:nvGrpSpPr>
        <p:grpSpPr bwMode="auto">
          <a:xfrm>
            <a:off x="2571750" y="2392363"/>
            <a:ext cx="3095625" cy="1728787"/>
            <a:chOff x="1620" y="1507"/>
            <a:chExt cx="1950" cy="1089"/>
          </a:xfrm>
        </p:grpSpPr>
        <p:sp>
          <p:nvSpPr>
            <p:cNvPr id="39972" name="Arc 4"/>
            <p:cNvSpPr>
              <a:spLocks/>
            </p:cNvSpPr>
            <p:nvPr/>
          </p:nvSpPr>
          <p:spPr bwMode="auto">
            <a:xfrm>
              <a:off x="1620" y="1507"/>
              <a:ext cx="1950" cy="272"/>
            </a:xfrm>
            <a:custGeom>
              <a:avLst/>
              <a:gdLst>
                <a:gd name="T0" fmla="*/ 44 w 43200"/>
                <a:gd name="T1" fmla="*/ 0 h 43200"/>
                <a:gd name="T2" fmla="*/ 44 w 43200"/>
                <a:gd name="T3" fmla="*/ 0 h 43200"/>
                <a:gd name="T4" fmla="*/ 44 w 43200"/>
                <a:gd name="T5" fmla="*/ 1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678"/>
                    <a:pt x="9658" y="11"/>
                    <a:pt x="21580" y="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678"/>
                    <a:pt x="9658" y="11"/>
                    <a:pt x="21580" y="0"/>
                  </a:cubicBezTo>
                  <a:lnTo>
                    <a:pt x="21600" y="21600"/>
                  </a:lnTo>
                  <a:close/>
                </a:path>
              </a:pathLst>
            </a:custGeom>
            <a:noFill/>
            <a:ln w="9525">
              <a:solidFill>
                <a:schemeClr val="tx1"/>
              </a:solidFill>
              <a:prstDash val="lgDash"/>
              <a:round/>
              <a:headEnd/>
              <a:tailEnd/>
            </a:ln>
          </p:spPr>
          <p:txBody>
            <a:bodyPr wrap="none" anchor="ctr"/>
            <a:lstStyle/>
            <a:p>
              <a:endParaRPr lang="th-TH"/>
            </a:p>
          </p:txBody>
        </p:sp>
        <p:sp>
          <p:nvSpPr>
            <p:cNvPr id="39973" name="Arc 5"/>
            <p:cNvSpPr>
              <a:spLocks/>
            </p:cNvSpPr>
            <p:nvPr/>
          </p:nvSpPr>
          <p:spPr bwMode="auto">
            <a:xfrm>
              <a:off x="1620" y="2324"/>
              <a:ext cx="1950" cy="272"/>
            </a:xfrm>
            <a:custGeom>
              <a:avLst/>
              <a:gdLst>
                <a:gd name="T0" fmla="*/ 44 w 43200"/>
                <a:gd name="T1" fmla="*/ 0 h 43200"/>
                <a:gd name="T2" fmla="*/ 44 w 43200"/>
                <a:gd name="T3" fmla="*/ 0 h 43200"/>
                <a:gd name="T4" fmla="*/ 44 w 43200"/>
                <a:gd name="T5" fmla="*/ 1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678"/>
                    <a:pt x="9658" y="11"/>
                    <a:pt x="21580" y="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678"/>
                    <a:pt x="9658" y="11"/>
                    <a:pt x="21580" y="0"/>
                  </a:cubicBezTo>
                  <a:lnTo>
                    <a:pt x="21600" y="21600"/>
                  </a:lnTo>
                  <a:close/>
                </a:path>
              </a:pathLst>
            </a:custGeom>
            <a:noFill/>
            <a:ln w="9525">
              <a:solidFill>
                <a:schemeClr val="tx1"/>
              </a:solidFill>
              <a:prstDash val="lgDash"/>
              <a:round/>
              <a:headEnd/>
              <a:tailEnd/>
            </a:ln>
          </p:spPr>
          <p:txBody>
            <a:bodyPr wrap="none" anchor="ctr"/>
            <a:lstStyle/>
            <a:p>
              <a:endParaRPr lang="th-TH"/>
            </a:p>
          </p:txBody>
        </p:sp>
        <p:sp>
          <p:nvSpPr>
            <p:cNvPr id="39974" name="Arc 16"/>
            <p:cNvSpPr>
              <a:spLocks/>
            </p:cNvSpPr>
            <p:nvPr/>
          </p:nvSpPr>
          <p:spPr bwMode="auto">
            <a:xfrm>
              <a:off x="1620" y="2006"/>
              <a:ext cx="1950" cy="272"/>
            </a:xfrm>
            <a:custGeom>
              <a:avLst/>
              <a:gdLst>
                <a:gd name="T0" fmla="*/ 44 w 43200"/>
                <a:gd name="T1" fmla="*/ 0 h 43200"/>
                <a:gd name="T2" fmla="*/ 44 w 43200"/>
                <a:gd name="T3" fmla="*/ 0 h 43200"/>
                <a:gd name="T4" fmla="*/ 44 w 43200"/>
                <a:gd name="T5" fmla="*/ 1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678"/>
                    <a:pt x="9658" y="11"/>
                    <a:pt x="21580" y="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678"/>
                    <a:pt x="9658" y="11"/>
                    <a:pt x="21580" y="0"/>
                  </a:cubicBezTo>
                  <a:lnTo>
                    <a:pt x="21600" y="21600"/>
                  </a:lnTo>
                  <a:close/>
                </a:path>
              </a:pathLst>
            </a:custGeom>
            <a:noFill/>
            <a:ln w="9525">
              <a:solidFill>
                <a:schemeClr val="tx1"/>
              </a:solidFill>
              <a:prstDash val="lgDash"/>
              <a:round/>
              <a:headEnd/>
              <a:tailEnd/>
            </a:ln>
          </p:spPr>
          <p:txBody>
            <a:bodyPr wrap="none" anchor="ctr"/>
            <a:lstStyle/>
            <a:p>
              <a:endParaRPr lang="th-TH"/>
            </a:p>
          </p:txBody>
        </p:sp>
        <p:sp>
          <p:nvSpPr>
            <p:cNvPr id="39975" name="Arc 17"/>
            <p:cNvSpPr>
              <a:spLocks/>
            </p:cNvSpPr>
            <p:nvPr/>
          </p:nvSpPr>
          <p:spPr bwMode="auto">
            <a:xfrm>
              <a:off x="1620" y="1825"/>
              <a:ext cx="1950" cy="272"/>
            </a:xfrm>
            <a:custGeom>
              <a:avLst/>
              <a:gdLst>
                <a:gd name="T0" fmla="*/ 44 w 43200"/>
                <a:gd name="T1" fmla="*/ 0 h 43200"/>
                <a:gd name="T2" fmla="*/ 44 w 43200"/>
                <a:gd name="T3" fmla="*/ 0 h 43200"/>
                <a:gd name="T4" fmla="*/ 44 w 43200"/>
                <a:gd name="T5" fmla="*/ 1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678"/>
                    <a:pt x="9658" y="11"/>
                    <a:pt x="21580" y="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678"/>
                    <a:pt x="9658" y="11"/>
                    <a:pt x="21580" y="0"/>
                  </a:cubicBezTo>
                  <a:lnTo>
                    <a:pt x="21600" y="21600"/>
                  </a:lnTo>
                  <a:close/>
                </a:path>
              </a:pathLst>
            </a:custGeom>
            <a:noFill/>
            <a:ln w="9525">
              <a:solidFill>
                <a:schemeClr val="tx1"/>
              </a:solidFill>
              <a:prstDash val="lgDash"/>
              <a:round/>
              <a:headEnd/>
              <a:tailEnd/>
            </a:ln>
          </p:spPr>
          <p:txBody>
            <a:bodyPr wrap="none" anchor="ctr"/>
            <a:lstStyle/>
            <a:p>
              <a:endParaRPr lang="th-TH"/>
            </a:p>
          </p:txBody>
        </p:sp>
      </p:grpSp>
      <p:sp>
        <p:nvSpPr>
          <p:cNvPr id="39949" name="Freeform 18"/>
          <p:cNvSpPr>
            <a:spLocks/>
          </p:cNvSpPr>
          <p:nvPr/>
        </p:nvSpPr>
        <p:spPr bwMode="auto">
          <a:xfrm>
            <a:off x="2544763" y="3117850"/>
            <a:ext cx="3125787" cy="242888"/>
          </a:xfrm>
          <a:custGeom>
            <a:avLst/>
            <a:gdLst>
              <a:gd name="T0" fmla="*/ 63500 w 1969"/>
              <a:gd name="T1" fmla="*/ 14288 h 153"/>
              <a:gd name="T2" fmla="*/ 0 w 1969"/>
              <a:gd name="T3" fmla="*/ 7938 h 153"/>
              <a:gd name="T4" fmla="*/ 6350 w 1969"/>
              <a:gd name="T5" fmla="*/ 84138 h 153"/>
              <a:gd name="T6" fmla="*/ 139700 w 1969"/>
              <a:gd name="T7" fmla="*/ 141288 h 153"/>
              <a:gd name="T8" fmla="*/ 254000 w 1969"/>
              <a:gd name="T9" fmla="*/ 166688 h 153"/>
              <a:gd name="T10" fmla="*/ 400050 w 1969"/>
              <a:gd name="T11" fmla="*/ 211138 h 153"/>
              <a:gd name="T12" fmla="*/ 673100 w 1969"/>
              <a:gd name="T13" fmla="*/ 217488 h 153"/>
              <a:gd name="T14" fmla="*/ 730250 w 1969"/>
              <a:gd name="T15" fmla="*/ 230188 h 153"/>
              <a:gd name="T16" fmla="*/ 781050 w 1969"/>
              <a:gd name="T17" fmla="*/ 242888 h 153"/>
              <a:gd name="T18" fmla="*/ 2889250 w 1969"/>
              <a:gd name="T19" fmla="*/ 230188 h 153"/>
              <a:gd name="T20" fmla="*/ 3003550 w 1969"/>
              <a:gd name="T21" fmla="*/ 147638 h 153"/>
              <a:gd name="T22" fmla="*/ 3028950 w 1969"/>
              <a:gd name="T23" fmla="*/ 134938 h 153"/>
              <a:gd name="T24" fmla="*/ 3054350 w 1969"/>
              <a:gd name="T25" fmla="*/ 128588 h 153"/>
              <a:gd name="T26" fmla="*/ 3111500 w 1969"/>
              <a:gd name="T27" fmla="*/ 90488 h 153"/>
              <a:gd name="T28" fmla="*/ 3111500 w 1969"/>
              <a:gd name="T29" fmla="*/ 26988 h 153"/>
              <a:gd name="T30" fmla="*/ 3117850 w 1969"/>
              <a:gd name="T31" fmla="*/ 7938 h 153"/>
              <a:gd name="T32" fmla="*/ 3028950 w 1969"/>
              <a:gd name="T33" fmla="*/ 14288 h 153"/>
              <a:gd name="T34" fmla="*/ 2946400 w 1969"/>
              <a:gd name="T35" fmla="*/ 58738 h 153"/>
              <a:gd name="T36" fmla="*/ 2711450 w 1969"/>
              <a:gd name="T37" fmla="*/ 65088 h 153"/>
              <a:gd name="T38" fmla="*/ 2152650 w 1969"/>
              <a:gd name="T39" fmla="*/ 96838 h 153"/>
              <a:gd name="T40" fmla="*/ 901700 w 1969"/>
              <a:gd name="T41" fmla="*/ 90488 h 153"/>
              <a:gd name="T42" fmla="*/ 723900 w 1969"/>
              <a:gd name="T43" fmla="*/ 52388 h 153"/>
              <a:gd name="T44" fmla="*/ 342900 w 1969"/>
              <a:gd name="T45" fmla="*/ 46038 h 153"/>
              <a:gd name="T46" fmla="*/ 146050 w 1969"/>
              <a:gd name="T47" fmla="*/ 39688 h 153"/>
              <a:gd name="T48" fmla="*/ 63500 w 1969"/>
              <a:gd name="T49" fmla="*/ 14288 h 15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69"/>
              <a:gd name="T76" fmla="*/ 0 h 153"/>
              <a:gd name="T77" fmla="*/ 1969 w 1969"/>
              <a:gd name="T78" fmla="*/ 153 h 15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69" h="153">
                <a:moveTo>
                  <a:pt x="40" y="9"/>
                </a:moveTo>
                <a:cubicBezTo>
                  <a:pt x="24" y="5"/>
                  <a:pt x="16" y="0"/>
                  <a:pt x="0" y="5"/>
                </a:cubicBezTo>
                <a:cubicBezTo>
                  <a:pt x="1" y="21"/>
                  <a:pt x="1" y="37"/>
                  <a:pt x="4" y="53"/>
                </a:cubicBezTo>
                <a:cubicBezTo>
                  <a:pt x="10" y="83"/>
                  <a:pt x="67" y="86"/>
                  <a:pt x="88" y="89"/>
                </a:cubicBezTo>
                <a:cubicBezTo>
                  <a:pt x="112" y="97"/>
                  <a:pt x="136" y="98"/>
                  <a:pt x="160" y="105"/>
                </a:cubicBezTo>
                <a:cubicBezTo>
                  <a:pt x="190" y="114"/>
                  <a:pt x="220" y="132"/>
                  <a:pt x="252" y="133"/>
                </a:cubicBezTo>
                <a:cubicBezTo>
                  <a:pt x="309" y="135"/>
                  <a:pt x="367" y="136"/>
                  <a:pt x="424" y="137"/>
                </a:cubicBezTo>
                <a:cubicBezTo>
                  <a:pt x="474" y="145"/>
                  <a:pt x="429" y="137"/>
                  <a:pt x="460" y="145"/>
                </a:cubicBezTo>
                <a:cubicBezTo>
                  <a:pt x="471" y="148"/>
                  <a:pt x="492" y="153"/>
                  <a:pt x="492" y="153"/>
                </a:cubicBezTo>
                <a:cubicBezTo>
                  <a:pt x="935" y="150"/>
                  <a:pt x="1377" y="152"/>
                  <a:pt x="1820" y="145"/>
                </a:cubicBezTo>
                <a:cubicBezTo>
                  <a:pt x="1848" y="145"/>
                  <a:pt x="1864" y="99"/>
                  <a:pt x="1892" y="93"/>
                </a:cubicBezTo>
                <a:cubicBezTo>
                  <a:pt x="1897" y="90"/>
                  <a:pt x="1902" y="87"/>
                  <a:pt x="1908" y="85"/>
                </a:cubicBezTo>
                <a:cubicBezTo>
                  <a:pt x="1913" y="83"/>
                  <a:pt x="1919" y="83"/>
                  <a:pt x="1924" y="81"/>
                </a:cubicBezTo>
                <a:cubicBezTo>
                  <a:pt x="1939" y="75"/>
                  <a:pt x="1944" y="62"/>
                  <a:pt x="1960" y="57"/>
                </a:cubicBezTo>
                <a:cubicBezTo>
                  <a:pt x="1969" y="30"/>
                  <a:pt x="1960" y="63"/>
                  <a:pt x="1960" y="17"/>
                </a:cubicBezTo>
                <a:cubicBezTo>
                  <a:pt x="1960" y="13"/>
                  <a:pt x="1968" y="6"/>
                  <a:pt x="1964" y="5"/>
                </a:cubicBezTo>
                <a:cubicBezTo>
                  <a:pt x="1946" y="2"/>
                  <a:pt x="1927" y="8"/>
                  <a:pt x="1908" y="9"/>
                </a:cubicBezTo>
                <a:cubicBezTo>
                  <a:pt x="1887" y="13"/>
                  <a:pt x="1873" y="36"/>
                  <a:pt x="1856" y="37"/>
                </a:cubicBezTo>
                <a:cubicBezTo>
                  <a:pt x="1807" y="39"/>
                  <a:pt x="1757" y="40"/>
                  <a:pt x="1708" y="41"/>
                </a:cubicBezTo>
                <a:cubicBezTo>
                  <a:pt x="1623" y="62"/>
                  <a:pt x="1449" y="56"/>
                  <a:pt x="1356" y="61"/>
                </a:cubicBezTo>
                <a:cubicBezTo>
                  <a:pt x="1093" y="60"/>
                  <a:pt x="831" y="60"/>
                  <a:pt x="568" y="57"/>
                </a:cubicBezTo>
                <a:cubicBezTo>
                  <a:pt x="531" y="57"/>
                  <a:pt x="493" y="34"/>
                  <a:pt x="456" y="33"/>
                </a:cubicBezTo>
                <a:cubicBezTo>
                  <a:pt x="376" y="30"/>
                  <a:pt x="296" y="31"/>
                  <a:pt x="216" y="29"/>
                </a:cubicBezTo>
                <a:cubicBezTo>
                  <a:pt x="175" y="28"/>
                  <a:pt x="133" y="26"/>
                  <a:pt x="92" y="25"/>
                </a:cubicBezTo>
                <a:cubicBezTo>
                  <a:pt x="72" y="21"/>
                  <a:pt x="60" y="13"/>
                  <a:pt x="40" y="9"/>
                </a:cubicBezTo>
                <a:close/>
              </a:path>
            </a:pathLst>
          </a:custGeom>
          <a:solidFill>
            <a:schemeClr val="bg1"/>
          </a:solidFill>
          <a:ln w="9525">
            <a:solidFill>
              <a:schemeClr val="bg1"/>
            </a:solidFill>
            <a:round/>
            <a:headEnd/>
            <a:tailEnd/>
          </a:ln>
        </p:spPr>
        <p:txBody>
          <a:bodyPr/>
          <a:lstStyle/>
          <a:p>
            <a:endParaRPr lang="th-TH"/>
          </a:p>
        </p:txBody>
      </p:sp>
      <p:sp>
        <p:nvSpPr>
          <p:cNvPr id="39950" name="Freeform 19"/>
          <p:cNvSpPr>
            <a:spLocks/>
          </p:cNvSpPr>
          <p:nvPr/>
        </p:nvSpPr>
        <p:spPr bwMode="auto">
          <a:xfrm>
            <a:off x="2514600" y="3144838"/>
            <a:ext cx="3176588" cy="250825"/>
          </a:xfrm>
          <a:custGeom>
            <a:avLst/>
            <a:gdLst>
              <a:gd name="T0" fmla="*/ 36513 w 2001"/>
              <a:gd name="T1" fmla="*/ 69850 h 158"/>
              <a:gd name="T2" fmla="*/ 11113 w 2001"/>
              <a:gd name="T3" fmla="*/ 127000 h 158"/>
              <a:gd name="T4" fmla="*/ 4763 w 2001"/>
              <a:gd name="T5" fmla="*/ 146050 h 158"/>
              <a:gd name="T6" fmla="*/ 74613 w 2001"/>
              <a:gd name="T7" fmla="*/ 241300 h 158"/>
              <a:gd name="T8" fmla="*/ 214313 w 2001"/>
              <a:gd name="T9" fmla="*/ 209550 h 158"/>
              <a:gd name="T10" fmla="*/ 1255713 w 2001"/>
              <a:gd name="T11" fmla="*/ 190500 h 158"/>
              <a:gd name="T12" fmla="*/ 2817813 w 2001"/>
              <a:gd name="T13" fmla="*/ 190500 h 158"/>
              <a:gd name="T14" fmla="*/ 3014663 w 2001"/>
              <a:gd name="T15" fmla="*/ 203200 h 158"/>
              <a:gd name="T16" fmla="*/ 3052763 w 2001"/>
              <a:gd name="T17" fmla="*/ 234950 h 158"/>
              <a:gd name="T18" fmla="*/ 3148013 w 2001"/>
              <a:gd name="T19" fmla="*/ 247650 h 158"/>
              <a:gd name="T20" fmla="*/ 3097213 w 2001"/>
              <a:gd name="T21" fmla="*/ 165100 h 158"/>
              <a:gd name="T22" fmla="*/ 2925763 w 2001"/>
              <a:gd name="T23" fmla="*/ 107950 h 158"/>
              <a:gd name="T24" fmla="*/ 2747963 w 2001"/>
              <a:gd name="T25" fmla="*/ 57150 h 158"/>
              <a:gd name="T26" fmla="*/ 2652713 w 2001"/>
              <a:gd name="T27" fmla="*/ 38100 h 158"/>
              <a:gd name="T28" fmla="*/ 2601913 w 2001"/>
              <a:gd name="T29" fmla="*/ 25400 h 158"/>
              <a:gd name="T30" fmla="*/ 2576513 w 2001"/>
              <a:gd name="T31" fmla="*/ 19050 h 158"/>
              <a:gd name="T32" fmla="*/ 2017713 w 2001"/>
              <a:gd name="T33" fmla="*/ 6350 h 158"/>
              <a:gd name="T34" fmla="*/ 512763 w 2001"/>
              <a:gd name="T35" fmla="*/ 12700 h 158"/>
              <a:gd name="T36" fmla="*/ 227013 w 2001"/>
              <a:gd name="T37" fmla="*/ 57150 h 158"/>
              <a:gd name="T38" fmla="*/ 36513 w 2001"/>
              <a:gd name="T39" fmla="*/ 69850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01"/>
              <a:gd name="T61" fmla="*/ 0 h 158"/>
              <a:gd name="T62" fmla="*/ 2001 w 2001"/>
              <a:gd name="T63" fmla="*/ 158 h 15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01" h="158">
                <a:moveTo>
                  <a:pt x="23" y="44"/>
                </a:moveTo>
                <a:cubicBezTo>
                  <a:pt x="10" y="63"/>
                  <a:pt x="17" y="51"/>
                  <a:pt x="7" y="80"/>
                </a:cubicBezTo>
                <a:cubicBezTo>
                  <a:pt x="6" y="84"/>
                  <a:pt x="3" y="92"/>
                  <a:pt x="3" y="92"/>
                </a:cubicBezTo>
                <a:cubicBezTo>
                  <a:pt x="8" y="157"/>
                  <a:pt x="0" y="136"/>
                  <a:pt x="47" y="152"/>
                </a:cubicBezTo>
                <a:cubicBezTo>
                  <a:pt x="80" y="141"/>
                  <a:pt x="100" y="136"/>
                  <a:pt x="135" y="132"/>
                </a:cubicBezTo>
                <a:cubicBezTo>
                  <a:pt x="342" y="63"/>
                  <a:pt x="572" y="121"/>
                  <a:pt x="791" y="120"/>
                </a:cubicBezTo>
                <a:cubicBezTo>
                  <a:pt x="1140" y="50"/>
                  <a:pt x="817" y="112"/>
                  <a:pt x="1775" y="120"/>
                </a:cubicBezTo>
                <a:cubicBezTo>
                  <a:pt x="1816" y="124"/>
                  <a:pt x="1858" y="123"/>
                  <a:pt x="1899" y="128"/>
                </a:cubicBezTo>
                <a:cubicBezTo>
                  <a:pt x="1908" y="129"/>
                  <a:pt x="1917" y="144"/>
                  <a:pt x="1923" y="148"/>
                </a:cubicBezTo>
                <a:cubicBezTo>
                  <a:pt x="1941" y="158"/>
                  <a:pt x="1963" y="154"/>
                  <a:pt x="1983" y="156"/>
                </a:cubicBezTo>
                <a:cubicBezTo>
                  <a:pt x="2001" y="130"/>
                  <a:pt x="1972" y="118"/>
                  <a:pt x="1951" y="104"/>
                </a:cubicBezTo>
                <a:cubicBezTo>
                  <a:pt x="1921" y="84"/>
                  <a:pt x="1879" y="75"/>
                  <a:pt x="1843" y="68"/>
                </a:cubicBezTo>
                <a:cubicBezTo>
                  <a:pt x="1796" y="36"/>
                  <a:pt x="1799" y="40"/>
                  <a:pt x="1731" y="36"/>
                </a:cubicBezTo>
                <a:cubicBezTo>
                  <a:pt x="1711" y="32"/>
                  <a:pt x="1691" y="28"/>
                  <a:pt x="1671" y="24"/>
                </a:cubicBezTo>
                <a:cubicBezTo>
                  <a:pt x="1660" y="22"/>
                  <a:pt x="1650" y="19"/>
                  <a:pt x="1639" y="16"/>
                </a:cubicBezTo>
                <a:cubicBezTo>
                  <a:pt x="1634" y="15"/>
                  <a:pt x="1623" y="12"/>
                  <a:pt x="1623" y="12"/>
                </a:cubicBezTo>
                <a:cubicBezTo>
                  <a:pt x="1503" y="16"/>
                  <a:pt x="1391" y="7"/>
                  <a:pt x="1271" y="4"/>
                </a:cubicBezTo>
                <a:cubicBezTo>
                  <a:pt x="955" y="5"/>
                  <a:pt x="639" y="5"/>
                  <a:pt x="323" y="8"/>
                </a:cubicBezTo>
                <a:cubicBezTo>
                  <a:pt x="262" y="8"/>
                  <a:pt x="203" y="33"/>
                  <a:pt x="143" y="36"/>
                </a:cubicBezTo>
                <a:cubicBezTo>
                  <a:pt x="22" y="42"/>
                  <a:pt x="23" y="0"/>
                  <a:pt x="23" y="44"/>
                </a:cubicBezTo>
                <a:close/>
              </a:path>
            </a:pathLst>
          </a:custGeom>
          <a:solidFill>
            <a:schemeClr val="bg1"/>
          </a:solidFill>
          <a:ln w="9525">
            <a:solidFill>
              <a:schemeClr val="bg1"/>
            </a:solidFill>
            <a:round/>
            <a:headEnd/>
            <a:tailEnd/>
          </a:ln>
        </p:spPr>
        <p:txBody>
          <a:bodyPr/>
          <a:lstStyle/>
          <a:p>
            <a:endParaRPr lang="th-TH"/>
          </a:p>
        </p:txBody>
      </p:sp>
      <p:sp>
        <p:nvSpPr>
          <p:cNvPr id="39951" name="Line 20"/>
          <p:cNvSpPr>
            <a:spLocks noChangeShapeType="1"/>
          </p:cNvSpPr>
          <p:nvPr/>
        </p:nvSpPr>
        <p:spPr bwMode="auto">
          <a:xfrm>
            <a:off x="3074988" y="2105025"/>
            <a:ext cx="431800" cy="503238"/>
          </a:xfrm>
          <a:prstGeom prst="line">
            <a:avLst/>
          </a:prstGeom>
          <a:noFill/>
          <a:ln w="9525">
            <a:solidFill>
              <a:schemeClr val="tx1"/>
            </a:solidFill>
            <a:round/>
            <a:headEnd/>
            <a:tailEnd type="triangle" w="med" len="med"/>
          </a:ln>
        </p:spPr>
        <p:txBody>
          <a:bodyPr/>
          <a:lstStyle/>
          <a:p>
            <a:endParaRPr lang="th-TH"/>
          </a:p>
        </p:txBody>
      </p:sp>
      <p:sp>
        <p:nvSpPr>
          <p:cNvPr id="39952" name="Line 21"/>
          <p:cNvSpPr>
            <a:spLocks noChangeShapeType="1"/>
          </p:cNvSpPr>
          <p:nvPr/>
        </p:nvSpPr>
        <p:spPr bwMode="auto">
          <a:xfrm flipH="1">
            <a:off x="4730750" y="2105025"/>
            <a:ext cx="144463" cy="287338"/>
          </a:xfrm>
          <a:prstGeom prst="line">
            <a:avLst/>
          </a:prstGeom>
          <a:noFill/>
          <a:ln w="9525">
            <a:solidFill>
              <a:schemeClr val="tx1"/>
            </a:solidFill>
            <a:round/>
            <a:headEnd/>
            <a:tailEnd type="triangle" w="med" len="med"/>
          </a:ln>
        </p:spPr>
        <p:txBody>
          <a:bodyPr/>
          <a:lstStyle/>
          <a:p>
            <a:endParaRPr lang="th-TH"/>
          </a:p>
        </p:txBody>
      </p:sp>
      <p:sp>
        <p:nvSpPr>
          <p:cNvPr id="39953" name="Text Box 22"/>
          <p:cNvSpPr txBox="1">
            <a:spLocks noChangeArrowheads="1"/>
          </p:cNvSpPr>
          <p:nvPr/>
        </p:nvSpPr>
        <p:spPr bwMode="auto">
          <a:xfrm>
            <a:off x="1274763" y="1779588"/>
            <a:ext cx="2954337"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Original shape</a:t>
            </a:r>
            <a:endParaRPr lang="th-TH" sz="2400">
              <a:latin typeface="Vrinda" pitchFamily="2" charset="0"/>
              <a:cs typeface="Angsana New" pitchFamily="18" charset="-34"/>
            </a:endParaRPr>
          </a:p>
        </p:txBody>
      </p:sp>
      <p:sp>
        <p:nvSpPr>
          <p:cNvPr id="39954" name="Text Box 23"/>
          <p:cNvSpPr txBox="1">
            <a:spLocks noChangeArrowheads="1"/>
          </p:cNvSpPr>
          <p:nvPr/>
        </p:nvSpPr>
        <p:spPr bwMode="auto">
          <a:xfrm>
            <a:off x="4370388" y="1779588"/>
            <a:ext cx="3889375"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Distorted roll</a:t>
            </a:r>
            <a:endParaRPr lang="th-TH" sz="2400">
              <a:latin typeface="Vrinda" pitchFamily="2" charset="0"/>
              <a:cs typeface="Angsana New" pitchFamily="18" charset="-34"/>
            </a:endParaRPr>
          </a:p>
        </p:txBody>
      </p:sp>
      <p:sp>
        <p:nvSpPr>
          <p:cNvPr id="39955" name="Oval 24" descr="Wide downward diagonal"/>
          <p:cNvSpPr>
            <a:spLocks noChangeArrowheads="1"/>
          </p:cNvSpPr>
          <p:nvPr/>
        </p:nvSpPr>
        <p:spPr bwMode="auto">
          <a:xfrm>
            <a:off x="2354263" y="4913313"/>
            <a:ext cx="3529012" cy="431800"/>
          </a:xfrm>
          <a:prstGeom prst="ellipse">
            <a:avLst/>
          </a:prstGeom>
          <a:pattFill prst="wdDnDiag">
            <a:fgClr>
              <a:schemeClr val="tx1"/>
            </a:fgClr>
            <a:bgClr>
              <a:schemeClr val="bg1"/>
            </a:bgClr>
          </a:pattFill>
          <a:ln w="9525">
            <a:solidFill>
              <a:schemeClr val="tx1"/>
            </a:solidFill>
            <a:round/>
            <a:headEnd/>
            <a:tailEnd/>
          </a:ln>
        </p:spPr>
        <p:txBody>
          <a:bodyPr wrap="none" anchor="ctr"/>
          <a:lstStyle/>
          <a:p>
            <a:endParaRPr lang="th-TH"/>
          </a:p>
        </p:txBody>
      </p:sp>
      <p:sp>
        <p:nvSpPr>
          <p:cNvPr id="39956" name="Rectangle 25"/>
          <p:cNvSpPr>
            <a:spLocks noChangeArrowheads="1"/>
          </p:cNvSpPr>
          <p:nvPr/>
        </p:nvSpPr>
        <p:spPr bwMode="auto">
          <a:xfrm>
            <a:off x="2282825" y="4984750"/>
            <a:ext cx="288925" cy="288925"/>
          </a:xfrm>
          <a:prstGeom prst="rect">
            <a:avLst/>
          </a:prstGeom>
          <a:solidFill>
            <a:schemeClr val="bg1"/>
          </a:solidFill>
          <a:ln w="9525">
            <a:solidFill>
              <a:schemeClr val="bg1"/>
            </a:solidFill>
            <a:miter lim="800000"/>
            <a:headEnd/>
            <a:tailEnd/>
          </a:ln>
        </p:spPr>
        <p:txBody>
          <a:bodyPr wrap="none" anchor="ctr"/>
          <a:lstStyle/>
          <a:p>
            <a:endParaRPr lang="th-TH"/>
          </a:p>
        </p:txBody>
      </p:sp>
      <p:sp>
        <p:nvSpPr>
          <p:cNvPr id="39957" name="Rectangle 26"/>
          <p:cNvSpPr>
            <a:spLocks noChangeArrowheads="1"/>
          </p:cNvSpPr>
          <p:nvPr/>
        </p:nvSpPr>
        <p:spPr bwMode="auto">
          <a:xfrm>
            <a:off x="5667375" y="4984750"/>
            <a:ext cx="288925" cy="288925"/>
          </a:xfrm>
          <a:prstGeom prst="rect">
            <a:avLst/>
          </a:prstGeom>
          <a:solidFill>
            <a:schemeClr val="bg1"/>
          </a:solidFill>
          <a:ln w="9525">
            <a:solidFill>
              <a:schemeClr val="bg1"/>
            </a:solidFill>
            <a:miter lim="800000"/>
            <a:headEnd/>
            <a:tailEnd/>
          </a:ln>
        </p:spPr>
        <p:txBody>
          <a:bodyPr wrap="none" anchor="ctr"/>
          <a:lstStyle/>
          <a:p>
            <a:endParaRPr lang="th-TH"/>
          </a:p>
        </p:txBody>
      </p:sp>
      <p:sp>
        <p:nvSpPr>
          <p:cNvPr id="39958" name="Line 27"/>
          <p:cNvSpPr>
            <a:spLocks noChangeShapeType="1"/>
          </p:cNvSpPr>
          <p:nvPr/>
        </p:nvSpPr>
        <p:spPr bwMode="auto">
          <a:xfrm>
            <a:off x="2571750" y="5057775"/>
            <a:ext cx="0" cy="142875"/>
          </a:xfrm>
          <a:prstGeom prst="line">
            <a:avLst/>
          </a:prstGeom>
          <a:noFill/>
          <a:ln w="9525">
            <a:solidFill>
              <a:schemeClr val="tx1"/>
            </a:solidFill>
            <a:round/>
            <a:headEnd/>
            <a:tailEnd/>
          </a:ln>
        </p:spPr>
        <p:txBody>
          <a:bodyPr/>
          <a:lstStyle/>
          <a:p>
            <a:endParaRPr lang="th-TH"/>
          </a:p>
        </p:txBody>
      </p:sp>
      <p:sp>
        <p:nvSpPr>
          <p:cNvPr id="39959" name="Line 28"/>
          <p:cNvSpPr>
            <a:spLocks noChangeShapeType="1"/>
          </p:cNvSpPr>
          <p:nvPr/>
        </p:nvSpPr>
        <p:spPr bwMode="auto">
          <a:xfrm>
            <a:off x="5667375" y="5057775"/>
            <a:ext cx="0" cy="142875"/>
          </a:xfrm>
          <a:prstGeom prst="line">
            <a:avLst/>
          </a:prstGeom>
          <a:noFill/>
          <a:ln w="9525">
            <a:solidFill>
              <a:schemeClr val="tx1"/>
            </a:solidFill>
            <a:round/>
            <a:headEnd/>
            <a:tailEnd/>
          </a:ln>
        </p:spPr>
        <p:txBody>
          <a:bodyPr/>
          <a:lstStyle/>
          <a:p>
            <a:endParaRPr lang="th-TH"/>
          </a:p>
        </p:txBody>
      </p:sp>
      <p:sp>
        <p:nvSpPr>
          <p:cNvPr id="39960" name="Line 29"/>
          <p:cNvSpPr>
            <a:spLocks noChangeShapeType="1"/>
          </p:cNvSpPr>
          <p:nvPr/>
        </p:nvSpPr>
        <p:spPr bwMode="auto">
          <a:xfrm>
            <a:off x="4875213" y="4913313"/>
            <a:ext cx="1368425" cy="0"/>
          </a:xfrm>
          <a:prstGeom prst="line">
            <a:avLst/>
          </a:prstGeom>
          <a:noFill/>
          <a:ln w="9525">
            <a:solidFill>
              <a:schemeClr val="tx1"/>
            </a:solidFill>
            <a:round/>
            <a:headEnd/>
            <a:tailEnd/>
          </a:ln>
        </p:spPr>
        <p:txBody>
          <a:bodyPr/>
          <a:lstStyle/>
          <a:p>
            <a:endParaRPr lang="th-TH"/>
          </a:p>
        </p:txBody>
      </p:sp>
      <p:sp>
        <p:nvSpPr>
          <p:cNvPr id="39961" name="Line 30"/>
          <p:cNvSpPr>
            <a:spLocks noChangeShapeType="1"/>
          </p:cNvSpPr>
          <p:nvPr/>
        </p:nvSpPr>
        <p:spPr bwMode="auto">
          <a:xfrm>
            <a:off x="4875213" y="5345113"/>
            <a:ext cx="1368425" cy="0"/>
          </a:xfrm>
          <a:prstGeom prst="line">
            <a:avLst/>
          </a:prstGeom>
          <a:noFill/>
          <a:ln w="9525">
            <a:solidFill>
              <a:schemeClr val="tx1"/>
            </a:solidFill>
            <a:round/>
            <a:headEnd/>
            <a:tailEnd/>
          </a:ln>
        </p:spPr>
        <p:txBody>
          <a:bodyPr/>
          <a:lstStyle/>
          <a:p>
            <a:endParaRPr lang="th-TH"/>
          </a:p>
        </p:txBody>
      </p:sp>
      <p:sp>
        <p:nvSpPr>
          <p:cNvPr id="39962" name="Line 31"/>
          <p:cNvSpPr>
            <a:spLocks noChangeShapeType="1"/>
          </p:cNvSpPr>
          <p:nvPr/>
        </p:nvSpPr>
        <p:spPr bwMode="auto">
          <a:xfrm flipH="1">
            <a:off x="2138363" y="5057775"/>
            <a:ext cx="360362" cy="0"/>
          </a:xfrm>
          <a:prstGeom prst="line">
            <a:avLst/>
          </a:prstGeom>
          <a:noFill/>
          <a:ln w="9525">
            <a:solidFill>
              <a:schemeClr val="tx1"/>
            </a:solidFill>
            <a:round/>
            <a:headEnd/>
            <a:tailEnd/>
          </a:ln>
        </p:spPr>
        <p:txBody>
          <a:bodyPr/>
          <a:lstStyle/>
          <a:p>
            <a:endParaRPr lang="th-TH"/>
          </a:p>
        </p:txBody>
      </p:sp>
      <p:sp>
        <p:nvSpPr>
          <p:cNvPr id="39963" name="Line 32"/>
          <p:cNvSpPr>
            <a:spLocks noChangeShapeType="1"/>
          </p:cNvSpPr>
          <p:nvPr/>
        </p:nvSpPr>
        <p:spPr bwMode="auto">
          <a:xfrm flipH="1">
            <a:off x="2138363" y="5200650"/>
            <a:ext cx="360362" cy="0"/>
          </a:xfrm>
          <a:prstGeom prst="line">
            <a:avLst/>
          </a:prstGeom>
          <a:noFill/>
          <a:ln w="9525">
            <a:solidFill>
              <a:schemeClr val="tx1"/>
            </a:solidFill>
            <a:round/>
            <a:headEnd/>
            <a:tailEnd/>
          </a:ln>
        </p:spPr>
        <p:txBody>
          <a:bodyPr/>
          <a:lstStyle/>
          <a:p>
            <a:endParaRPr lang="th-TH"/>
          </a:p>
        </p:txBody>
      </p:sp>
      <p:sp>
        <p:nvSpPr>
          <p:cNvPr id="39964" name="Line 33"/>
          <p:cNvSpPr>
            <a:spLocks noChangeShapeType="1"/>
          </p:cNvSpPr>
          <p:nvPr/>
        </p:nvSpPr>
        <p:spPr bwMode="auto">
          <a:xfrm>
            <a:off x="2282825" y="4841875"/>
            <a:ext cx="0" cy="215900"/>
          </a:xfrm>
          <a:prstGeom prst="line">
            <a:avLst/>
          </a:prstGeom>
          <a:noFill/>
          <a:ln w="9525">
            <a:solidFill>
              <a:schemeClr val="tx1"/>
            </a:solidFill>
            <a:round/>
            <a:headEnd/>
            <a:tailEnd type="triangle" w="med" len="med"/>
          </a:ln>
        </p:spPr>
        <p:txBody>
          <a:bodyPr/>
          <a:lstStyle/>
          <a:p>
            <a:endParaRPr lang="th-TH"/>
          </a:p>
        </p:txBody>
      </p:sp>
      <p:sp>
        <p:nvSpPr>
          <p:cNvPr id="39965" name="Line 34"/>
          <p:cNvSpPr>
            <a:spLocks noChangeShapeType="1"/>
          </p:cNvSpPr>
          <p:nvPr/>
        </p:nvSpPr>
        <p:spPr bwMode="auto">
          <a:xfrm flipV="1">
            <a:off x="2282825" y="5200650"/>
            <a:ext cx="0" cy="215900"/>
          </a:xfrm>
          <a:prstGeom prst="line">
            <a:avLst/>
          </a:prstGeom>
          <a:noFill/>
          <a:ln w="9525">
            <a:solidFill>
              <a:schemeClr val="tx1"/>
            </a:solidFill>
            <a:round/>
            <a:headEnd/>
            <a:tailEnd type="triangle" w="med" len="med"/>
          </a:ln>
        </p:spPr>
        <p:txBody>
          <a:bodyPr/>
          <a:lstStyle/>
          <a:p>
            <a:endParaRPr lang="th-TH"/>
          </a:p>
        </p:txBody>
      </p:sp>
      <p:sp>
        <p:nvSpPr>
          <p:cNvPr id="39966" name="Line 35"/>
          <p:cNvSpPr>
            <a:spLocks noChangeShapeType="1"/>
          </p:cNvSpPr>
          <p:nvPr/>
        </p:nvSpPr>
        <p:spPr bwMode="auto">
          <a:xfrm>
            <a:off x="5954713" y="4913313"/>
            <a:ext cx="0" cy="431800"/>
          </a:xfrm>
          <a:prstGeom prst="line">
            <a:avLst/>
          </a:prstGeom>
          <a:noFill/>
          <a:ln w="9525">
            <a:solidFill>
              <a:schemeClr val="tx1"/>
            </a:solidFill>
            <a:round/>
            <a:headEnd type="triangle" w="med" len="med"/>
            <a:tailEnd type="triangle" w="med" len="med"/>
          </a:ln>
        </p:spPr>
        <p:txBody>
          <a:bodyPr/>
          <a:lstStyle/>
          <a:p>
            <a:endParaRPr lang="th-TH"/>
          </a:p>
        </p:txBody>
      </p:sp>
      <p:sp>
        <p:nvSpPr>
          <p:cNvPr id="39967" name="Text Box 36"/>
          <p:cNvSpPr txBox="1">
            <a:spLocks noChangeArrowheads="1"/>
          </p:cNvSpPr>
          <p:nvPr/>
        </p:nvSpPr>
        <p:spPr bwMode="auto">
          <a:xfrm>
            <a:off x="1922463" y="5057775"/>
            <a:ext cx="663575"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t</a:t>
            </a:r>
            <a:r>
              <a:rPr lang="en-US" sz="2400" baseline="-25000">
                <a:latin typeface="Vrinda" pitchFamily="2" charset="0"/>
                <a:cs typeface="Angsana New" pitchFamily="18" charset="-34"/>
              </a:rPr>
              <a:t>min</a:t>
            </a:r>
            <a:endParaRPr lang="th-TH" sz="2400">
              <a:latin typeface="Vrinda" pitchFamily="2" charset="0"/>
              <a:cs typeface="Angsana New" pitchFamily="18" charset="-34"/>
            </a:endParaRPr>
          </a:p>
        </p:txBody>
      </p:sp>
      <p:sp>
        <p:nvSpPr>
          <p:cNvPr id="39968" name="Text Box 37"/>
          <p:cNvSpPr txBox="1">
            <a:spLocks noChangeArrowheads="1"/>
          </p:cNvSpPr>
          <p:nvPr/>
        </p:nvSpPr>
        <p:spPr bwMode="auto">
          <a:xfrm>
            <a:off x="5954713" y="4913313"/>
            <a:ext cx="852487"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t</a:t>
            </a:r>
            <a:r>
              <a:rPr lang="en-US" sz="2400" baseline="-25000">
                <a:latin typeface="Vrinda" pitchFamily="2" charset="0"/>
                <a:cs typeface="Angsana New" pitchFamily="18" charset="-34"/>
              </a:rPr>
              <a:t>max</a:t>
            </a:r>
            <a:endParaRPr lang="th-TH" sz="2400">
              <a:latin typeface="Vrinda" pitchFamily="2" charset="0"/>
              <a:cs typeface="Angsana New" pitchFamily="18" charset="-34"/>
            </a:endParaRPr>
          </a:p>
        </p:txBody>
      </p:sp>
      <p:sp>
        <p:nvSpPr>
          <p:cNvPr id="39969" name="Text Box 38"/>
          <p:cNvSpPr txBox="1">
            <a:spLocks noChangeArrowheads="1"/>
          </p:cNvSpPr>
          <p:nvPr/>
        </p:nvSpPr>
        <p:spPr bwMode="auto">
          <a:xfrm>
            <a:off x="3362325" y="5416550"/>
            <a:ext cx="5184775" cy="10668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Cross section of </a:t>
            </a:r>
            <a:r>
              <a:rPr lang="en-US" sz="2800">
                <a:latin typeface="Arial" pitchFamily="34" charset="0"/>
                <a:cs typeface="Angsana New" pitchFamily="18" charset="-34"/>
              </a:rPr>
              <a:t>the sheet</a:t>
            </a:r>
            <a:endParaRPr lang="en-US" sz="2400">
              <a:latin typeface="Vrinda" pitchFamily="2" charset="0"/>
              <a:cs typeface="Angsana New" pitchFamily="18" charset="-34"/>
            </a:endParaRPr>
          </a:p>
          <a:p>
            <a:pPr>
              <a:spcBef>
                <a:spcPct val="50000"/>
              </a:spcBef>
            </a:pPr>
            <a:r>
              <a:rPr lang="en-US" sz="2400">
                <a:latin typeface="Vrinda" pitchFamily="2" charset="0"/>
                <a:cs typeface="Angsana New" pitchFamily="18" charset="-34"/>
              </a:rPr>
              <a:t> </a:t>
            </a:r>
            <a:endParaRPr lang="th-TH" sz="2400">
              <a:latin typeface="Vrinda" pitchFamily="2" charset="0"/>
              <a:cs typeface="Angsana New" pitchFamily="18" charset="-34"/>
            </a:endParaRPr>
          </a:p>
        </p:txBody>
      </p:sp>
      <p:sp>
        <p:nvSpPr>
          <p:cNvPr id="39970" name="AutoShape 46"/>
          <p:cNvSpPr>
            <a:spLocks noChangeArrowheads="1"/>
          </p:cNvSpPr>
          <p:nvPr/>
        </p:nvSpPr>
        <p:spPr bwMode="auto">
          <a:xfrm>
            <a:off x="2525713" y="3627438"/>
            <a:ext cx="3222625" cy="479425"/>
          </a:xfrm>
          <a:custGeom>
            <a:avLst/>
            <a:gdLst>
              <a:gd name="T0" fmla="*/ 240400800 w 21600"/>
              <a:gd name="T1" fmla="*/ 0 h 21600"/>
              <a:gd name="T2" fmla="*/ 60100163 w 21600"/>
              <a:gd name="T3" fmla="*/ 5320574 h 21600"/>
              <a:gd name="T4" fmla="*/ 240400800 w 21600"/>
              <a:gd name="T5" fmla="*/ 2660276 h 21600"/>
              <a:gd name="T6" fmla="*/ 420701158 w 21600"/>
              <a:gd name="T7" fmla="*/ 5320574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bg1"/>
          </a:solidFill>
          <a:ln w="9525">
            <a:solidFill>
              <a:schemeClr val="bg1"/>
            </a:solidFill>
            <a:miter lim="800000"/>
            <a:headEnd/>
            <a:tailEnd/>
          </a:ln>
        </p:spPr>
        <p:txBody>
          <a:bodyPr wrap="none" anchor="ctr"/>
          <a:lstStyle/>
          <a:p>
            <a:endParaRPr lang="th-TH"/>
          </a:p>
        </p:txBody>
      </p:sp>
      <p:sp>
        <p:nvSpPr>
          <p:cNvPr id="39971" name="AutoShape 47"/>
          <p:cNvSpPr>
            <a:spLocks noChangeArrowheads="1"/>
          </p:cNvSpPr>
          <p:nvPr/>
        </p:nvSpPr>
        <p:spPr bwMode="auto">
          <a:xfrm rot="10800000">
            <a:off x="2498725" y="2392363"/>
            <a:ext cx="3222625" cy="479425"/>
          </a:xfrm>
          <a:custGeom>
            <a:avLst/>
            <a:gdLst>
              <a:gd name="T0" fmla="*/ 240400800 w 21600"/>
              <a:gd name="T1" fmla="*/ 0 h 21600"/>
              <a:gd name="T2" fmla="*/ 60100163 w 21600"/>
              <a:gd name="T3" fmla="*/ 5320574 h 21600"/>
              <a:gd name="T4" fmla="*/ 240400800 w 21600"/>
              <a:gd name="T5" fmla="*/ 2660276 h 21600"/>
              <a:gd name="T6" fmla="*/ 420701158 w 21600"/>
              <a:gd name="T7" fmla="*/ 5320574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bg1"/>
          </a:solidFill>
          <a:ln w="9525">
            <a:solidFill>
              <a:schemeClr val="bg1"/>
            </a:solidFill>
            <a:miter lim="800000"/>
            <a:headEnd/>
            <a:tailEnd/>
          </a:ln>
        </p:spPr>
        <p:txBody>
          <a:bodyPr wrap="none" anchor="ctr"/>
          <a:lstStyle/>
          <a:p>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title"/>
          </p:nvPr>
        </p:nvSpPr>
        <p:spPr/>
        <p:txBody>
          <a:bodyPr/>
          <a:lstStyle/>
          <a:p>
            <a:pPr eaLnBrk="1" hangingPunct="1"/>
            <a:r>
              <a:rPr lang="en-US"/>
              <a:t>Rolling force</a:t>
            </a:r>
            <a:endParaRPr lang="th-TH"/>
          </a:p>
        </p:txBody>
      </p:sp>
      <p:pic>
        <p:nvPicPr>
          <p:cNvPr id="40963" name="Picture 4" descr="roll3"/>
          <p:cNvPicPr>
            <a:picLocks noGrp="1" noChangeAspect="1" noChangeArrowheads="1" noCrop="1"/>
          </p:cNvPicPr>
          <p:nvPr>
            <p:ph idx="1"/>
          </p:nvPr>
        </p:nvPicPr>
        <p:blipFill>
          <a:blip r:embed="rId2" cstate="print"/>
          <a:srcRect/>
          <a:stretch>
            <a:fillRect/>
          </a:stretch>
        </p:blipFill>
        <p:spPr>
          <a:xfrm>
            <a:off x="1585913" y="1922463"/>
            <a:ext cx="5999162" cy="4114800"/>
          </a:xfr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685800" y="0"/>
            <a:ext cx="7772400" cy="954088"/>
          </a:xfrm>
        </p:spPr>
        <p:txBody>
          <a:bodyPr/>
          <a:lstStyle/>
          <a:p>
            <a:pPr eaLnBrk="1" hangingPunct="1"/>
            <a:r>
              <a:rPr lang="en-US"/>
              <a:t>Various Configurations</a:t>
            </a:r>
            <a:endParaRPr lang="th-TH"/>
          </a:p>
        </p:txBody>
      </p:sp>
      <p:grpSp>
        <p:nvGrpSpPr>
          <p:cNvPr id="41987" name="Group 3"/>
          <p:cNvGrpSpPr>
            <a:grpSpLocks/>
          </p:cNvGrpSpPr>
          <p:nvPr/>
        </p:nvGrpSpPr>
        <p:grpSpPr bwMode="auto">
          <a:xfrm>
            <a:off x="539750" y="981075"/>
            <a:ext cx="8712200" cy="5641975"/>
            <a:chOff x="340" y="618"/>
            <a:chExt cx="5488" cy="3554"/>
          </a:xfrm>
        </p:grpSpPr>
        <p:sp>
          <p:nvSpPr>
            <p:cNvPr id="41988" name="AutoShape 4"/>
            <p:cNvSpPr>
              <a:spLocks noChangeArrowheads="1"/>
            </p:cNvSpPr>
            <p:nvPr/>
          </p:nvSpPr>
          <p:spPr bwMode="auto">
            <a:xfrm>
              <a:off x="838" y="1389"/>
              <a:ext cx="544" cy="54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89" name="AutoShape 5"/>
            <p:cNvSpPr>
              <a:spLocks noChangeArrowheads="1"/>
            </p:cNvSpPr>
            <p:nvPr/>
          </p:nvSpPr>
          <p:spPr bwMode="auto">
            <a:xfrm>
              <a:off x="1019" y="1570"/>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0" name="AutoShape 6"/>
            <p:cNvSpPr>
              <a:spLocks noChangeArrowheads="1"/>
            </p:cNvSpPr>
            <p:nvPr/>
          </p:nvSpPr>
          <p:spPr bwMode="auto">
            <a:xfrm>
              <a:off x="838" y="754"/>
              <a:ext cx="544" cy="54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1" name="AutoShape 7"/>
            <p:cNvSpPr>
              <a:spLocks noChangeArrowheads="1"/>
            </p:cNvSpPr>
            <p:nvPr/>
          </p:nvSpPr>
          <p:spPr bwMode="auto">
            <a:xfrm>
              <a:off x="1019" y="935"/>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2" name="AutoShape 8"/>
            <p:cNvSpPr>
              <a:spLocks noChangeArrowheads="1"/>
            </p:cNvSpPr>
            <p:nvPr/>
          </p:nvSpPr>
          <p:spPr bwMode="auto">
            <a:xfrm>
              <a:off x="2471" y="663"/>
              <a:ext cx="544" cy="54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3" name="AutoShape 9"/>
            <p:cNvSpPr>
              <a:spLocks noChangeArrowheads="1"/>
            </p:cNvSpPr>
            <p:nvPr/>
          </p:nvSpPr>
          <p:spPr bwMode="auto">
            <a:xfrm>
              <a:off x="2652" y="844"/>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4" name="AutoShape 10"/>
            <p:cNvSpPr>
              <a:spLocks noChangeArrowheads="1"/>
            </p:cNvSpPr>
            <p:nvPr/>
          </p:nvSpPr>
          <p:spPr bwMode="auto">
            <a:xfrm>
              <a:off x="2471" y="1298"/>
              <a:ext cx="544" cy="54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5" name="AutoShape 11"/>
            <p:cNvSpPr>
              <a:spLocks noChangeArrowheads="1"/>
            </p:cNvSpPr>
            <p:nvPr/>
          </p:nvSpPr>
          <p:spPr bwMode="auto">
            <a:xfrm>
              <a:off x="2652" y="1479"/>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6" name="AutoShape 12"/>
            <p:cNvSpPr>
              <a:spLocks noChangeArrowheads="1"/>
            </p:cNvSpPr>
            <p:nvPr/>
          </p:nvSpPr>
          <p:spPr bwMode="auto">
            <a:xfrm>
              <a:off x="2471" y="1888"/>
              <a:ext cx="544" cy="54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7" name="AutoShape 13"/>
            <p:cNvSpPr>
              <a:spLocks noChangeArrowheads="1"/>
            </p:cNvSpPr>
            <p:nvPr/>
          </p:nvSpPr>
          <p:spPr bwMode="auto">
            <a:xfrm>
              <a:off x="2652" y="2069"/>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8" name="AutoShape 14"/>
            <p:cNvSpPr>
              <a:spLocks noChangeArrowheads="1"/>
            </p:cNvSpPr>
            <p:nvPr/>
          </p:nvSpPr>
          <p:spPr bwMode="auto">
            <a:xfrm>
              <a:off x="4331" y="1753"/>
              <a:ext cx="544" cy="54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1999" name="AutoShape 15"/>
            <p:cNvSpPr>
              <a:spLocks noChangeArrowheads="1"/>
            </p:cNvSpPr>
            <p:nvPr/>
          </p:nvSpPr>
          <p:spPr bwMode="auto">
            <a:xfrm>
              <a:off x="4512" y="1934"/>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0" name="AutoShape 16"/>
            <p:cNvSpPr>
              <a:spLocks noChangeArrowheads="1"/>
            </p:cNvSpPr>
            <p:nvPr/>
          </p:nvSpPr>
          <p:spPr bwMode="auto">
            <a:xfrm>
              <a:off x="4331" y="618"/>
              <a:ext cx="544" cy="54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1" name="AutoShape 17"/>
            <p:cNvSpPr>
              <a:spLocks noChangeArrowheads="1"/>
            </p:cNvSpPr>
            <p:nvPr/>
          </p:nvSpPr>
          <p:spPr bwMode="auto">
            <a:xfrm>
              <a:off x="4512" y="799"/>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2" name="AutoShape 18"/>
            <p:cNvSpPr>
              <a:spLocks noChangeArrowheads="1"/>
            </p:cNvSpPr>
            <p:nvPr/>
          </p:nvSpPr>
          <p:spPr bwMode="auto">
            <a:xfrm>
              <a:off x="4467" y="1162"/>
              <a:ext cx="272" cy="27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3" name="AutoShape 19"/>
            <p:cNvSpPr>
              <a:spLocks noChangeArrowheads="1"/>
            </p:cNvSpPr>
            <p:nvPr/>
          </p:nvSpPr>
          <p:spPr bwMode="auto">
            <a:xfrm flipV="1">
              <a:off x="4512" y="1207"/>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4" name="AutoShape 20"/>
            <p:cNvSpPr>
              <a:spLocks noChangeArrowheads="1"/>
            </p:cNvSpPr>
            <p:nvPr/>
          </p:nvSpPr>
          <p:spPr bwMode="auto">
            <a:xfrm>
              <a:off x="4467" y="1480"/>
              <a:ext cx="272" cy="27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5" name="AutoShape 21"/>
            <p:cNvSpPr>
              <a:spLocks noChangeArrowheads="1"/>
            </p:cNvSpPr>
            <p:nvPr/>
          </p:nvSpPr>
          <p:spPr bwMode="auto">
            <a:xfrm flipV="1">
              <a:off x="4512" y="1525"/>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6" name="AutoShape 22"/>
            <p:cNvSpPr>
              <a:spLocks noChangeArrowheads="1"/>
            </p:cNvSpPr>
            <p:nvPr/>
          </p:nvSpPr>
          <p:spPr bwMode="auto">
            <a:xfrm>
              <a:off x="703" y="2704"/>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7" name="AutoShape 23"/>
            <p:cNvSpPr>
              <a:spLocks noChangeArrowheads="1"/>
            </p:cNvSpPr>
            <p:nvPr/>
          </p:nvSpPr>
          <p:spPr bwMode="auto">
            <a:xfrm>
              <a:off x="839" y="2840"/>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8" name="AutoShape 24"/>
            <p:cNvSpPr>
              <a:spLocks noChangeArrowheads="1"/>
            </p:cNvSpPr>
            <p:nvPr/>
          </p:nvSpPr>
          <p:spPr bwMode="auto">
            <a:xfrm>
              <a:off x="1156" y="2704"/>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09" name="AutoShape 25"/>
            <p:cNvSpPr>
              <a:spLocks noChangeArrowheads="1"/>
            </p:cNvSpPr>
            <p:nvPr/>
          </p:nvSpPr>
          <p:spPr bwMode="auto">
            <a:xfrm>
              <a:off x="1292" y="2840"/>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0" name="AutoShape 26"/>
            <p:cNvSpPr>
              <a:spLocks noChangeArrowheads="1"/>
            </p:cNvSpPr>
            <p:nvPr/>
          </p:nvSpPr>
          <p:spPr bwMode="auto">
            <a:xfrm>
              <a:off x="703" y="3384"/>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1" name="AutoShape 27"/>
            <p:cNvSpPr>
              <a:spLocks noChangeArrowheads="1"/>
            </p:cNvSpPr>
            <p:nvPr/>
          </p:nvSpPr>
          <p:spPr bwMode="auto">
            <a:xfrm>
              <a:off x="839" y="3520"/>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2" name="AutoShape 28"/>
            <p:cNvSpPr>
              <a:spLocks noChangeArrowheads="1"/>
            </p:cNvSpPr>
            <p:nvPr/>
          </p:nvSpPr>
          <p:spPr bwMode="auto">
            <a:xfrm>
              <a:off x="1156" y="3384"/>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3" name="AutoShape 29"/>
            <p:cNvSpPr>
              <a:spLocks noChangeArrowheads="1"/>
            </p:cNvSpPr>
            <p:nvPr/>
          </p:nvSpPr>
          <p:spPr bwMode="auto">
            <a:xfrm>
              <a:off x="1292" y="3520"/>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4" name="AutoShape 30"/>
            <p:cNvSpPr>
              <a:spLocks noChangeArrowheads="1"/>
            </p:cNvSpPr>
            <p:nvPr/>
          </p:nvSpPr>
          <p:spPr bwMode="auto">
            <a:xfrm>
              <a:off x="3788" y="2886"/>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5" name="AutoShape 31"/>
            <p:cNvSpPr>
              <a:spLocks noChangeArrowheads="1"/>
            </p:cNvSpPr>
            <p:nvPr/>
          </p:nvSpPr>
          <p:spPr bwMode="auto">
            <a:xfrm>
              <a:off x="3924" y="3022"/>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6" name="AutoShape 32"/>
            <p:cNvSpPr>
              <a:spLocks noChangeArrowheads="1"/>
            </p:cNvSpPr>
            <p:nvPr/>
          </p:nvSpPr>
          <p:spPr bwMode="auto">
            <a:xfrm>
              <a:off x="4650" y="2931"/>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7" name="AutoShape 33"/>
            <p:cNvSpPr>
              <a:spLocks noChangeArrowheads="1"/>
            </p:cNvSpPr>
            <p:nvPr/>
          </p:nvSpPr>
          <p:spPr bwMode="auto">
            <a:xfrm>
              <a:off x="4785" y="3067"/>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8" name="AutoShape 34"/>
            <p:cNvSpPr>
              <a:spLocks noChangeArrowheads="1"/>
            </p:cNvSpPr>
            <p:nvPr/>
          </p:nvSpPr>
          <p:spPr bwMode="auto">
            <a:xfrm>
              <a:off x="3787" y="3384"/>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19" name="AutoShape 35"/>
            <p:cNvSpPr>
              <a:spLocks noChangeArrowheads="1"/>
            </p:cNvSpPr>
            <p:nvPr/>
          </p:nvSpPr>
          <p:spPr bwMode="auto">
            <a:xfrm>
              <a:off x="3923" y="3520"/>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20" name="AutoShape 36"/>
            <p:cNvSpPr>
              <a:spLocks noChangeArrowheads="1"/>
            </p:cNvSpPr>
            <p:nvPr/>
          </p:nvSpPr>
          <p:spPr bwMode="auto">
            <a:xfrm>
              <a:off x="4650" y="3384"/>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21" name="AutoShape 37"/>
            <p:cNvSpPr>
              <a:spLocks noChangeArrowheads="1"/>
            </p:cNvSpPr>
            <p:nvPr/>
          </p:nvSpPr>
          <p:spPr bwMode="auto">
            <a:xfrm>
              <a:off x="4786" y="3520"/>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22" name="AutoShape 38"/>
            <p:cNvSpPr>
              <a:spLocks noChangeArrowheads="1"/>
            </p:cNvSpPr>
            <p:nvPr/>
          </p:nvSpPr>
          <p:spPr bwMode="auto">
            <a:xfrm>
              <a:off x="2880" y="3430"/>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23" name="AutoShape 39"/>
            <p:cNvSpPr>
              <a:spLocks noChangeArrowheads="1"/>
            </p:cNvSpPr>
            <p:nvPr/>
          </p:nvSpPr>
          <p:spPr bwMode="auto">
            <a:xfrm>
              <a:off x="3016" y="3566"/>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24" name="AutoShape 40"/>
            <p:cNvSpPr>
              <a:spLocks noChangeArrowheads="1"/>
            </p:cNvSpPr>
            <p:nvPr/>
          </p:nvSpPr>
          <p:spPr bwMode="auto">
            <a:xfrm>
              <a:off x="2881" y="2885"/>
              <a:ext cx="453" cy="454"/>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25" name="AutoShape 41"/>
            <p:cNvSpPr>
              <a:spLocks noChangeArrowheads="1"/>
            </p:cNvSpPr>
            <p:nvPr/>
          </p:nvSpPr>
          <p:spPr bwMode="auto">
            <a:xfrm>
              <a:off x="3017" y="3021"/>
              <a:ext cx="181" cy="181"/>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26" name="AutoShape 42"/>
            <p:cNvSpPr>
              <a:spLocks noChangeArrowheads="1"/>
            </p:cNvSpPr>
            <p:nvPr/>
          </p:nvSpPr>
          <p:spPr bwMode="auto">
            <a:xfrm flipV="1">
              <a:off x="1066" y="3067"/>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27" name="AutoShape 43"/>
            <p:cNvSpPr>
              <a:spLocks noChangeArrowheads="1"/>
            </p:cNvSpPr>
            <p:nvPr/>
          </p:nvSpPr>
          <p:spPr bwMode="auto">
            <a:xfrm>
              <a:off x="1111" y="3113"/>
              <a:ext cx="91" cy="90"/>
            </a:xfrm>
            <a:prstGeom prst="flowChartConnector">
              <a:avLst/>
            </a:prstGeom>
            <a:solidFill>
              <a:schemeClr val="tx1"/>
            </a:solidFill>
            <a:ln w="9525">
              <a:solidFill>
                <a:schemeClr val="tx1"/>
              </a:solidFill>
              <a:round/>
              <a:headEnd/>
              <a:tailEnd/>
            </a:ln>
          </p:spPr>
          <p:txBody>
            <a:bodyPr wrap="none" anchor="ctr"/>
            <a:lstStyle/>
            <a:p>
              <a:endParaRPr lang="th-TH"/>
            </a:p>
          </p:txBody>
        </p:sp>
        <p:sp>
          <p:nvSpPr>
            <p:cNvPr id="42028" name="AutoShape 44"/>
            <p:cNvSpPr>
              <a:spLocks noChangeArrowheads="1"/>
            </p:cNvSpPr>
            <p:nvPr/>
          </p:nvSpPr>
          <p:spPr bwMode="auto">
            <a:xfrm flipV="1">
              <a:off x="1066" y="3293"/>
              <a:ext cx="182" cy="182"/>
            </a:xfrm>
            <a:prstGeom prst="flowChartConnector">
              <a:avLst/>
            </a:prstGeom>
            <a:solidFill>
              <a:schemeClr val="bg1"/>
            </a:solidFill>
            <a:ln w="9525">
              <a:solidFill>
                <a:schemeClr val="tx1"/>
              </a:solidFill>
              <a:round/>
              <a:headEnd/>
              <a:tailEnd/>
            </a:ln>
          </p:spPr>
          <p:txBody>
            <a:bodyPr wrap="none" anchor="ctr"/>
            <a:lstStyle/>
            <a:p>
              <a:endParaRPr lang="th-TH"/>
            </a:p>
          </p:txBody>
        </p:sp>
        <p:sp>
          <p:nvSpPr>
            <p:cNvPr id="42029" name="AutoShape 45"/>
            <p:cNvSpPr>
              <a:spLocks noChangeArrowheads="1"/>
            </p:cNvSpPr>
            <p:nvPr/>
          </p:nvSpPr>
          <p:spPr bwMode="auto">
            <a:xfrm>
              <a:off x="1111" y="3339"/>
              <a:ext cx="91" cy="90"/>
            </a:xfrm>
            <a:prstGeom prst="flowChartConnector">
              <a:avLst/>
            </a:prstGeom>
            <a:solidFill>
              <a:schemeClr val="tx1"/>
            </a:solidFill>
            <a:ln w="9525">
              <a:solidFill>
                <a:schemeClr val="tx1"/>
              </a:solidFill>
              <a:round/>
              <a:headEnd/>
              <a:tailEnd/>
            </a:ln>
          </p:spPr>
          <p:txBody>
            <a:bodyPr wrap="none" anchor="ctr"/>
            <a:lstStyle/>
            <a:p>
              <a:endParaRPr lang="th-TH"/>
            </a:p>
          </p:txBody>
        </p:sp>
        <p:sp>
          <p:nvSpPr>
            <p:cNvPr id="42030" name="Line 46"/>
            <p:cNvSpPr>
              <a:spLocks noChangeShapeType="1"/>
            </p:cNvSpPr>
            <p:nvPr/>
          </p:nvSpPr>
          <p:spPr bwMode="auto">
            <a:xfrm>
              <a:off x="430" y="1208"/>
              <a:ext cx="498" cy="0"/>
            </a:xfrm>
            <a:prstGeom prst="line">
              <a:avLst/>
            </a:prstGeom>
            <a:noFill/>
            <a:ln w="9525">
              <a:solidFill>
                <a:schemeClr val="tx1"/>
              </a:solidFill>
              <a:round/>
              <a:headEnd/>
              <a:tailEnd/>
            </a:ln>
          </p:spPr>
          <p:txBody>
            <a:bodyPr/>
            <a:lstStyle/>
            <a:p>
              <a:endParaRPr lang="th-TH"/>
            </a:p>
          </p:txBody>
        </p:sp>
        <p:sp>
          <p:nvSpPr>
            <p:cNvPr id="42031" name="Line 47"/>
            <p:cNvSpPr>
              <a:spLocks noChangeShapeType="1"/>
            </p:cNvSpPr>
            <p:nvPr/>
          </p:nvSpPr>
          <p:spPr bwMode="auto">
            <a:xfrm>
              <a:off x="430" y="1480"/>
              <a:ext cx="499" cy="0"/>
            </a:xfrm>
            <a:prstGeom prst="line">
              <a:avLst/>
            </a:prstGeom>
            <a:noFill/>
            <a:ln w="9525">
              <a:solidFill>
                <a:schemeClr val="tx1"/>
              </a:solidFill>
              <a:round/>
              <a:headEnd/>
              <a:tailEnd/>
            </a:ln>
          </p:spPr>
          <p:txBody>
            <a:bodyPr/>
            <a:lstStyle/>
            <a:p>
              <a:endParaRPr lang="th-TH"/>
            </a:p>
          </p:txBody>
        </p:sp>
        <p:sp>
          <p:nvSpPr>
            <p:cNvPr id="42032" name="Line 48"/>
            <p:cNvSpPr>
              <a:spLocks noChangeShapeType="1"/>
            </p:cNvSpPr>
            <p:nvPr/>
          </p:nvSpPr>
          <p:spPr bwMode="auto">
            <a:xfrm>
              <a:off x="2108" y="1162"/>
              <a:ext cx="499" cy="0"/>
            </a:xfrm>
            <a:prstGeom prst="line">
              <a:avLst/>
            </a:prstGeom>
            <a:noFill/>
            <a:ln w="9525">
              <a:solidFill>
                <a:schemeClr val="tx1"/>
              </a:solidFill>
              <a:round/>
              <a:headEnd/>
              <a:tailEnd/>
            </a:ln>
          </p:spPr>
          <p:txBody>
            <a:bodyPr/>
            <a:lstStyle/>
            <a:p>
              <a:endParaRPr lang="th-TH"/>
            </a:p>
          </p:txBody>
        </p:sp>
        <p:sp>
          <p:nvSpPr>
            <p:cNvPr id="42033" name="Line 49"/>
            <p:cNvSpPr>
              <a:spLocks noChangeShapeType="1"/>
            </p:cNvSpPr>
            <p:nvPr/>
          </p:nvSpPr>
          <p:spPr bwMode="auto">
            <a:xfrm>
              <a:off x="2108" y="1344"/>
              <a:ext cx="499" cy="0"/>
            </a:xfrm>
            <a:prstGeom prst="line">
              <a:avLst/>
            </a:prstGeom>
            <a:noFill/>
            <a:ln w="9525">
              <a:solidFill>
                <a:schemeClr val="tx1"/>
              </a:solidFill>
              <a:round/>
              <a:headEnd/>
              <a:tailEnd/>
            </a:ln>
          </p:spPr>
          <p:txBody>
            <a:bodyPr/>
            <a:lstStyle/>
            <a:p>
              <a:endParaRPr lang="th-TH"/>
            </a:p>
          </p:txBody>
        </p:sp>
        <p:sp>
          <p:nvSpPr>
            <p:cNvPr id="42034" name="Rectangle 50"/>
            <p:cNvSpPr>
              <a:spLocks noChangeArrowheads="1"/>
            </p:cNvSpPr>
            <p:nvPr/>
          </p:nvSpPr>
          <p:spPr bwMode="auto">
            <a:xfrm>
              <a:off x="3015" y="1842"/>
              <a:ext cx="681" cy="91"/>
            </a:xfrm>
            <a:prstGeom prst="rect">
              <a:avLst/>
            </a:prstGeom>
            <a:solidFill>
              <a:schemeClr val="bg1"/>
            </a:solidFill>
            <a:ln w="9525">
              <a:solidFill>
                <a:schemeClr val="tx1"/>
              </a:solidFill>
              <a:prstDash val="dash"/>
              <a:miter lim="800000"/>
              <a:headEnd/>
              <a:tailEnd/>
            </a:ln>
          </p:spPr>
          <p:txBody>
            <a:bodyPr wrap="none" anchor="ctr"/>
            <a:lstStyle/>
            <a:p>
              <a:endParaRPr lang="th-TH"/>
            </a:p>
          </p:txBody>
        </p:sp>
        <p:sp>
          <p:nvSpPr>
            <p:cNvPr id="42035" name="Line 51"/>
            <p:cNvSpPr>
              <a:spLocks noChangeShapeType="1"/>
            </p:cNvSpPr>
            <p:nvPr/>
          </p:nvSpPr>
          <p:spPr bwMode="auto">
            <a:xfrm>
              <a:off x="4149" y="1389"/>
              <a:ext cx="363" cy="0"/>
            </a:xfrm>
            <a:prstGeom prst="line">
              <a:avLst/>
            </a:prstGeom>
            <a:noFill/>
            <a:ln w="9525">
              <a:solidFill>
                <a:schemeClr val="tx1"/>
              </a:solidFill>
              <a:round/>
              <a:headEnd/>
              <a:tailEnd/>
            </a:ln>
          </p:spPr>
          <p:txBody>
            <a:bodyPr/>
            <a:lstStyle/>
            <a:p>
              <a:endParaRPr lang="th-TH"/>
            </a:p>
          </p:txBody>
        </p:sp>
        <p:sp>
          <p:nvSpPr>
            <p:cNvPr id="42036" name="Line 52"/>
            <p:cNvSpPr>
              <a:spLocks noChangeShapeType="1"/>
            </p:cNvSpPr>
            <p:nvPr/>
          </p:nvSpPr>
          <p:spPr bwMode="auto">
            <a:xfrm>
              <a:off x="4149" y="1526"/>
              <a:ext cx="363" cy="0"/>
            </a:xfrm>
            <a:prstGeom prst="line">
              <a:avLst/>
            </a:prstGeom>
            <a:noFill/>
            <a:ln w="9525">
              <a:solidFill>
                <a:schemeClr val="tx1"/>
              </a:solidFill>
              <a:round/>
              <a:headEnd/>
              <a:tailEnd/>
            </a:ln>
          </p:spPr>
          <p:txBody>
            <a:bodyPr/>
            <a:lstStyle/>
            <a:p>
              <a:endParaRPr lang="th-TH"/>
            </a:p>
          </p:txBody>
        </p:sp>
        <p:sp>
          <p:nvSpPr>
            <p:cNvPr id="42037" name="Line 53"/>
            <p:cNvSpPr>
              <a:spLocks noChangeShapeType="1"/>
            </p:cNvSpPr>
            <p:nvPr/>
          </p:nvSpPr>
          <p:spPr bwMode="auto">
            <a:xfrm>
              <a:off x="431" y="3203"/>
              <a:ext cx="635" cy="0"/>
            </a:xfrm>
            <a:prstGeom prst="line">
              <a:avLst/>
            </a:prstGeom>
            <a:noFill/>
            <a:ln w="9525">
              <a:solidFill>
                <a:schemeClr val="tx1"/>
              </a:solidFill>
              <a:round/>
              <a:headEnd/>
              <a:tailEnd/>
            </a:ln>
          </p:spPr>
          <p:txBody>
            <a:bodyPr/>
            <a:lstStyle/>
            <a:p>
              <a:endParaRPr lang="th-TH"/>
            </a:p>
          </p:txBody>
        </p:sp>
        <p:sp>
          <p:nvSpPr>
            <p:cNvPr id="42038" name="Line 54"/>
            <p:cNvSpPr>
              <a:spLocks noChangeShapeType="1"/>
            </p:cNvSpPr>
            <p:nvPr/>
          </p:nvSpPr>
          <p:spPr bwMode="auto">
            <a:xfrm>
              <a:off x="431" y="3339"/>
              <a:ext cx="635" cy="0"/>
            </a:xfrm>
            <a:prstGeom prst="line">
              <a:avLst/>
            </a:prstGeom>
            <a:noFill/>
            <a:ln w="9525">
              <a:solidFill>
                <a:schemeClr val="tx1"/>
              </a:solidFill>
              <a:round/>
              <a:headEnd/>
              <a:tailEnd/>
            </a:ln>
          </p:spPr>
          <p:txBody>
            <a:bodyPr/>
            <a:lstStyle/>
            <a:p>
              <a:endParaRPr lang="th-TH"/>
            </a:p>
          </p:txBody>
        </p:sp>
        <p:sp>
          <p:nvSpPr>
            <p:cNvPr id="42039" name="AutoShape 55"/>
            <p:cNvSpPr>
              <a:spLocks noChangeArrowheads="1"/>
            </p:cNvSpPr>
            <p:nvPr/>
          </p:nvSpPr>
          <p:spPr bwMode="auto">
            <a:xfrm rot="-5400000">
              <a:off x="3923" y="1797"/>
              <a:ext cx="92" cy="3175"/>
            </a:xfrm>
            <a:custGeom>
              <a:avLst/>
              <a:gdLst>
                <a:gd name="T0" fmla="*/ 0 w 21600"/>
                <a:gd name="T1" fmla="*/ 233 h 21600"/>
                <a:gd name="T2" fmla="*/ 0 w 21600"/>
                <a:gd name="T3" fmla="*/ 467 h 21600"/>
                <a:gd name="T4" fmla="*/ 0 w 21600"/>
                <a:gd name="T5" fmla="*/ 233 h 21600"/>
                <a:gd name="T6" fmla="*/ 0 w 21600"/>
                <a:gd name="T7" fmla="*/ 0 h 21600"/>
                <a:gd name="T8" fmla="*/ 0 60000 65536"/>
                <a:gd name="T9" fmla="*/ 0 60000 65536"/>
                <a:gd name="T10" fmla="*/ 0 60000 65536"/>
                <a:gd name="T11" fmla="*/ 0 60000 65536"/>
                <a:gd name="T12" fmla="*/ 6104 w 21600"/>
                <a:gd name="T13" fmla="*/ 6191 h 21600"/>
                <a:gd name="T14" fmla="*/ 15496 w 21600"/>
                <a:gd name="T15" fmla="*/ 15409 h 21600"/>
              </a:gdLst>
              <a:ahLst/>
              <a:cxnLst>
                <a:cxn ang="T8">
                  <a:pos x="T0" y="T1"/>
                </a:cxn>
                <a:cxn ang="T9">
                  <a:pos x="T2" y="T3"/>
                </a:cxn>
                <a:cxn ang="T10">
                  <a:pos x="T4" y="T5"/>
                </a:cxn>
                <a:cxn ang="T11">
                  <a:pos x="T6" y="T7"/>
                </a:cxn>
              </a:cxnLst>
              <a:rect l="T12" t="T13" r="T14" b="T15"/>
              <a:pathLst>
                <a:path w="21600" h="21600">
                  <a:moveTo>
                    <a:pt x="0" y="0"/>
                  </a:moveTo>
                  <a:lnTo>
                    <a:pt x="8782" y="21600"/>
                  </a:lnTo>
                  <a:lnTo>
                    <a:pt x="12818" y="21600"/>
                  </a:lnTo>
                  <a:lnTo>
                    <a:pt x="21600" y="0"/>
                  </a:lnTo>
                  <a:close/>
                </a:path>
              </a:pathLst>
            </a:custGeom>
            <a:solidFill>
              <a:schemeClr val="bg1"/>
            </a:solidFill>
            <a:ln w="9525">
              <a:solidFill>
                <a:schemeClr val="tx1"/>
              </a:solidFill>
              <a:miter lim="800000"/>
              <a:headEnd/>
              <a:tailEnd/>
            </a:ln>
          </p:spPr>
          <p:txBody>
            <a:bodyPr wrap="none" anchor="ctr"/>
            <a:lstStyle/>
            <a:p>
              <a:endParaRPr lang="th-TH"/>
            </a:p>
          </p:txBody>
        </p:sp>
        <p:sp>
          <p:nvSpPr>
            <p:cNvPr id="42040" name="Arc 56"/>
            <p:cNvSpPr>
              <a:spLocks/>
            </p:cNvSpPr>
            <p:nvPr/>
          </p:nvSpPr>
          <p:spPr bwMode="auto">
            <a:xfrm flipH="1">
              <a:off x="4604" y="2886"/>
              <a:ext cx="226" cy="227"/>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41" name="Arc 57"/>
            <p:cNvSpPr>
              <a:spLocks/>
            </p:cNvSpPr>
            <p:nvPr/>
          </p:nvSpPr>
          <p:spPr bwMode="auto">
            <a:xfrm rot="94870" flipH="1">
              <a:off x="3742" y="2840"/>
              <a:ext cx="226" cy="227"/>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42" name="Arc 58"/>
            <p:cNvSpPr>
              <a:spLocks/>
            </p:cNvSpPr>
            <p:nvPr/>
          </p:nvSpPr>
          <p:spPr bwMode="auto">
            <a:xfrm flipH="1">
              <a:off x="2835" y="2840"/>
              <a:ext cx="226" cy="227"/>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43" name="Arc 59"/>
            <p:cNvSpPr>
              <a:spLocks/>
            </p:cNvSpPr>
            <p:nvPr/>
          </p:nvSpPr>
          <p:spPr bwMode="auto">
            <a:xfrm rot="16089836" flipH="1">
              <a:off x="3743" y="3656"/>
              <a:ext cx="226" cy="227"/>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44" name="Arc 60"/>
            <p:cNvSpPr>
              <a:spLocks/>
            </p:cNvSpPr>
            <p:nvPr/>
          </p:nvSpPr>
          <p:spPr bwMode="auto">
            <a:xfrm rot="16182686" flipH="1">
              <a:off x="4605" y="3656"/>
              <a:ext cx="226" cy="227"/>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45" name="Arc 61"/>
            <p:cNvSpPr>
              <a:spLocks/>
            </p:cNvSpPr>
            <p:nvPr/>
          </p:nvSpPr>
          <p:spPr bwMode="auto">
            <a:xfrm rot="16212841" flipH="1">
              <a:off x="2836" y="3701"/>
              <a:ext cx="226" cy="227"/>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46" name="Arc 62"/>
            <p:cNvSpPr>
              <a:spLocks/>
            </p:cNvSpPr>
            <p:nvPr/>
          </p:nvSpPr>
          <p:spPr bwMode="auto">
            <a:xfrm rot="21086667" flipH="1">
              <a:off x="612" y="2659"/>
              <a:ext cx="226" cy="227"/>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47" name="Arc 63"/>
            <p:cNvSpPr>
              <a:spLocks/>
            </p:cNvSpPr>
            <p:nvPr/>
          </p:nvSpPr>
          <p:spPr bwMode="auto">
            <a:xfrm rot="18262317" flipH="1">
              <a:off x="2380" y="1526"/>
              <a:ext cx="227" cy="318"/>
            </a:xfrm>
            <a:custGeom>
              <a:avLst/>
              <a:gdLst>
                <a:gd name="T0" fmla="*/ 0 w 21600"/>
                <a:gd name="T1" fmla="*/ 0 h 21600"/>
                <a:gd name="T2" fmla="*/ 2 w 21600"/>
                <a:gd name="T3" fmla="*/ 5 h 21600"/>
                <a:gd name="T4" fmla="*/ 0 w 21600"/>
                <a:gd name="T5" fmla="*/ 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48" name="Arc 64"/>
            <p:cNvSpPr>
              <a:spLocks/>
            </p:cNvSpPr>
            <p:nvPr/>
          </p:nvSpPr>
          <p:spPr bwMode="auto">
            <a:xfrm rot="7262089" flipH="1">
              <a:off x="4717" y="640"/>
              <a:ext cx="272" cy="317"/>
            </a:xfrm>
            <a:custGeom>
              <a:avLst/>
              <a:gdLst>
                <a:gd name="T0" fmla="*/ 0 w 21600"/>
                <a:gd name="T1" fmla="*/ 0 h 21600"/>
                <a:gd name="T2" fmla="*/ 3 w 21600"/>
                <a:gd name="T3" fmla="*/ 5 h 21600"/>
                <a:gd name="T4" fmla="*/ 0 w 21600"/>
                <a:gd name="T5" fmla="*/ 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49" name="Arc 65"/>
            <p:cNvSpPr>
              <a:spLocks/>
            </p:cNvSpPr>
            <p:nvPr/>
          </p:nvSpPr>
          <p:spPr bwMode="auto">
            <a:xfrm rot="7855511" flipH="1">
              <a:off x="2857" y="1382"/>
              <a:ext cx="272" cy="317"/>
            </a:xfrm>
            <a:custGeom>
              <a:avLst/>
              <a:gdLst>
                <a:gd name="T0" fmla="*/ 0 w 21600"/>
                <a:gd name="T1" fmla="*/ 0 h 21600"/>
                <a:gd name="T2" fmla="*/ 3 w 21600"/>
                <a:gd name="T3" fmla="*/ 5 h 21600"/>
                <a:gd name="T4" fmla="*/ 0 w 21600"/>
                <a:gd name="T5" fmla="*/ 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50" name="Arc 66"/>
            <p:cNvSpPr>
              <a:spLocks/>
            </p:cNvSpPr>
            <p:nvPr/>
          </p:nvSpPr>
          <p:spPr bwMode="auto">
            <a:xfrm rot="9370995" flipH="1">
              <a:off x="2834" y="2070"/>
              <a:ext cx="272" cy="317"/>
            </a:xfrm>
            <a:custGeom>
              <a:avLst/>
              <a:gdLst>
                <a:gd name="T0" fmla="*/ 0 w 21600"/>
                <a:gd name="T1" fmla="*/ 0 h 21600"/>
                <a:gd name="T2" fmla="*/ 3 w 21600"/>
                <a:gd name="T3" fmla="*/ 5 h 21600"/>
                <a:gd name="T4" fmla="*/ 0 w 21600"/>
                <a:gd name="T5" fmla="*/ 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51" name="Arc 67"/>
            <p:cNvSpPr>
              <a:spLocks/>
            </p:cNvSpPr>
            <p:nvPr/>
          </p:nvSpPr>
          <p:spPr bwMode="auto">
            <a:xfrm rot="17222563" flipH="1">
              <a:off x="770" y="1638"/>
              <a:ext cx="272" cy="317"/>
            </a:xfrm>
            <a:custGeom>
              <a:avLst/>
              <a:gdLst>
                <a:gd name="T0" fmla="*/ 0 w 21600"/>
                <a:gd name="T1" fmla="*/ 0 h 21600"/>
                <a:gd name="T2" fmla="*/ 3 w 21600"/>
                <a:gd name="T3" fmla="*/ 5 h 21600"/>
                <a:gd name="T4" fmla="*/ 0 w 21600"/>
                <a:gd name="T5" fmla="*/ 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52" name="Arc 68"/>
            <p:cNvSpPr>
              <a:spLocks/>
            </p:cNvSpPr>
            <p:nvPr/>
          </p:nvSpPr>
          <p:spPr bwMode="auto">
            <a:xfrm rot="171786" flipH="1">
              <a:off x="793" y="709"/>
              <a:ext cx="272" cy="320"/>
            </a:xfrm>
            <a:custGeom>
              <a:avLst/>
              <a:gdLst>
                <a:gd name="T0" fmla="*/ 0 w 21600"/>
                <a:gd name="T1" fmla="*/ 0 h 21782"/>
                <a:gd name="T2" fmla="*/ 3 w 21600"/>
                <a:gd name="T3" fmla="*/ 5 h 21782"/>
                <a:gd name="T4" fmla="*/ 0 w 21600"/>
                <a:gd name="T5" fmla="*/ 5 h 21782"/>
                <a:gd name="T6" fmla="*/ 0 60000 65536"/>
                <a:gd name="T7" fmla="*/ 0 60000 65536"/>
                <a:gd name="T8" fmla="*/ 0 60000 65536"/>
                <a:gd name="T9" fmla="*/ 0 w 21600"/>
                <a:gd name="T10" fmla="*/ 0 h 21782"/>
                <a:gd name="T11" fmla="*/ 21600 w 21600"/>
                <a:gd name="T12" fmla="*/ 21782 h 21782"/>
              </a:gdLst>
              <a:ahLst/>
              <a:cxnLst>
                <a:cxn ang="T6">
                  <a:pos x="T0" y="T1"/>
                </a:cxn>
                <a:cxn ang="T7">
                  <a:pos x="T2" y="T3"/>
                </a:cxn>
                <a:cxn ang="T8">
                  <a:pos x="T4" y="T5"/>
                </a:cxn>
              </a:cxnLst>
              <a:rect l="T9" t="T10" r="T11" b="T12"/>
              <a:pathLst>
                <a:path w="21600" h="21782" fill="none" extrusionOk="0">
                  <a:moveTo>
                    <a:pt x="-1" y="0"/>
                  </a:moveTo>
                  <a:cubicBezTo>
                    <a:pt x="11929" y="0"/>
                    <a:pt x="21600" y="9670"/>
                    <a:pt x="21600" y="21600"/>
                  </a:cubicBezTo>
                  <a:cubicBezTo>
                    <a:pt x="21600" y="21660"/>
                    <a:pt x="21599" y="21721"/>
                    <a:pt x="21599" y="21782"/>
                  </a:cubicBezTo>
                </a:path>
                <a:path w="21600" h="21782" stroke="0" extrusionOk="0">
                  <a:moveTo>
                    <a:pt x="-1" y="0"/>
                  </a:moveTo>
                  <a:cubicBezTo>
                    <a:pt x="11929" y="0"/>
                    <a:pt x="21600" y="9670"/>
                    <a:pt x="21600" y="21600"/>
                  </a:cubicBezTo>
                  <a:cubicBezTo>
                    <a:pt x="21600" y="21660"/>
                    <a:pt x="21599" y="21721"/>
                    <a:pt x="21599" y="21782"/>
                  </a:cubicBezTo>
                  <a:lnTo>
                    <a:pt x="0" y="21600"/>
                  </a:lnTo>
                  <a:close/>
                </a:path>
              </a:pathLst>
            </a:custGeom>
            <a:noFill/>
            <a:ln w="9525">
              <a:solidFill>
                <a:schemeClr val="tx1"/>
              </a:solidFill>
              <a:round/>
              <a:headEnd/>
              <a:tailEnd/>
            </a:ln>
          </p:spPr>
          <p:txBody>
            <a:bodyPr wrap="none" anchor="ctr"/>
            <a:lstStyle/>
            <a:p>
              <a:endParaRPr lang="th-TH"/>
            </a:p>
          </p:txBody>
        </p:sp>
        <p:sp>
          <p:nvSpPr>
            <p:cNvPr id="42053" name="Arc 69"/>
            <p:cNvSpPr>
              <a:spLocks/>
            </p:cNvSpPr>
            <p:nvPr/>
          </p:nvSpPr>
          <p:spPr bwMode="auto">
            <a:xfrm rot="10117995" flipH="1">
              <a:off x="4694" y="1979"/>
              <a:ext cx="272" cy="317"/>
            </a:xfrm>
            <a:custGeom>
              <a:avLst/>
              <a:gdLst>
                <a:gd name="T0" fmla="*/ 0 w 21600"/>
                <a:gd name="T1" fmla="*/ 0 h 21600"/>
                <a:gd name="T2" fmla="*/ 3 w 21600"/>
                <a:gd name="T3" fmla="*/ 5 h 21600"/>
                <a:gd name="T4" fmla="*/ 0 w 21600"/>
                <a:gd name="T5" fmla="*/ 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54" name="Arc 70"/>
            <p:cNvSpPr>
              <a:spLocks/>
            </p:cNvSpPr>
            <p:nvPr/>
          </p:nvSpPr>
          <p:spPr bwMode="auto">
            <a:xfrm rot="19799528" flipH="1">
              <a:off x="2335" y="709"/>
              <a:ext cx="272" cy="317"/>
            </a:xfrm>
            <a:custGeom>
              <a:avLst/>
              <a:gdLst>
                <a:gd name="T0" fmla="*/ 0 w 21600"/>
                <a:gd name="T1" fmla="*/ 0 h 21600"/>
                <a:gd name="T2" fmla="*/ 3 w 21600"/>
                <a:gd name="T3" fmla="*/ 5 h 21600"/>
                <a:gd name="T4" fmla="*/ 0 w 21600"/>
                <a:gd name="T5" fmla="*/ 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th-TH"/>
            </a:p>
          </p:txBody>
        </p:sp>
        <p:sp>
          <p:nvSpPr>
            <p:cNvPr id="42055" name="Line 71"/>
            <p:cNvSpPr>
              <a:spLocks noChangeShapeType="1"/>
            </p:cNvSpPr>
            <p:nvPr/>
          </p:nvSpPr>
          <p:spPr bwMode="auto">
            <a:xfrm>
              <a:off x="430" y="1117"/>
              <a:ext cx="317" cy="0"/>
            </a:xfrm>
            <a:prstGeom prst="line">
              <a:avLst/>
            </a:prstGeom>
            <a:noFill/>
            <a:ln w="9525">
              <a:solidFill>
                <a:schemeClr val="tx1"/>
              </a:solidFill>
              <a:round/>
              <a:headEnd/>
              <a:tailEnd type="triangle" w="med" len="med"/>
            </a:ln>
          </p:spPr>
          <p:txBody>
            <a:bodyPr/>
            <a:lstStyle/>
            <a:p>
              <a:endParaRPr lang="th-TH"/>
            </a:p>
          </p:txBody>
        </p:sp>
        <p:sp>
          <p:nvSpPr>
            <p:cNvPr id="42056" name="Line 72"/>
            <p:cNvSpPr>
              <a:spLocks noChangeShapeType="1"/>
            </p:cNvSpPr>
            <p:nvPr/>
          </p:nvSpPr>
          <p:spPr bwMode="auto">
            <a:xfrm>
              <a:off x="2063" y="1072"/>
              <a:ext cx="272" cy="0"/>
            </a:xfrm>
            <a:prstGeom prst="line">
              <a:avLst/>
            </a:prstGeom>
            <a:noFill/>
            <a:ln w="9525">
              <a:solidFill>
                <a:schemeClr val="tx1"/>
              </a:solidFill>
              <a:round/>
              <a:headEnd/>
              <a:tailEnd type="triangle" w="med" len="med"/>
            </a:ln>
          </p:spPr>
          <p:txBody>
            <a:bodyPr/>
            <a:lstStyle/>
            <a:p>
              <a:endParaRPr lang="th-TH"/>
            </a:p>
          </p:txBody>
        </p:sp>
        <p:sp>
          <p:nvSpPr>
            <p:cNvPr id="42057" name="Line 73"/>
            <p:cNvSpPr>
              <a:spLocks noChangeShapeType="1"/>
            </p:cNvSpPr>
            <p:nvPr/>
          </p:nvSpPr>
          <p:spPr bwMode="auto">
            <a:xfrm>
              <a:off x="4104" y="1344"/>
              <a:ext cx="272" cy="0"/>
            </a:xfrm>
            <a:prstGeom prst="line">
              <a:avLst/>
            </a:prstGeom>
            <a:noFill/>
            <a:ln w="9525">
              <a:solidFill>
                <a:schemeClr val="tx1"/>
              </a:solidFill>
              <a:round/>
              <a:headEnd/>
              <a:tailEnd type="triangle" w="med" len="med"/>
            </a:ln>
          </p:spPr>
          <p:txBody>
            <a:bodyPr/>
            <a:lstStyle/>
            <a:p>
              <a:endParaRPr lang="th-TH"/>
            </a:p>
          </p:txBody>
        </p:sp>
        <p:sp>
          <p:nvSpPr>
            <p:cNvPr id="42058" name="Line 74"/>
            <p:cNvSpPr>
              <a:spLocks noChangeShapeType="1"/>
            </p:cNvSpPr>
            <p:nvPr/>
          </p:nvSpPr>
          <p:spPr bwMode="auto">
            <a:xfrm>
              <a:off x="385" y="3158"/>
              <a:ext cx="318" cy="0"/>
            </a:xfrm>
            <a:prstGeom prst="line">
              <a:avLst/>
            </a:prstGeom>
            <a:noFill/>
            <a:ln w="9525">
              <a:solidFill>
                <a:schemeClr val="tx1"/>
              </a:solidFill>
              <a:round/>
              <a:headEnd/>
              <a:tailEnd type="triangle" w="med" len="med"/>
            </a:ln>
          </p:spPr>
          <p:txBody>
            <a:bodyPr/>
            <a:lstStyle/>
            <a:p>
              <a:endParaRPr lang="th-TH"/>
            </a:p>
          </p:txBody>
        </p:sp>
        <p:sp>
          <p:nvSpPr>
            <p:cNvPr id="42059" name="Line 75"/>
            <p:cNvSpPr>
              <a:spLocks noChangeShapeType="1"/>
            </p:cNvSpPr>
            <p:nvPr/>
          </p:nvSpPr>
          <p:spPr bwMode="auto">
            <a:xfrm>
              <a:off x="2426" y="3249"/>
              <a:ext cx="409" cy="0"/>
            </a:xfrm>
            <a:prstGeom prst="line">
              <a:avLst/>
            </a:prstGeom>
            <a:noFill/>
            <a:ln w="9525">
              <a:solidFill>
                <a:schemeClr val="tx1"/>
              </a:solidFill>
              <a:round/>
              <a:headEnd/>
              <a:tailEnd type="triangle" w="med" len="med"/>
            </a:ln>
          </p:spPr>
          <p:txBody>
            <a:bodyPr/>
            <a:lstStyle/>
            <a:p>
              <a:endParaRPr lang="th-TH"/>
            </a:p>
          </p:txBody>
        </p:sp>
        <p:sp>
          <p:nvSpPr>
            <p:cNvPr id="42060" name="Line 76"/>
            <p:cNvSpPr>
              <a:spLocks noChangeShapeType="1"/>
            </p:cNvSpPr>
            <p:nvPr/>
          </p:nvSpPr>
          <p:spPr bwMode="auto">
            <a:xfrm>
              <a:off x="3379" y="3294"/>
              <a:ext cx="408" cy="0"/>
            </a:xfrm>
            <a:prstGeom prst="line">
              <a:avLst/>
            </a:prstGeom>
            <a:noFill/>
            <a:ln w="9525">
              <a:solidFill>
                <a:schemeClr val="tx1"/>
              </a:solidFill>
              <a:round/>
              <a:headEnd/>
              <a:tailEnd type="triangle" w="med" len="med"/>
            </a:ln>
          </p:spPr>
          <p:txBody>
            <a:bodyPr/>
            <a:lstStyle/>
            <a:p>
              <a:endParaRPr lang="th-TH"/>
            </a:p>
          </p:txBody>
        </p:sp>
        <p:sp>
          <p:nvSpPr>
            <p:cNvPr id="42061" name="Line 77"/>
            <p:cNvSpPr>
              <a:spLocks noChangeShapeType="1"/>
            </p:cNvSpPr>
            <p:nvPr/>
          </p:nvSpPr>
          <p:spPr bwMode="auto">
            <a:xfrm>
              <a:off x="4332" y="3294"/>
              <a:ext cx="272" cy="0"/>
            </a:xfrm>
            <a:prstGeom prst="line">
              <a:avLst/>
            </a:prstGeom>
            <a:noFill/>
            <a:ln w="9525">
              <a:solidFill>
                <a:schemeClr val="tx1"/>
              </a:solidFill>
              <a:round/>
              <a:headEnd/>
              <a:tailEnd type="triangle" w="med" len="med"/>
            </a:ln>
          </p:spPr>
          <p:txBody>
            <a:bodyPr/>
            <a:lstStyle/>
            <a:p>
              <a:endParaRPr lang="th-TH"/>
            </a:p>
          </p:txBody>
        </p:sp>
        <p:sp>
          <p:nvSpPr>
            <p:cNvPr id="42062" name="Line 78"/>
            <p:cNvSpPr>
              <a:spLocks noChangeShapeType="1"/>
            </p:cNvSpPr>
            <p:nvPr/>
          </p:nvSpPr>
          <p:spPr bwMode="auto">
            <a:xfrm>
              <a:off x="5148" y="3294"/>
              <a:ext cx="317" cy="0"/>
            </a:xfrm>
            <a:prstGeom prst="line">
              <a:avLst/>
            </a:prstGeom>
            <a:noFill/>
            <a:ln w="9525">
              <a:solidFill>
                <a:schemeClr val="tx1"/>
              </a:solidFill>
              <a:round/>
              <a:headEnd/>
              <a:tailEnd type="triangle" w="med" len="med"/>
            </a:ln>
          </p:spPr>
          <p:txBody>
            <a:bodyPr/>
            <a:lstStyle/>
            <a:p>
              <a:endParaRPr lang="th-TH"/>
            </a:p>
          </p:txBody>
        </p:sp>
        <p:sp>
          <p:nvSpPr>
            <p:cNvPr id="42063" name="Line 79"/>
            <p:cNvSpPr>
              <a:spLocks noChangeShapeType="1"/>
            </p:cNvSpPr>
            <p:nvPr/>
          </p:nvSpPr>
          <p:spPr bwMode="auto">
            <a:xfrm flipH="1">
              <a:off x="2063" y="1843"/>
              <a:ext cx="317" cy="0"/>
            </a:xfrm>
            <a:prstGeom prst="line">
              <a:avLst/>
            </a:prstGeom>
            <a:noFill/>
            <a:ln w="9525">
              <a:solidFill>
                <a:schemeClr val="tx1"/>
              </a:solidFill>
              <a:round/>
              <a:headEnd/>
              <a:tailEnd type="triangle" w="med" len="med"/>
            </a:ln>
          </p:spPr>
          <p:txBody>
            <a:bodyPr/>
            <a:lstStyle/>
            <a:p>
              <a:endParaRPr lang="th-TH"/>
            </a:p>
          </p:txBody>
        </p:sp>
        <p:sp>
          <p:nvSpPr>
            <p:cNvPr id="42064" name="AutoShape 80"/>
            <p:cNvSpPr>
              <a:spLocks noChangeArrowheads="1"/>
            </p:cNvSpPr>
            <p:nvPr/>
          </p:nvSpPr>
          <p:spPr bwMode="auto">
            <a:xfrm rot="302803">
              <a:off x="4376" y="1159"/>
              <a:ext cx="91" cy="227"/>
            </a:xfrm>
            <a:prstGeom prst="curvedRightArrow">
              <a:avLst>
                <a:gd name="adj1" fmla="val 49890"/>
                <a:gd name="adj2" fmla="val 99780"/>
                <a:gd name="adj3" fmla="val 33333"/>
              </a:avLst>
            </a:prstGeom>
            <a:solidFill>
              <a:schemeClr val="bg1"/>
            </a:solidFill>
            <a:ln w="9525">
              <a:solidFill>
                <a:schemeClr val="tx1"/>
              </a:solidFill>
              <a:miter lim="800000"/>
              <a:headEnd/>
              <a:tailEnd/>
            </a:ln>
          </p:spPr>
          <p:txBody>
            <a:bodyPr wrap="none" anchor="ctr"/>
            <a:lstStyle/>
            <a:p>
              <a:endParaRPr lang="th-TH"/>
            </a:p>
          </p:txBody>
        </p:sp>
        <p:sp>
          <p:nvSpPr>
            <p:cNvPr id="42065" name="AutoShape 81"/>
            <p:cNvSpPr>
              <a:spLocks noChangeArrowheads="1"/>
            </p:cNvSpPr>
            <p:nvPr/>
          </p:nvSpPr>
          <p:spPr bwMode="auto">
            <a:xfrm rot="11102803" flipH="1">
              <a:off x="4376" y="1525"/>
              <a:ext cx="91" cy="227"/>
            </a:xfrm>
            <a:prstGeom prst="curvedRightArrow">
              <a:avLst>
                <a:gd name="adj1" fmla="val 49890"/>
                <a:gd name="adj2" fmla="val 99780"/>
                <a:gd name="adj3" fmla="val 33333"/>
              </a:avLst>
            </a:prstGeom>
            <a:solidFill>
              <a:schemeClr val="bg1"/>
            </a:solidFill>
            <a:ln w="9525">
              <a:solidFill>
                <a:schemeClr val="tx1"/>
              </a:solidFill>
              <a:miter lim="800000"/>
              <a:headEnd/>
              <a:tailEnd/>
            </a:ln>
          </p:spPr>
          <p:txBody>
            <a:bodyPr wrap="none" anchor="ctr"/>
            <a:lstStyle/>
            <a:p>
              <a:endParaRPr lang="th-TH"/>
            </a:p>
          </p:txBody>
        </p:sp>
        <p:sp>
          <p:nvSpPr>
            <p:cNvPr id="42066" name="AutoShape 82"/>
            <p:cNvSpPr>
              <a:spLocks noChangeArrowheads="1"/>
            </p:cNvSpPr>
            <p:nvPr/>
          </p:nvSpPr>
          <p:spPr bwMode="auto">
            <a:xfrm rot="-8378128">
              <a:off x="4875" y="981"/>
              <a:ext cx="45"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67" name="AutoShape 83"/>
            <p:cNvSpPr>
              <a:spLocks noChangeArrowheads="1"/>
            </p:cNvSpPr>
            <p:nvPr/>
          </p:nvSpPr>
          <p:spPr bwMode="auto">
            <a:xfrm rot="9992650">
              <a:off x="4557" y="3107"/>
              <a:ext cx="91"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68" name="AutoShape 84"/>
            <p:cNvSpPr>
              <a:spLocks noChangeArrowheads="1"/>
            </p:cNvSpPr>
            <p:nvPr/>
          </p:nvSpPr>
          <p:spPr bwMode="auto">
            <a:xfrm rot="-445323">
              <a:off x="4920" y="1933"/>
              <a:ext cx="45" cy="46"/>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69" name="AutoShape 85"/>
            <p:cNvSpPr>
              <a:spLocks noChangeArrowheads="1"/>
            </p:cNvSpPr>
            <p:nvPr/>
          </p:nvSpPr>
          <p:spPr bwMode="auto">
            <a:xfrm rot="10117657">
              <a:off x="2788" y="3062"/>
              <a:ext cx="91"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70" name="AutoShape 86"/>
            <p:cNvSpPr>
              <a:spLocks noChangeArrowheads="1"/>
            </p:cNvSpPr>
            <p:nvPr/>
          </p:nvSpPr>
          <p:spPr bwMode="auto">
            <a:xfrm>
              <a:off x="3696" y="3612"/>
              <a:ext cx="91"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71" name="AutoShape 87"/>
            <p:cNvSpPr>
              <a:spLocks noChangeArrowheads="1"/>
            </p:cNvSpPr>
            <p:nvPr/>
          </p:nvSpPr>
          <p:spPr bwMode="auto">
            <a:xfrm>
              <a:off x="4558" y="3612"/>
              <a:ext cx="91"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72" name="AutoShape 88"/>
            <p:cNvSpPr>
              <a:spLocks noChangeArrowheads="1"/>
            </p:cNvSpPr>
            <p:nvPr/>
          </p:nvSpPr>
          <p:spPr bwMode="auto">
            <a:xfrm>
              <a:off x="2789" y="3657"/>
              <a:ext cx="91"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73" name="AutoShape 89"/>
            <p:cNvSpPr>
              <a:spLocks noChangeArrowheads="1"/>
            </p:cNvSpPr>
            <p:nvPr/>
          </p:nvSpPr>
          <p:spPr bwMode="auto">
            <a:xfrm rot="2212193">
              <a:off x="612" y="2886"/>
              <a:ext cx="45"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74" name="AutoShape 90"/>
            <p:cNvSpPr>
              <a:spLocks noChangeArrowheads="1"/>
            </p:cNvSpPr>
            <p:nvPr/>
          </p:nvSpPr>
          <p:spPr bwMode="auto">
            <a:xfrm rot="1728647">
              <a:off x="792" y="1571"/>
              <a:ext cx="46" cy="45"/>
            </a:xfrm>
            <a:prstGeom prst="triangle">
              <a:avLst>
                <a:gd name="adj" fmla="val 50000"/>
              </a:avLst>
            </a:prstGeom>
            <a:solidFill>
              <a:schemeClr val="tx1"/>
            </a:solidFill>
            <a:ln w="9525">
              <a:solidFill>
                <a:schemeClr val="tx1"/>
              </a:solidFill>
              <a:miter lim="800000"/>
              <a:headEnd/>
              <a:tailEnd/>
            </a:ln>
          </p:spPr>
          <p:txBody>
            <a:bodyPr wrap="none" anchor="ctr"/>
            <a:lstStyle/>
            <a:p>
              <a:pPr algn="ctr"/>
              <a:endParaRPr lang="th-TH" sz="2800">
                <a:cs typeface="Angsana New" pitchFamily="18" charset="-34"/>
              </a:endParaRPr>
            </a:p>
          </p:txBody>
        </p:sp>
        <p:sp>
          <p:nvSpPr>
            <p:cNvPr id="42075" name="AutoShape 91"/>
            <p:cNvSpPr>
              <a:spLocks noChangeArrowheads="1"/>
            </p:cNvSpPr>
            <p:nvPr/>
          </p:nvSpPr>
          <p:spPr bwMode="auto">
            <a:xfrm rot="-3937437">
              <a:off x="739" y="1009"/>
              <a:ext cx="60" cy="46"/>
            </a:xfrm>
            <a:prstGeom prst="triangle">
              <a:avLst>
                <a:gd name="adj" fmla="val 54093"/>
              </a:avLst>
            </a:prstGeom>
            <a:solidFill>
              <a:schemeClr val="tx1"/>
            </a:solidFill>
            <a:ln w="9525">
              <a:solidFill>
                <a:schemeClr val="tx1"/>
              </a:solidFill>
              <a:miter lim="800000"/>
              <a:headEnd/>
              <a:tailEnd/>
            </a:ln>
          </p:spPr>
          <p:txBody>
            <a:bodyPr vert="eaVert" wrap="none" anchor="ctr"/>
            <a:lstStyle/>
            <a:p>
              <a:pPr algn="ctr"/>
              <a:endParaRPr lang="th-TH" sz="1000">
                <a:latin typeface="SimHei" pitchFamily="2" charset="-122"/>
                <a:cs typeface="Angsana New" pitchFamily="18" charset="-34"/>
              </a:endParaRPr>
            </a:p>
          </p:txBody>
        </p:sp>
        <p:sp>
          <p:nvSpPr>
            <p:cNvPr id="42076" name="AutoShape 92"/>
            <p:cNvSpPr>
              <a:spLocks noChangeArrowheads="1"/>
            </p:cNvSpPr>
            <p:nvPr/>
          </p:nvSpPr>
          <p:spPr bwMode="auto">
            <a:xfrm rot="2007198">
              <a:off x="2380" y="1525"/>
              <a:ext cx="45"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77" name="AutoShape 93"/>
            <p:cNvSpPr>
              <a:spLocks noChangeArrowheads="1"/>
            </p:cNvSpPr>
            <p:nvPr/>
          </p:nvSpPr>
          <p:spPr bwMode="auto">
            <a:xfrm rot="-2953217">
              <a:off x="3015" y="2024"/>
              <a:ext cx="45"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78" name="AutoShape 94"/>
            <p:cNvSpPr>
              <a:spLocks noChangeArrowheads="1"/>
            </p:cNvSpPr>
            <p:nvPr/>
          </p:nvSpPr>
          <p:spPr bwMode="auto">
            <a:xfrm rot="-8278020">
              <a:off x="2970" y="1752"/>
              <a:ext cx="45"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79" name="AutoShape 95"/>
            <p:cNvSpPr>
              <a:spLocks noChangeArrowheads="1"/>
            </p:cNvSpPr>
            <p:nvPr/>
          </p:nvSpPr>
          <p:spPr bwMode="auto">
            <a:xfrm rot="7917720">
              <a:off x="2426" y="1072"/>
              <a:ext cx="45"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80" name="Freeform 96"/>
            <p:cNvSpPr>
              <a:spLocks/>
            </p:cNvSpPr>
            <p:nvPr/>
          </p:nvSpPr>
          <p:spPr bwMode="auto">
            <a:xfrm rot="678596">
              <a:off x="2970" y="1797"/>
              <a:ext cx="42" cy="32"/>
            </a:xfrm>
            <a:custGeom>
              <a:avLst/>
              <a:gdLst>
                <a:gd name="T0" fmla="*/ 8 w 42"/>
                <a:gd name="T1" fmla="*/ 0 h 32"/>
                <a:gd name="T2" fmla="*/ 35 w 42"/>
                <a:gd name="T3" fmla="*/ 6 h 32"/>
                <a:gd name="T4" fmla="*/ 28 w 42"/>
                <a:gd name="T5" fmla="*/ 30 h 32"/>
                <a:gd name="T6" fmla="*/ 1 w 42"/>
                <a:gd name="T7" fmla="*/ 18 h 32"/>
                <a:gd name="T8" fmla="*/ 2 w 42"/>
                <a:gd name="T9" fmla="*/ 7 h 32"/>
                <a:gd name="T10" fmla="*/ 8 w 42"/>
                <a:gd name="T11" fmla="*/ 0 h 32"/>
                <a:gd name="T12" fmla="*/ 0 60000 65536"/>
                <a:gd name="T13" fmla="*/ 0 60000 65536"/>
                <a:gd name="T14" fmla="*/ 0 60000 65536"/>
                <a:gd name="T15" fmla="*/ 0 60000 65536"/>
                <a:gd name="T16" fmla="*/ 0 60000 65536"/>
                <a:gd name="T17" fmla="*/ 0 60000 65536"/>
                <a:gd name="T18" fmla="*/ 0 w 42"/>
                <a:gd name="T19" fmla="*/ 0 h 32"/>
                <a:gd name="T20" fmla="*/ 42 w 4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2" h="32">
                  <a:moveTo>
                    <a:pt x="8" y="0"/>
                  </a:moveTo>
                  <a:cubicBezTo>
                    <a:pt x="17" y="5"/>
                    <a:pt x="26" y="2"/>
                    <a:pt x="35" y="6"/>
                  </a:cubicBezTo>
                  <a:cubicBezTo>
                    <a:pt x="42" y="15"/>
                    <a:pt x="38" y="25"/>
                    <a:pt x="28" y="30"/>
                  </a:cubicBezTo>
                  <a:cubicBezTo>
                    <a:pt x="2" y="27"/>
                    <a:pt x="11" y="32"/>
                    <a:pt x="1" y="18"/>
                  </a:cubicBezTo>
                  <a:cubicBezTo>
                    <a:pt x="1" y="14"/>
                    <a:pt x="0" y="10"/>
                    <a:pt x="2" y="7"/>
                  </a:cubicBezTo>
                  <a:cubicBezTo>
                    <a:pt x="2" y="6"/>
                    <a:pt x="23" y="3"/>
                    <a:pt x="8" y="0"/>
                  </a:cubicBezTo>
                  <a:close/>
                </a:path>
              </a:pathLst>
            </a:custGeom>
            <a:solidFill>
              <a:schemeClr val="bg1"/>
            </a:solidFill>
            <a:ln w="9525">
              <a:solidFill>
                <a:schemeClr val="bg1"/>
              </a:solidFill>
              <a:round/>
              <a:headEnd/>
              <a:tailEnd/>
            </a:ln>
          </p:spPr>
          <p:txBody>
            <a:bodyPr/>
            <a:lstStyle/>
            <a:p>
              <a:endParaRPr lang="th-TH"/>
            </a:p>
          </p:txBody>
        </p:sp>
        <p:sp>
          <p:nvSpPr>
            <p:cNvPr id="42081" name="AutoShape 97"/>
            <p:cNvSpPr>
              <a:spLocks noChangeArrowheads="1"/>
            </p:cNvSpPr>
            <p:nvPr/>
          </p:nvSpPr>
          <p:spPr bwMode="auto">
            <a:xfrm rot="10117657">
              <a:off x="3696" y="3067"/>
              <a:ext cx="91" cy="45"/>
            </a:xfrm>
            <a:prstGeom prst="triangle">
              <a:avLst>
                <a:gd name="adj" fmla="val 50000"/>
              </a:avLst>
            </a:prstGeom>
            <a:solidFill>
              <a:schemeClr val="tx1"/>
            </a:solidFill>
            <a:ln w="9525">
              <a:solidFill>
                <a:schemeClr val="tx1"/>
              </a:solidFill>
              <a:miter lim="800000"/>
              <a:headEnd/>
              <a:tailEnd/>
            </a:ln>
          </p:spPr>
          <p:txBody>
            <a:bodyPr wrap="none" anchor="ctr"/>
            <a:lstStyle/>
            <a:p>
              <a:endParaRPr lang="th-TH"/>
            </a:p>
          </p:txBody>
        </p:sp>
        <p:sp>
          <p:nvSpPr>
            <p:cNvPr id="42082" name="Line 98"/>
            <p:cNvSpPr>
              <a:spLocks noChangeShapeType="1"/>
            </p:cNvSpPr>
            <p:nvPr/>
          </p:nvSpPr>
          <p:spPr bwMode="auto">
            <a:xfrm>
              <a:off x="1110" y="1298"/>
              <a:ext cx="499" cy="0"/>
            </a:xfrm>
            <a:prstGeom prst="line">
              <a:avLst/>
            </a:prstGeom>
            <a:noFill/>
            <a:ln w="9525">
              <a:solidFill>
                <a:schemeClr val="tx1"/>
              </a:solidFill>
              <a:round/>
              <a:headEnd/>
              <a:tailEnd/>
            </a:ln>
          </p:spPr>
          <p:txBody>
            <a:bodyPr/>
            <a:lstStyle/>
            <a:p>
              <a:endParaRPr lang="th-TH"/>
            </a:p>
          </p:txBody>
        </p:sp>
        <p:sp>
          <p:nvSpPr>
            <p:cNvPr id="42083" name="Line 99"/>
            <p:cNvSpPr>
              <a:spLocks noChangeShapeType="1"/>
            </p:cNvSpPr>
            <p:nvPr/>
          </p:nvSpPr>
          <p:spPr bwMode="auto">
            <a:xfrm>
              <a:off x="1110" y="1389"/>
              <a:ext cx="499" cy="0"/>
            </a:xfrm>
            <a:prstGeom prst="line">
              <a:avLst/>
            </a:prstGeom>
            <a:noFill/>
            <a:ln w="9525">
              <a:solidFill>
                <a:schemeClr val="tx1"/>
              </a:solidFill>
              <a:round/>
              <a:headEnd/>
              <a:tailEnd/>
            </a:ln>
          </p:spPr>
          <p:txBody>
            <a:bodyPr/>
            <a:lstStyle/>
            <a:p>
              <a:endParaRPr lang="th-TH"/>
            </a:p>
          </p:txBody>
        </p:sp>
        <p:sp>
          <p:nvSpPr>
            <p:cNvPr id="42084" name="Line 100"/>
            <p:cNvSpPr>
              <a:spLocks noChangeShapeType="1"/>
            </p:cNvSpPr>
            <p:nvPr/>
          </p:nvSpPr>
          <p:spPr bwMode="auto">
            <a:xfrm>
              <a:off x="2743" y="1208"/>
              <a:ext cx="499" cy="0"/>
            </a:xfrm>
            <a:prstGeom prst="line">
              <a:avLst/>
            </a:prstGeom>
            <a:noFill/>
            <a:ln w="9525">
              <a:solidFill>
                <a:schemeClr val="tx1"/>
              </a:solidFill>
              <a:round/>
              <a:headEnd/>
              <a:tailEnd/>
            </a:ln>
          </p:spPr>
          <p:txBody>
            <a:bodyPr/>
            <a:lstStyle/>
            <a:p>
              <a:endParaRPr lang="th-TH"/>
            </a:p>
          </p:txBody>
        </p:sp>
        <p:sp>
          <p:nvSpPr>
            <p:cNvPr id="42085" name="Line 101"/>
            <p:cNvSpPr>
              <a:spLocks noChangeShapeType="1"/>
            </p:cNvSpPr>
            <p:nvPr/>
          </p:nvSpPr>
          <p:spPr bwMode="auto">
            <a:xfrm>
              <a:off x="2743" y="1298"/>
              <a:ext cx="499" cy="0"/>
            </a:xfrm>
            <a:prstGeom prst="line">
              <a:avLst/>
            </a:prstGeom>
            <a:noFill/>
            <a:ln w="9525">
              <a:solidFill>
                <a:schemeClr val="tx1"/>
              </a:solidFill>
              <a:round/>
              <a:headEnd/>
              <a:tailEnd/>
            </a:ln>
          </p:spPr>
          <p:txBody>
            <a:bodyPr/>
            <a:lstStyle/>
            <a:p>
              <a:endParaRPr lang="th-TH"/>
            </a:p>
          </p:txBody>
        </p:sp>
        <p:sp>
          <p:nvSpPr>
            <p:cNvPr id="42086" name="Line 102"/>
            <p:cNvSpPr>
              <a:spLocks noChangeShapeType="1"/>
            </p:cNvSpPr>
            <p:nvPr/>
          </p:nvSpPr>
          <p:spPr bwMode="auto">
            <a:xfrm>
              <a:off x="4603" y="1435"/>
              <a:ext cx="635" cy="0"/>
            </a:xfrm>
            <a:prstGeom prst="line">
              <a:avLst/>
            </a:prstGeom>
            <a:noFill/>
            <a:ln w="9525">
              <a:solidFill>
                <a:schemeClr val="tx1"/>
              </a:solidFill>
              <a:round/>
              <a:headEnd/>
              <a:tailEnd/>
            </a:ln>
          </p:spPr>
          <p:txBody>
            <a:bodyPr/>
            <a:lstStyle/>
            <a:p>
              <a:endParaRPr lang="th-TH"/>
            </a:p>
          </p:txBody>
        </p:sp>
        <p:sp>
          <p:nvSpPr>
            <p:cNvPr id="42087" name="Line 103"/>
            <p:cNvSpPr>
              <a:spLocks noChangeShapeType="1"/>
            </p:cNvSpPr>
            <p:nvPr/>
          </p:nvSpPr>
          <p:spPr bwMode="auto">
            <a:xfrm>
              <a:off x="4603" y="1480"/>
              <a:ext cx="635" cy="0"/>
            </a:xfrm>
            <a:prstGeom prst="line">
              <a:avLst/>
            </a:prstGeom>
            <a:noFill/>
            <a:ln w="9525">
              <a:solidFill>
                <a:schemeClr val="tx1"/>
              </a:solidFill>
              <a:round/>
              <a:headEnd/>
              <a:tailEnd/>
            </a:ln>
          </p:spPr>
          <p:txBody>
            <a:bodyPr/>
            <a:lstStyle/>
            <a:p>
              <a:endParaRPr lang="th-TH"/>
            </a:p>
          </p:txBody>
        </p:sp>
        <p:sp>
          <p:nvSpPr>
            <p:cNvPr id="42088" name="Line 104"/>
            <p:cNvSpPr>
              <a:spLocks noChangeShapeType="1"/>
            </p:cNvSpPr>
            <p:nvPr/>
          </p:nvSpPr>
          <p:spPr bwMode="auto">
            <a:xfrm flipV="1">
              <a:off x="1156" y="3249"/>
              <a:ext cx="635" cy="0"/>
            </a:xfrm>
            <a:prstGeom prst="line">
              <a:avLst/>
            </a:prstGeom>
            <a:noFill/>
            <a:ln w="9525">
              <a:solidFill>
                <a:schemeClr val="tx1"/>
              </a:solidFill>
              <a:round/>
              <a:headEnd/>
              <a:tailEnd/>
            </a:ln>
          </p:spPr>
          <p:txBody>
            <a:bodyPr/>
            <a:lstStyle/>
            <a:p>
              <a:endParaRPr lang="th-TH"/>
            </a:p>
          </p:txBody>
        </p:sp>
        <p:sp>
          <p:nvSpPr>
            <p:cNvPr id="42089" name="Line 105"/>
            <p:cNvSpPr>
              <a:spLocks noChangeShapeType="1"/>
            </p:cNvSpPr>
            <p:nvPr/>
          </p:nvSpPr>
          <p:spPr bwMode="auto">
            <a:xfrm>
              <a:off x="1156" y="3294"/>
              <a:ext cx="635" cy="0"/>
            </a:xfrm>
            <a:prstGeom prst="line">
              <a:avLst/>
            </a:prstGeom>
            <a:noFill/>
            <a:ln w="9525">
              <a:solidFill>
                <a:schemeClr val="tx1"/>
              </a:solidFill>
              <a:round/>
              <a:headEnd/>
              <a:tailEnd/>
            </a:ln>
          </p:spPr>
          <p:txBody>
            <a:bodyPr/>
            <a:lstStyle/>
            <a:p>
              <a:endParaRPr lang="th-TH"/>
            </a:p>
          </p:txBody>
        </p:sp>
        <p:sp>
          <p:nvSpPr>
            <p:cNvPr id="42090" name="Line 106"/>
            <p:cNvSpPr>
              <a:spLocks noChangeShapeType="1"/>
            </p:cNvSpPr>
            <p:nvPr/>
          </p:nvSpPr>
          <p:spPr bwMode="auto">
            <a:xfrm>
              <a:off x="1382" y="1253"/>
              <a:ext cx="363" cy="0"/>
            </a:xfrm>
            <a:prstGeom prst="line">
              <a:avLst/>
            </a:prstGeom>
            <a:noFill/>
            <a:ln w="9525">
              <a:solidFill>
                <a:schemeClr val="tx1"/>
              </a:solidFill>
              <a:round/>
              <a:headEnd/>
              <a:tailEnd type="triangle" w="med" len="med"/>
            </a:ln>
          </p:spPr>
          <p:txBody>
            <a:bodyPr/>
            <a:lstStyle/>
            <a:p>
              <a:endParaRPr lang="th-TH"/>
            </a:p>
          </p:txBody>
        </p:sp>
        <p:sp>
          <p:nvSpPr>
            <p:cNvPr id="42091" name="Line 107"/>
            <p:cNvSpPr>
              <a:spLocks noChangeShapeType="1"/>
            </p:cNvSpPr>
            <p:nvPr/>
          </p:nvSpPr>
          <p:spPr bwMode="auto">
            <a:xfrm>
              <a:off x="3061" y="1162"/>
              <a:ext cx="317" cy="0"/>
            </a:xfrm>
            <a:prstGeom prst="line">
              <a:avLst/>
            </a:prstGeom>
            <a:noFill/>
            <a:ln w="9525">
              <a:solidFill>
                <a:schemeClr val="tx1"/>
              </a:solidFill>
              <a:round/>
              <a:headEnd/>
              <a:tailEnd type="triangle" w="med" len="med"/>
            </a:ln>
          </p:spPr>
          <p:txBody>
            <a:bodyPr/>
            <a:lstStyle/>
            <a:p>
              <a:endParaRPr lang="th-TH"/>
            </a:p>
          </p:txBody>
        </p:sp>
        <p:sp>
          <p:nvSpPr>
            <p:cNvPr id="42092" name="Line 108"/>
            <p:cNvSpPr>
              <a:spLocks noChangeShapeType="1"/>
            </p:cNvSpPr>
            <p:nvPr/>
          </p:nvSpPr>
          <p:spPr bwMode="auto">
            <a:xfrm flipH="1">
              <a:off x="3151" y="1797"/>
              <a:ext cx="227" cy="0"/>
            </a:xfrm>
            <a:prstGeom prst="line">
              <a:avLst/>
            </a:prstGeom>
            <a:noFill/>
            <a:ln w="9525">
              <a:solidFill>
                <a:schemeClr val="tx1"/>
              </a:solidFill>
              <a:round/>
              <a:headEnd/>
              <a:tailEnd type="triangle" w="med" len="med"/>
            </a:ln>
          </p:spPr>
          <p:txBody>
            <a:bodyPr/>
            <a:lstStyle/>
            <a:p>
              <a:endParaRPr lang="th-TH"/>
            </a:p>
          </p:txBody>
        </p:sp>
        <p:sp>
          <p:nvSpPr>
            <p:cNvPr id="42093" name="AutoShape 109"/>
            <p:cNvSpPr>
              <a:spLocks noChangeArrowheads="1"/>
            </p:cNvSpPr>
            <p:nvPr/>
          </p:nvSpPr>
          <p:spPr bwMode="auto">
            <a:xfrm>
              <a:off x="3424" y="1162"/>
              <a:ext cx="317" cy="635"/>
            </a:xfrm>
            <a:prstGeom prst="flowChartDelay">
              <a:avLst/>
            </a:prstGeom>
            <a:solidFill>
              <a:schemeClr val="bg1"/>
            </a:solidFill>
            <a:ln w="9525">
              <a:solidFill>
                <a:schemeClr val="tx1"/>
              </a:solidFill>
              <a:prstDash val="lgDash"/>
              <a:miter lim="800000"/>
              <a:headEnd/>
              <a:tailEnd/>
            </a:ln>
          </p:spPr>
          <p:txBody>
            <a:bodyPr wrap="none" anchor="ctr"/>
            <a:lstStyle/>
            <a:p>
              <a:endParaRPr lang="th-TH"/>
            </a:p>
          </p:txBody>
        </p:sp>
        <p:sp>
          <p:nvSpPr>
            <p:cNvPr id="42094" name="Rectangle 110"/>
            <p:cNvSpPr>
              <a:spLocks noChangeArrowheads="1"/>
            </p:cNvSpPr>
            <p:nvPr/>
          </p:nvSpPr>
          <p:spPr bwMode="auto">
            <a:xfrm>
              <a:off x="3378" y="1072"/>
              <a:ext cx="91" cy="726"/>
            </a:xfrm>
            <a:prstGeom prst="rect">
              <a:avLst/>
            </a:prstGeom>
            <a:solidFill>
              <a:schemeClr val="bg1"/>
            </a:solidFill>
            <a:ln w="9525">
              <a:solidFill>
                <a:schemeClr val="bg1"/>
              </a:solidFill>
              <a:miter lim="800000"/>
              <a:headEnd/>
              <a:tailEnd/>
            </a:ln>
          </p:spPr>
          <p:txBody>
            <a:bodyPr wrap="none" anchor="ctr"/>
            <a:lstStyle/>
            <a:p>
              <a:endParaRPr lang="th-TH"/>
            </a:p>
          </p:txBody>
        </p:sp>
        <p:sp>
          <p:nvSpPr>
            <p:cNvPr id="42095" name="Line 111"/>
            <p:cNvSpPr>
              <a:spLocks noChangeShapeType="1"/>
            </p:cNvSpPr>
            <p:nvPr/>
          </p:nvSpPr>
          <p:spPr bwMode="auto">
            <a:xfrm>
              <a:off x="4875" y="1389"/>
              <a:ext cx="499" cy="0"/>
            </a:xfrm>
            <a:prstGeom prst="line">
              <a:avLst/>
            </a:prstGeom>
            <a:noFill/>
            <a:ln w="9525">
              <a:solidFill>
                <a:schemeClr val="tx1"/>
              </a:solidFill>
              <a:round/>
              <a:headEnd/>
              <a:tailEnd type="triangle" w="med" len="med"/>
            </a:ln>
          </p:spPr>
          <p:txBody>
            <a:bodyPr/>
            <a:lstStyle/>
            <a:p>
              <a:endParaRPr lang="th-TH"/>
            </a:p>
          </p:txBody>
        </p:sp>
        <p:sp>
          <p:nvSpPr>
            <p:cNvPr id="42096" name="Line 112"/>
            <p:cNvSpPr>
              <a:spLocks noChangeShapeType="1"/>
            </p:cNvSpPr>
            <p:nvPr/>
          </p:nvSpPr>
          <p:spPr bwMode="auto">
            <a:xfrm>
              <a:off x="1565" y="3203"/>
              <a:ext cx="317" cy="0"/>
            </a:xfrm>
            <a:prstGeom prst="line">
              <a:avLst/>
            </a:prstGeom>
            <a:noFill/>
            <a:ln w="9525">
              <a:solidFill>
                <a:schemeClr val="tx1"/>
              </a:solidFill>
              <a:round/>
              <a:headEnd/>
              <a:tailEnd type="triangle" w="med" len="med"/>
            </a:ln>
          </p:spPr>
          <p:txBody>
            <a:bodyPr/>
            <a:lstStyle/>
            <a:p>
              <a:endParaRPr lang="th-TH"/>
            </a:p>
          </p:txBody>
        </p:sp>
        <p:sp>
          <p:nvSpPr>
            <p:cNvPr id="42097" name="Text Box 113"/>
            <p:cNvSpPr txBox="1">
              <a:spLocks noChangeArrowheads="1"/>
            </p:cNvSpPr>
            <p:nvPr/>
          </p:nvSpPr>
          <p:spPr bwMode="auto">
            <a:xfrm>
              <a:off x="385" y="890"/>
              <a:ext cx="272" cy="250"/>
            </a:xfrm>
            <a:prstGeom prst="rect">
              <a:avLst/>
            </a:prstGeom>
            <a:noFill/>
            <a:ln w="9525">
              <a:noFill/>
              <a:miter lim="800000"/>
              <a:headEnd/>
              <a:tailEnd/>
            </a:ln>
          </p:spPr>
          <p:txBody>
            <a:bodyPr>
              <a:spAutoFit/>
            </a:bodyPr>
            <a:lstStyle/>
            <a:p>
              <a:pPr>
                <a:spcBef>
                  <a:spcPct val="50000"/>
                </a:spcBef>
              </a:pPr>
              <a:r>
                <a:rPr lang="en-US" sz="2000">
                  <a:latin typeface="Vrinda" pitchFamily="2" charset="0"/>
                  <a:cs typeface="Angsana New" pitchFamily="18" charset="-34"/>
                </a:rPr>
                <a:t>v</a:t>
              </a:r>
              <a:r>
                <a:rPr lang="en-US" sz="2000" baseline="-25000">
                  <a:latin typeface="Vrinda" pitchFamily="2" charset="0"/>
                  <a:cs typeface="Angsana New" pitchFamily="18" charset="-34"/>
                </a:rPr>
                <a:t>0</a:t>
              </a:r>
              <a:endParaRPr lang="th-TH" sz="2000">
                <a:latin typeface="Vrinda" pitchFamily="2" charset="0"/>
                <a:cs typeface="Angsana New" pitchFamily="18" charset="-34"/>
              </a:endParaRPr>
            </a:p>
          </p:txBody>
        </p:sp>
        <p:sp>
          <p:nvSpPr>
            <p:cNvPr id="42098" name="Text Box 114"/>
            <p:cNvSpPr txBox="1">
              <a:spLocks noChangeArrowheads="1"/>
            </p:cNvSpPr>
            <p:nvPr/>
          </p:nvSpPr>
          <p:spPr bwMode="auto">
            <a:xfrm>
              <a:off x="611" y="754"/>
              <a:ext cx="454" cy="250"/>
            </a:xfrm>
            <a:prstGeom prst="rect">
              <a:avLst/>
            </a:prstGeom>
            <a:noFill/>
            <a:ln w="9525">
              <a:noFill/>
              <a:miter lim="800000"/>
              <a:headEnd/>
              <a:tailEnd/>
            </a:ln>
          </p:spPr>
          <p:txBody>
            <a:bodyPr>
              <a:spAutoFit/>
            </a:bodyPr>
            <a:lstStyle/>
            <a:p>
              <a:pPr>
                <a:spcBef>
                  <a:spcPct val="50000"/>
                </a:spcBef>
              </a:pPr>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000">
                <a:latin typeface="Vrinda" pitchFamily="2" charset="0"/>
                <a:cs typeface="Angsana New" pitchFamily="18" charset="-34"/>
              </a:endParaRPr>
            </a:p>
          </p:txBody>
        </p:sp>
        <p:sp>
          <p:nvSpPr>
            <p:cNvPr id="42099" name="Text Box 115"/>
            <p:cNvSpPr txBox="1">
              <a:spLocks noChangeArrowheads="1"/>
            </p:cNvSpPr>
            <p:nvPr/>
          </p:nvSpPr>
          <p:spPr bwMode="auto">
            <a:xfrm>
              <a:off x="611" y="1571"/>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00" name="Text Box 116"/>
            <p:cNvSpPr txBox="1">
              <a:spLocks noChangeArrowheads="1"/>
            </p:cNvSpPr>
            <p:nvPr/>
          </p:nvSpPr>
          <p:spPr bwMode="auto">
            <a:xfrm>
              <a:off x="2017" y="845"/>
              <a:ext cx="453"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0</a:t>
              </a:r>
              <a:endParaRPr lang="th-TH" sz="2800">
                <a:latin typeface="Arial" pitchFamily="34" charset="0"/>
                <a:cs typeface="Angsana New" pitchFamily="18" charset="-34"/>
              </a:endParaRPr>
            </a:p>
          </p:txBody>
        </p:sp>
        <p:sp>
          <p:nvSpPr>
            <p:cNvPr id="42101" name="Text Box 117"/>
            <p:cNvSpPr txBox="1">
              <a:spLocks noChangeArrowheads="1"/>
            </p:cNvSpPr>
            <p:nvPr/>
          </p:nvSpPr>
          <p:spPr bwMode="auto">
            <a:xfrm>
              <a:off x="4013" y="1094"/>
              <a:ext cx="453"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0</a:t>
              </a:r>
              <a:endParaRPr lang="th-TH" sz="2800">
                <a:latin typeface="Arial" pitchFamily="34" charset="0"/>
                <a:cs typeface="Angsana New" pitchFamily="18" charset="-34"/>
              </a:endParaRPr>
            </a:p>
          </p:txBody>
        </p:sp>
        <p:sp>
          <p:nvSpPr>
            <p:cNvPr id="42102" name="Text Box 118"/>
            <p:cNvSpPr txBox="1">
              <a:spLocks noChangeArrowheads="1"/>
            </p:cNvSpPr>
            <p:nvPr/>
          </p:nvSpPr>
          <p:spPr bwMode="auto">
            <a:xfrm>
              <a:off x="2198" y="709"/>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03" name="Text Box 119"/>
            <p:cNvSpPr txBox="1">
              <a:spLocks noChangeArrowheads="1"/>
            </p:cNvSpPr>
            <p:nvPr/>
          </p:nvSpPr>
          <p:spPr bwMode="auto">
            <a:xfrm>
              <a:off x="2244" y="1525"/>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04" name="Text Box 120"/>
            <p:cNvSpPr txBox="1">
              <a:spLocks noChangeArrowheads="1"/>
            </p:cNvSpPr>
            <p:nvPr/>
          </p:nvSpPr>
          <p:spPr bwMode="auto">
            <a:xfrm>
              <a:off x="3060" y="1435"/>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05" name="Text Box 121"/>
            <p:cNvSpPr txBox="1">
              <a:spLocks noChangeArrowheads="1"/>
            </p:cNvSpPr>
            <p:nvPr/>
          </p:nvSpPr>
          <p:spPr bwMode="auto">
            <a:xfrm>
              <a:off x="3015" y="2160"/>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06" name="Text Box 122"/>
            <p:cNvSpPr txBox="1">
              <a:spLocks noChangeArrowheads="1"/>
            </p:cNvSpPr>
            <p:nvPr/>
          </p:nvSpPr>
          <p:spPr bwMode="auto">
            <a:xfrm>
              <a:off x="340" y="2931"/>
              <a:ext cx="453"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0</a:t>
              </a:r>
              <a:endParaRPr lang="th-TH" sz="2800">
                <a:latin typeface="Arial" pitchFamily="34" charset="0"/>
                <a:cs typeface="Angsana New" pitchFamily="18" charset="-34"/>
              </a:endParaRPr>
            </a:p>
          </p:txBody>
        </p:sp>
        <p:sp>
          <p:nvSpPr>
            <p:cNvPr id="42107" name="Text Box 123"/>
            <p:cNvSpPr txBox="1">
              <a:spLocks noChangeArrowheads="1"/>
            </p:cNvSpPr>
            <p:nvPr/>
          </p:nvSpPr>
          <p:spPr bwMode="auto">
            <a:xfrm>
              <a:off x="476" y="2614"/>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08" name="Text Box 124"/>
            <p:cNvSpPr txBox="1">
              <a:spLocks noChangeArrowheads="1"/>
            </p:cNvSpPr>
            <p:nvPr/>
          </p:nvSpPr>
          <p:spPr bwMode="auto">
            <a:xfrm>
              <a:off x="1610" y="2953"/>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09" name="Text Box 125"/>
            <p:cNvSpPr txBox="1">
              <a:spLocks noChangeArrowheads="1"/>
            </p:cNvSpPr>
            <p:nvPr/>
          </p:nvSpPr>
          <p:spPr bwMode="auto">
            <a:xfrm>
              <a:off x="5011" y="1162"/>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10" name="Text Box 126"/>
            <p:cNvSpPr txBox="1">
              <a:spLocks noChangeArrowheads="1"/>
            </p:cNvSpPr>
            <p:nvPr/>
          </p:nvSpPr>
          <p:spPr bwMode="auto">
            <a:xfrm>
              <a:off x="4194" y="1571"/>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11" name="Text Box 127"/>
            <p:cNvSpPr txBox="1">
              <a:spLocks noChangeArrowheads="1"/>
            </p:cNvSpPr>
            <p:nvPr/>
          </p:nvSpPr>
          <p:spPr bwMode="auto">
            <a:xfrm>
              <a:off x="4240" y="1026"/>
              <a:ext cx="454"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t</a:t>
              </a:r>
              <a:endParaRPr lang="th-TH" sz="2800">
                <a:latin typeface="Arial" pitchFamily="34" charset="0"/>
                <a:cs typeface="Angsana New" pitchFamily="18" charset="-34"/>
              </a:endParaRPr>
            </a:p>
          </p:txBody>
        </p:sp>
        <p:sp>
          <p:nvSpPr>
            <p:cNvPr id="42112" name="Text Box 128"/>
            <p:cNvSpPr txBox="1">
              <a:spLocks noChangeArrowheads="1"/>
            </p:cNvSpPr>
            <p:nvPr/>
          </p:nvSpPr>
          <p:spPr bwMode="auto">
            <a:xfrm>
              <a:off x="4331" y="3067"/>
              <a:ext cx="363"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2</a:t>
              </a:r>
              <a:endParaRPr lang="th-TH" sz="2800">
                <a:latin typeface="Arial" pitchFamily="34" charset="0"/>
                <a:cs typeface="Angsana New" pitchFamily="18" charset="-34"/>
              </a:endParaRPr>
            </a:p>
          </p:txBody>
        </p:sp>
        <p:sp>
          <p:nvSpPr>
            <p:cNvPr id="42113" name="Text Box 129"/>
            <p:cNvSpPr txBox="1">
              <a:spLocks noChangeArrowheads="1"/>
            </p:cNvSpPr>
            <p:nvPr/>
          </p:nvSpPr>
          <p:spPr bwMode="auto">
            <a:xfrm>
              <a:off x="5193" y="3067"/>
              <a:ext cx="363"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3</a:t>
              </a:r>
              <a:endParaRPr lang="th-TH" sz="2800">
                <a:latin typeface="Arial" pitchFamily="34" charset="0"/>
                <a:cs typeface="Angsana New" pitchFamily="18" charset="-34"/>
              </a:endParaRPr>
            </a:p>
          </p:txBody>
        </p:sp>
        <p:sp>
          <p:nvSpPr>
            <p:cNvPr id="42114" name="Text Box 130"/>
            <p:cNvSpPr txBox="1">
              <a:spLocks noChangeArrowheads="1"/>
            </p:cNvSpPr>
            <p:nvPr/>
          </p:nvSpPr>
          <p:spPr bwMode="auto">
            <a:xfrm>
              <a:off x="3470" y="3067"/>
              <a:ext cx="363"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1</a:t>
              </a:r>
              <a:endParaRPr lang="th-TH" sz="2800">
                <a:latin typeface="Arial" pitchFamily="34" charset="0"/>
                <a:cs typeface="Angsana New" pitchFamily="18" charset="-34"/>
              </a:endParaRPr>
            </a:p>
          </p:txBody>
        </p:sp>
        <p:sp>
          <p:nvSpPr>
            <p:cNvPr id="42115" name="Text Box 131"/>
            <p:cNvSpPr txBox="1">
              <a:spLocks noChangeArrowheads="1"/>
            </p:cNvSpPr>
            <p:nvPr/>
          </p:nvSpPr>
          <p:spPr bwMode="auto">
            <a:xfrm>
              <a:off x="2426" y="3022"/>
              <a:ext cx="453"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0</a:t>
              </a:r>
              <a:endParaRPr lang="th-TH" sz="2800">
                <a:latin typeface="Arial" pitchFamily="34" charset="0"/>
                <a:cs typeface="Angsana New" pitchFamily="18" charset="-34"/>
              </a:endParaRPr>
            </a:p>
          </p:txBody>
        </p:sp>
        <p:sp>
          <p:nvSpPr>
            <p:cNvPr id="42116" name="Text Box 132"/>
            <p:cNvSpPr txBox="1">
              <a:spLocks noChangeArrowheads="1"/>
            </p:cNvSpPr>
            <p:nvPr/>
          </p:nvSpPr>
          <p:spPr bwMode="auto">
            <a:xfrm>
              <a:off x="3197" y="1571"/>
              <a:ext cx="363"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1</a:t>
              </a:r>
              <a:endParaRPr lang="th-TH" sz="2800">
                <a:latin typeface="Arial" pitchFamily="34" charset="0"/>
                <a:cs typeface="Angsana New" pitchFamily="18" charset="-34"/>
              </a:endParaRPr>
            </a:p>
          </p:txBody>
        </p:sp>
        <p:sp>
          <p:nvSpPr>
            <p:cNvPr id="42117" name="Text Box 133"/>
            <p:cNvSpPr txBox="1">
              <a:spLocks noChangeArrowheads="1"/>
            </p:cNvSpPr>
            <p:nvPr/>
          </p:nvSpPr>
          <p:spPr bwMode="auto">
            <a:xfrm>
              <a:off x="2153" y="1752"/>
              <a:ext cx="363" cy="250"/>
            </a:xfrm>
            <a:prstGeom prst="rect">
              <a:avLst/>
            </a:prstGeom>
            <a:noFill/>
            <a:ln w="9525">
              <a:noFill/>
              <a:miter lim="800000"/>
              <a:headEnd/>
              <a:tailEnd/>
            </a:ln>
          </p:spPr>
          <p:txBody>
            <a:bodyPr>
              <a:spAutoFit/>
            </a:bodyPr>
            <a:lstStyle/>
            <a:p>
              <a:r>
                <a:rPr lang="en-US" sz="2000">
                  <a:latin typeface="Vrinda" pitchFamily="2" charset="0"/>
                  <a:cs typeface="Angsana New" pitchFamily="18" charset="-34"/>
                </a:rPr>
                <a:t>v</a:t>
              </a:r>
              <a:r>
                <a:rPr lang="en-US" sz="2000" baseline="-25000">
                  <a:latin typeface="Vrinda" pitchFamily="2" charset="0"/>
                  <a:cs typeface="Angsana New" pitchFamily="18" charset="-34"/>
                </a:rPr>
                <a:t>2</a:t>
              </a:r>
              <a:endParaRPr lang="th-TH" sz="2800">
                <a:latin typeface="Arial" pitchFamily="34" charset="0"/>
                <a:cs typeface="Angsana New" pitchFamily="18" charset="-34"/>
              </a:endParaRPr>
            </a:p>
          </p:txBody>
        </p:sp>
        <p:sp>
          <p:nvSpPr>
            <p:cNvPr id="42118" name="Freeform 134"/>
            <p:cNvSpPr>
              <a:spLocks/>
            </p:cNvSpPr>
            <p:nvPr/>
          </p:nvSpPr>
          <p:spPr bwMode="auto">
            <a:xfrm>
              <a:off x="426" y="1207"/>
              <a:ext cx="18" cy="270"/>
            </a:xfrm>
            <a:custGeom>
              <a:avLst/>
              <a:gdLst>
                <a:gd name="T0" fmla="*/ 6 w 18"/>
                <a:gd name="T1" fmla="*/ 0 h 270"/>
                <a:gd name="T2" fmla="*/ 0 w 18"/>
                <a:gd name="T3" fmla="*/ 66 h 270"/>
                <a:gd name="T4" fmla="*/ 3 w 18"/>
                <a:gd name="T5" fmla="*/ 81 h 270"/>
                <a:gd name="T6" fmla="*/ 12 w 18"/>
                <a:gd name="T7" fmla="*/ 87 h 270"/>
                <a:gd name="T8" fmla="*/ 0 w 18"/>
                <a:gd name="T9" fmla="*/ 132 h 270"/>
                <a:gd name="T10" fmla="*/ 6 w 18"/>
                <a:gd name="T11" fmla="*/ 159 h 270"/>
                <a:gd name="T12" fmla="*/ 18 w 18"/>
                <a:gd name="T13" fmla="*/ 219 h 270"/>
                <a:gd name="T14" fmla="*/ 3 w 18"/>
                <a:gd name="T15" fmla="*/ 270 h 270"/>
                <a:gd name="T16" fmla="*/ 0 60000 65536"/>
                <a:gd name="T17" fmla="*/ 0 60000 65536"/>
                <a:gd name="T18" fmla="*/ 0 60000 65536"/>
                <a:gd name="T19" fmla="*/ 0 60000 65536"/>
                <a:gd name="T20" fmla="*/ 0 60000 65536"/>
                <a:gd name="T21" fmla="*/ 0 60000 65536"/>
                <a:gd name="T22" fmla="*/ 0 60000 65536"/>
                <a:gd name="T23" fmla="*/ 0 60000 65536"/>
                <a:gd name="T24" fmla="*/ 0 w 18"/>
                <a:gd name="T25" fmla="*/ 0 h 270"/>
                <a:gd name="T26" fmla="*/ 18 w 18"/>
                <a:gd name="T27" fmla="*/ 270 h 2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 h="270">
                  <a:moveTo>
                    <a:pt x="6" y="0"/>
                  </a:moveTo>
                  <a:cubicBezTo>
                    <a:pt x="8" y="30"/>
                    <a:pt x="15" y="44"/>
                    <a:pt x="0" y="66"/>
                  </a:cubicBezTo>
                  <a:cubicBezTo>
                    <a:pt x="1" y="71"/>
                    <a:pt x="0" y="77"/>
                    <a:pt x="3" y="81"/>
                  </a:cubicBezTo>
                  <a:cubicBezTo>
                    <a:pt x="5" y="84"/>
                    <a:pt x="11" y="84"/>
                    <a:pt x="12" y="87"/>
                  </a:cubicBezTo>
                  <a:cubicBezTo>
                    <a:pt x="15" y="97"/>
                    <a:pt x="3" y="122"/>
                    <a:pt x="0" y="132"/>
                  </a:cubicBezTo>
                  <a:cubicBezTo>
                    <a:pt x="7" y="143"/>
                    <a:pt x="10" y="147"/>
                    <a:pt x="6" y="159"/>
                  </a:cubicBezTo>
                  <a:cubicBezTo>
                    <a:pt x="9" y="179"/>
                    <a:pt x="7" y="202"/>
                    <a:pt x="18" y="219"/>
                  </a:cubicBezTo>
                  <a:cubicBezTo>
                    <a:pt x="8" y="234"/>
                    <a:pt x="13" y="260"/>
                    <a:pt x="3" y="270"/>
                  </a:cubicBezTo>
                </a:path>
              </a:pathLst>
            </a:custGeom>
            <a:noFill/>
            <a:ln w="9525">
              <a:solidFill>
                <a:schemeClr val="tx1"/>
              </a:solidFill>
              <a:round/>
              <a:headEnd/>
              <a:tailEnd/>
            </a:ln>
          </p:spPr>
          <p:txBody>
            <a:bodyPr/>
            <a:lstStyle/>
            <a:p>
              <a:endParaRPr lang="th-TH"/>
            </a:p>
          </p:txBody>
        </p:sp>
        <p:sp>
          <p:nvSpPr>
            <p:cNvPr id="42119" name="Freeform 135"/>
            <p:cNvSpPr>
              <a:spLocks/>
            </p:cNvSpPr>
            <p:nvPr/>
          </p:nvSpPr>
          <p:spPr bwMode="auto">
            <a:xfrm>
              <a:off x="1602" y="1297"/>
              <a:ext cx="12" cy="93"/>
            </a:xfrm>
            <a:custGeom>
              <a:avLst/>
              <a:gdLst>
                <a:gd name="T0" fmla="*/ 6 w 12"/>
                <a:gd name="T1" fmla="*/ 0 h 93"/>
                <a:gd name="T2" fmla="*/ 0 w 12"/>
                <a:gd name="T3" fmla="*/ 48 h 93"/>
                <a:gd name="T4" fmla="*/ 3 w 12"/>
                <a:gd name="T5" fmla="*/ 78 h 93"/>
                <a:gd name="T6" fmla="*/ 6 w 12"/>
                <a:gd name="T7" fmla="*/ 93 h 93"/>
                <a:gd name="T8" fmla="*/ 0 60000 65536"/>
                <a:gd name="T9" fmla="*/ 0 60000 65536"/>
                <a:gd name="T10" fmla="*/ 0 60000 65536"/>
                <a:gd name="T11" fmla="*/ 0 60000 65536"/>
                <a:gd name="T12" fmla="*/ 0 w 12"/>
                <a:gd name="T13" fmla="*/ 0 h 93"/>
                <a:gd name="T14" fmla="*/ 12 w 12"/>
                <a:gd name="T15" fmla="*/ 93 h 93"/>
              </a:gdLst>
              <a:ahLst/>
              <a:cxnLst>
                <a:cxn ang="T8">
                  <a:pos x="T0" y="T1"/>
                </a:cxn>
                <a:cxn ang="T9">
                  <a:pos x="T2" y="T3"/>
                </a:cxn>
                <a:cxn ang="T10">
                  <a:pos x="T4" y="T5"/>
                </a:cxn>
                <a:cxn ang="T11">
                  <a:pos x="T6" y="T7"/>
                </a:cxn>
              </a:cxnLst>
              <a:rect l="T12" t="T13" r="T14" b="T15"/>
              <a:pathLst>
                <a:path w="12" h="93">
                  <a:moveTo>
                    <a:pt x="6" y="0"/>
                  </a:moveTo>
                  <a:cubicBezTo>
                    <a:pt x="1" y="16"/>
                    <a:pt x="6" y="31"/>
                    <a:pt x="0" y="48"/>
                  </a:cubicBezTo>
                  <a:cubicBezTo>
                    <a:pt x="12" y="60"/>
                    <a:pt x="7" y="62"/>
                    <a:pt x="3" y="78"/>
                  </a:cubicBezTo>
                  <a:cubicBezTo>
                    <a:pt x="7" y="89"/>
                    <a:pt x="6" y="84"/>
                    <a:pt x="6" y="93"/>
                  </a:cubicBezTo>
                </a:path>
              </a:pathLst>
            </a:custGeom>
            <a:noFill/>
            <a:ln w="9525">
              <a:solidFill>
                <a:schemeClr val="tx1"/>
              </a:solidFill>
              <a:round/>
              <a:headEnd/>
              <a:tailEnd/>
            </a:ln>
          </p:spPr>
          <p:txBody>
            <a:bodyPr/>
            <a:lstStyle/>
            <a:p>
              <a:endParaRPr lang="th-TH"/>
            </a:p>
          </p:txBody>
        </p:sp>
        <p:sp>
          <p:nvSpPr>
            <p:cNvPr id="42120" name="Freeform 136"/>
            <p:cNvSpPr>
              <a:spLocks/>
            </p:cNvSpPr>
            <p:nvPr/>
          </p:nvSpPr>
          <p:spPr bwMode="auto">
            <a:xfrm>
              <a:off x="2103" y="1162"/>
              <a:ext cx="18" cy="186"/>
            </a:xfrm>
            <a:custGeom>
              <a:avLst/>
              <a:gdLst>
                <a:gd name="T0" fmla="*/ 9 w 18"/>
                <a:gd name="T1" fmla="*/ 0 h 186"/>
                <a:gd name="T2" fmla="*/ 15 w 18"/>
                <a:gd name="T3" fmla="*/ 75 h 186"/>
                <a:gd name="T4" fmla="*/ 15 w 18"/>
                <a:gd name="T5" fmla="*/ 111 h 186"/>
                <a:gd name="T6" fmla="*/ 9 w 18"/>
                <a:gd name="T7" fmla="*/ 147 h 186"/>
                <a:gd name="T8" fmla="*/ 12 w 18"/>
                <a:gd name="T9" fmla="*/ 177 h 186"/>
                <a:gd name="T10" fmla="*/ 6 w 18"/>
                <a:gd name="T11" fmla="*/ 186 h 186"/>
                <a:gd name="T12" fmla="*/ 0 60000 65536"/>
                <a:gd name="T13" fmla="*/ 0 60000 65536"/>
                <a:gd name="T14" fmla="*/ 0 60000 65536"/>
                <a:gd name="T15" fmla="*/ 0 60000 65536"/>
                <a:gd name="T16" fmla="*/ 0 60000 65536"/>
                <a:gd name="T17" fmla="*/ 0 60000 65536"/>
                <a:gd name="T18" fmla="*/ 0 w 18"/>
                <a:gd name="T19" fmla="*/ 0 h 186"/>
                <a:gd name="T20" fmla="*/ 18 w 18"/>
                <a:gd name="T21" fmla="*/ 186 h 186"/>
              </a:gdLst>
              <a:ahLst/>
              <a:cxnLst>
                <a:cxn ang="T12">
                  <a:pos x="T0" y="T1"/>
                </a:cxn>
                <a:cxn ang="T13">
                  <a:pos x="T2" y="T3"/>
                </a:cxn>
                <a:cxn ang="T14">
                  <a:pos x="T4" y="T5"/>
                </a:cxn>
                <a:cxn ang="T15">
                  <a:pos x="T6" y="T7"/>
                </a:cxn>
                <a:cxn ang="T16">
                  <a:pos x="T8" y="T9"/>
                </a:cxn>
                <a:cxn ang="T17">
                  <a:pos x="T10" y="T11"/>
                </a:cxn>
              </a:cxnLst>
              <a:rect l="T18" t="T19" r="T20" b="T21"/>
              <a:pathLst>
                <a:path w="18" h="186">
                  <a:moveTo>
                    <a:pt x="9" y="0"/>
                  </a:moveTo>
                  <a:cubicBezTo>
                    <a:pt x="5" y="25"/>
                    <a:pt x="0" y="53"/>
                    <a:pt x="15" y="75"/>
                  </a:cubicBezTo>
                  <a:cubicBezTo>
                    <a:pt x="5" y="90"/>
                    <a:pt x="5" y="96"/>
                    <a:pt x="15" y="111"/>
                  </a:cubicBezTo>
                  <a:cubicBezTo>
                    <a:pt x="10" y="125"/>
                    <a:pt x="18" y="134"/>
                    <a:pt x="9" y="147"/>
                  </a:cubicBezTo>
                  <a:cubicBezTo>
                    <a:pt x="10" y="157"/>
                    <a:pt x="13" y="167"/>
                    <a:pt x="12" y="177"/>
                  </a:cubicBezTo>
                  <a:cubicBezTo>
                    <a:pt x="12" y="181"/>
                    <a:pt x="6" y="186"/>
                    <a:pt x="6" y="186"/>
                  </a:cubicBezTo>
                </a:path>
              </a:pathLst>
            </a:custGeom>
            <a:noFill/>
            <a:ln w="9525">
              <a:solidFill>
                <a:schemeClr val="tx1"/>
              </a:solidFill>
              <a:round/>
              <a:headEnd/>
              <a:tailEnd/>
            </a:ln>
          </p:spPr>
          <p:txBody>
            <a:bodyPr/>
            <a:lstStyle/>
            <a:p>
              <a:endParaRPr lang="th-TH"/>
            </a:p>
          </p:txBody>
        </p:sp>
        <p:sp>
          <p:nvSpPr>
            <p:cNvPr id="42121" name="Freeform 137"/>
            <p:cNvSpPr>
              <a:spLocks/>
            </p:cNvSpPr>
            <p:nvPr/>
          </p:nvSpPr>
          <p:spPr bwMode="auto">
            <a:xfrm>
              <a:off x="3231" y="1207"/>
              <a:ext cx="15" cy="90"/>
            </a:xfrm>
            <a:custGeom>
              <a:avLst/>
              <a:gdLst>
                <a:gd name="T0" fmla="*/ 6 w 15"/>
                <a:gd name="T1" fmla="*/ 0 h 90"/>
                <a:gd name="T2" fmla="*/ 12 w 15"/>
                <a:gd name="T3" fmla="*/ 24 h 90"/>
                <a:gd name="T4" fmla="*/ 0 w 15"/>
                <a:gd name="T5" fmla="*/ 42 h 90"/>
                <a:gd name="T6" fmla="*/ 6 w 15"/>
                <a:gd name="T7" fmla="*/ 69 h 90"/>
                <a:gd name="T8" fmla="*/ 15 w 15"/>
                <a:gd name="T9" fmla="*/ 90 h 90"/>
                <a:gd name="T10" fmla="*/ 0 60000 65536"/>
                <a:gd name="T11" fmla="*/ 0 60000 65536"/>
                <a:gd name="T12" fmla="*/ 0 60000 65536"/>
                <a:gd name="T13" fmla="*/ 0 60000 65536"/>
                <a:gd name="T14" fmla="*/ 0 60000 65536"/>
                <a:gd name="T15" fmla="*/ 0 w 15"/>
                <a:gd name="T16" fmla="*/ 0 h 90"/>
                <a:gd name="T17" fmla="*/ 15 w 15"/>
                <a:gd name="T18" fmla="*/ 90 h 90"/>
              </a:gdLst>
              <a:ahLst/>
              <a:cxnLst>
                <a:cxn ang="T10">
                  <a:pos x="T0" y="T1"/>
                </a:cxn>
                <a:cxn ang="T11">
                  <a:pos x="T2" y="T3"/>
                </a:cxn>
                <a:cxn ang="T12">
                  <a:pos x="T4" y="T5"/>
                </a:cxn>
                <a:cxn ang="T13">
                  <a:pos x="T6" y="T7"/>
                </a:cxn>
                <a:cxn ang="T14">
                  <a:pos x="T8" y="T9"/>
                </a:cxn>
              </a:cxnLst>
              <a:rect l="T15" t="T16" r="T17" b="T18"/>
              <a:pathLst>
                <a:path w="15" h="90">
                  <a:moveTo>
                    <a:pt x="6" y="0"/>
                  </a:moveTo>
                  <a:cubicBezTo>
                    <a:pt x="8" y="8"/>
                    <a:pt x="15" y="16"/>
                    <a:pt x="12" y="24"/>
                  </a:cubicBezTo>
                  <a:cubicBezTo>
                    <a:pt x="10" y="31"/>
                    <a:pt x="0" y="42"/>
                    <a:pt x="0" y="42"/>
                  </a:cubicBezTo>
                  <a:cubicBezTo>
                    <a:pt x="7" y="53"/>
                    <a:pt x="10" y="57"/>
                    <a:pt x="6" y="69"/>
                  </a:cubicBezTo>
                  <a:cubicBezTo>
                    <a:pt x="8" y="76"/>
                    <a:pt x="15" y="90"/>
                    <a:pt x="15" y="90"/>
                  </a:cubicBezTo>
                </a:path>
              </a:pathLst>
            </a:custGeom>
            <a:noFill/>
            <a:ln w="9525">
              <a:solidFill>
                <a:schemeClr val="tx1"/>
              </a:solidFill>
              <a:round/>
              <a:headEnd/>
              <a:tailEnd/>
            </a:ln>
          </p:spPr>
          <p:txBody>
            <a:bodyPr/>
            <a:lstStyle/>
            <a:p>
              <a:endParaRPr lang="th-TH"/>
            </a:p>
          </p:txBody>
        </p:sp>
        <p:sp>
          <p:nvSpPr>
            <p:cNvPr id="42122" name="Freeform 138"/>
            <p:cNvSpPr>
              <a:spLocks/>
            </p:cNvSpPr>
            <p:nvPr/>
          </p:nvSpPr>
          <p:spPr bwMode="auto">
            <a:xfrm>
              <a:off x="4140" y="1387"/>
              <a:ext cx="19" cy="138"/>
            </a:xfrm>
            <a:custGeom>
              <a:avLst/>
              <a:gdLst>
                <a:gd name="T0" fmla="*/ 15 w 19"/>
                <a:gd name="T1" fmla="*/ 0 h 138"/>
                <a:gd name="T2" fmla="*/ 12 w 19"/>
                <a:gd name="T3" fmla="*/ 30 h 138"/>
                <a:gd name="T4" fmla="*/ 15 w 19"/>
                <a:gd name="T5" fmla="*/ 81 h 138"/>
                <a:gd name="T6" fmla="*/ 9 w 19"/>
                <a:gd name="T7" fmla="*/ 108 h 138"/>
                <a:gd name="T8" fmla="*/ 9 w 19"/>
                <a:gd name="T9" fmla="*/ 138 h 138"/>
                <a:gd name="T10" fmla="*/ 0 60000 65536"/>
                <a:gd name="T11" fmla="*/ 0 60000 65536"/>
                <a:gd name="T12" fmla="*/ 0 60000 65536"/>
                <a:gd name="T13" fmla="*/ 0 60000 65536"/>
                <a:gd name="T14" fmla="*/ 0 60000 65536"/>
                <a:gd name="T15" fmla="*/ 0 w 19"/>
                <a:gd name="T16" fmla="*/ 0 h 138"/>
                <a:gd name="T17" fmla="*/ 19 w 19"/>
                <a:gd name="T18" fmla="*/ 138 h 138"/>
              </a:gdLst>
              <a:ahLst/>
              <a:cxnLst>
                <a:cxn ang="T10">
                  <a:pos x="T0" y="T1"/>
                </a:cxn>
                <a:cxn ang="T11">
                  <a:pos x="T2" y="T3"/>
                </a:cxn>
                <a:cxn ang="T12">
                  <a:pos x="T4" y="T5"/>
                </a:cxn>
                <a:cxn ang="T13">
                  <a:pos x="T6" y="T7"/>
                </a:cxn>
                <a:cxn ang="T14">
                  <a:pos x="T8" y="T9"/>
                </a:cxn>
              </a:cxnLst>
              <a:rect l="T15" t="T16" r="T17" b="T18"/>
              <a:pathLst>
                <a:path w="19" h="138">
                  <a:moveTo>
                    <a:pt x="15" y="0"/>
                  </a:moveTo>
                  <a:cubicBezTo>
                    <a:pt x="8" y="14"/>
                    <a:pt x="3" y="17"/>
                    <a:pt x="12" y="30"/>
                  </a:cubicBezTo>
                  <a:cubicBezTo>
                    <a:pt x="10" y="49"/>
                    <a:pt x="0" y="71"/>
                    <a:pt x="15" y="81"/>
                  </a:cubicBezTo>
                  <a:cubicBezTo>
                    <a:pt x="19" y="93"/>
                    <a:pt x="13" y="96"/>
                    <a:pt x="9" y="108"/>
                  </a:cubicBezTo>
                  <a:cubicBezTo>
                    <a:pt x="13" y="119"/>
                    <a:pt x="9" y="127"/>
                    <a:pt x="9" y="138"/>
                  </a:cubicBezTo>
                </a:path>
              </a:pathLst>
            </a:custGeom>
            <a:noFill/>
            <a:ln w="9525">
              <a:solidFill>
                <a:schemeClr val="tx1"/>
              </a:solidFill>
              <a:round/>
              <a:headEnd/>
              <a:tailEnd/>
            </a:ln>
          </p:spPr>
          <p:txBody>
            <a:bodyPr/>
            <a:lstStyle/>
            <a:p>
              <a:endParaRPr lang="th-TH"/>
            </a:p>
          </p:txBody>
        </p:sp>
        <p:sp>
          <p:nvSpPr>
            <p:cNvPr id="42123" name="Freeform 139"/>
            <p:cNvSpPr>
              <a:spLocks/>
            </p:cNvSpPr>
            <p:nvPr/>
          </p:nvSpPr>
          <p:spPr bwMode="auto">
            <a:xfrm>
              <a:off x="5235" y="1432"/>
              <a:ext cx="6" cy="42"/>
            </a:xfrm>
            <a:custGeom>
              <a:avLst/>
              <a:gdLst>
                <a:gd name="T0" fmla="*/ 0 w 6"/>
                <a:gd name="T1" fmla="*/ 0 h 42"/>
                <a:gd name="T2" fmla="*/ 6 w 6"/>
                <a:gd name="T3" fmla="*/ 42 h 42"/>
                <a:gd name="T4" fmla="*/ 0 60000 65536"/>
                <a:gd name="T5" fmla="*/ 0 60000 65536"/>
                <a:gd name="T6" fmla="*/ 0 w 6"/>
                <a:gd name="T7" fmla="*/ 0 h 42"/>
                <a:gd name="T8" fmla="*/ 6 w 6"/>
                <a:gd name="T9" fmla="*/ 42 h 42"/>
              </a:gdLst>
              <a:ahLst/>
              <a:cxnLst>
                <a:cxn ang="T4">
                  <a:pos x="T0" y="T1"/>
                </a:cxn>
                <a:cxn ang="T5">
                  <a:pos x="T2" y="T3"/>
                </a:cxn>
              </a:cxnLst>
              <a:rect l="T6" t="T7" r="T8" b="T9"/>
              <a:pathLst>
                <a:path w="6" h="42">
                  <a:moveTo>
                    <a:pt x="0" y="0"/>
                  </a:moveTo>
                  <a:cubicBezTo>
                    <a:pt x="5" y="14"/>
                    <a:pt x="6" y="27"/>
                    <a:pt x="6" y="42"/>
                  </a:cubicBezTo>
                </a:path>
              </a:pathLst>
            </a:custGeom>
            <a:noFill/>
            <a:ln w="9525">
              <a:solidFill>
                <a:schemeClr val="tx1"/>
              </a:solidFill>
              <a:round/>
              <a:headEnd/>
              <a:tailEnd/>
            </a:ln>
          </p:spPr>
          <p:txBody>
            <a:bodyPr/>
            <a:lstStyle/>
            <a:p>
              <a:endParaRPr lang="th-TH"/>
            </a:p>
          </p:txBody>
        </p:sp>
        <p:sp>
          <p:nvSpPr>
            <p:cNvPr id="42124" name="Freeform 140"/>
            <p:cNvSpPr>
              <a:spLocks/>
            </p:cNvSpPr>
            <p:nvPr/>
          </p:nvSpPr>
          <p:spPr bwMode="auto">
            <a:xfrm>
              <a:off x="423" y="3201"/>
              <a:ext cx="21" cy="141"/>
            </a:xfrm>
            <a:custGeom>
              <a:avLst/>
              <a:gdLst>
                <a:gd name="T0" fmla="*/ 9 w 21"/>
                <a:gd name="T1" fmla="*/ 0 h 141"/>
                <a:gd name="T2" fmla="*/ 21 w 21"/>
                <a:gd name="T3" fmla="*/ 45 h 141"/>
                <a:gd name="T4" fmla="*/ 6 w 21"/>
                <a:gd name="T5" fmla="*/ 102 h 141"/>
                <a:gd name="T6" fmla="*/ 15 w 21"/>
                <a:gd name="T7" fmla="*/ 141 h 141"/>
                <a:gd name="T8" fmla="*/ 0 60000 65536"/>
                <a:gd name="T9" fmla="*/ 0 60000 65536"/>
                <a:gd name="T10" fmla="*/ 0 60000 65536"/>
                <a:gd name="T11" fmla="*/ 0 60000 65536"/>
                <a:gd name="T12" fmla="*/ 0 w 21"/>
                <a:gd name="T13" fmla="*/ 0 h 141"/>
                <a:gd name="T14" fmla="*/ 21 w 21"/>
                <a:gd name="T15" fmla="*/ 141 h 141"/>
              </a:gdLst>
              <a:ahLst/>
              <a:cxnLst>
                <a:cxn ang="T8">
                  <a:pos x="T0" y="T1"/>
                </a:cxn>
                <a:cxn ang="T9">
                  <a:pos x="T2" y="T3"/>
                </a:cxn>
                <a:cxn ang="T10">
                  <a:pos x="T4" y="T5"/>
                </a:cxn>
                <a:cxn ang="T11">
                  <a:pos x="T6" y="T7"/>
                </a:cxn>
              </a:cxnLst>
              <a:rect l="T12" t="T13" r="T14" b="T15"/>
              <a:pathLst>
                <a:path w="21" h="141">
                  <a:moveTo>
                    <a:pt x="9" y="0"/>
                  </a:moveTo>
                  <a:cubicBezTo>
                    <a:pt x="15" y="18"/>
                    <a:pt x="2" y="32"/>
                    <a:pt x="21" y="45"/>
                  </a:cubicBezTo>
                  <a:cubicBezTo>
                    <a:pt x="15" y="64"/>
                    <a:pt x="12" y="83"/>
                    <a:pt x="6" y="102"/>
                  </a:cubicBezTo>
                  <a:cubicBezTo>
                    <a:pt x="9" y="113"/>
                    <a:pt x="0" y="141"/>
                    <a:pt x="15" y="141"/>
                  </a:cubicBezTo>
                </a:path>
              </a:pathLst>
            </a:custGeom>
            <a:noFill/>
            <a:ln w="9525">
              <a:solidFill>
                <a:schemeClr val="tx1"/>
              </a:solidFill>
              <a:round/>
              <a:headEnd/>
              <a:tailEnd/>
            </a:ln>
          </p:spPr>
          <p:txBody>
            <a:bodyPr/>
            <a:lstStyle/>
            <a:p>
              <a:endParaRPr lang="th-TH"/>
            </a:p>
          </p:txBody>
        </p:sp>
        <p:sp>
          <p:nvSpPr>
            <p:cNvPr id="42125" name="Freeform 141"/>
            <p:cNvSpPr>
              <a:spLocks/>
            </p:cNvSpPr>
            <p:nvPr/>
          </p:nvSpPr>
          <p:spPr bwMode="auto">
            <a:xfrm>
              <a:off x="1788" y="3249"/>
              <a:ext cx="8" cy="45"/>
            </a:xfrm>
            <a:custGeom>
              <a:avLst/>
              <a:gdLst>
                <a:gd name="T0" fmla="*/ 0 w 8"/>
                <a:gd name="T1" fmla="*/ 0 h 45"/>
                <a:gd name="T2" fmla="*/ 0 w 8"/>
                <a:gd name="T3" fmla="*/ 30 h 45"/>
                <a:gd name="T4" fmla="*/ 3 w 8"/>
                <a:gd name="T5" fmla="*/ 45 h 45"/>
                <a:gd name="T6" fmla="*/ 0 60000 65536"/>
                <a:gd name="T7" fmla="*/ 0 60000 65536"/>
                <a:gd name="T8" fmla="*/ 0 60000 65536"/>
                <a:gd name="T9" fmla="*/ 0 w 8"/>
                <a:gd name="T10" fmla="*/ 0 h 45"/>
                <a:gd name="T11" fmla="*/ 8 w 8"/>
                <a:gd name="T12" fmla="*/ 45 h 45"/>
              </a:gdLst>
              <a:ahLst/>
              <a:cxnLst>
                <a:cxn ang="T6">
                  <a:pos x="T0" y="T1"/>
                </a:cxn>
                <a:cxn ang="T7">
                  <a:pos x="T2" y="T3"/>
                </a:cxn>
                <a:cxn ang="T8">
                  <a:pos x="T4" y="T5"/>
                </a:cxn>
              </a:cxnLst>
              <a:rect l="T9" t="T10" r="T11" b="T12"/>
              <a:pathLst>
                <a:path w="8" h="45">
                  <a:moveTo>
                    <a:pt x="0" y="0"/>
                  </a:moveTo>
                  <a:cubicBezTo>
                    <a:pt x="4" y="14"/>
                    <a:pt x="8" y="18"/>
                    <a:pt x="0" y="30"/>
                  </a:cubicBezTo>
                  <a:cubicBezTo>
                    <a:pt x="1" y="35"/>
                    <a:pt x="3" y="45"/>
                    <a:pt x="3" y="45"/>
                  </a:cubicBezTo>
                </a:path>
              </a:pathLst>
            </a:custGeom>
            <a:noFill/>
            <a:ln w="9525">
              <a:solidFill>
                <a:schemeClr val="tx1"/>
              </a:solidFill>
              <a:round/>
              <a:headEnd/>
              <a:tailEnd/>
            </a:ln>
          </p:spPr>
          <p:txBody>
            <a:bodyPr/>
            <a:lstStyle/>
            <a:p>
              <a:endParaRPr lang="th-TH"/>
            </a:p>
          </p:txBody>
        </p:sp>
        <p:sp>
          <p:nvSpPr>
            <p:cNvPr id="42126" name="Text Box 142"/>
            <p:cNvSpPr txBox="1">
              <a:spLocks noChangeArrowheads="1"/>
            </p:cNvSpPr>
            <p:nvPr/>
          </p:nvSpPr>
          <p:spPr bwMode="auto">
            <a:xfrm>
              <a:off x="747" y="1979"/>
              <a:ext cx="1044"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Two high</a:t>
              </a:r>
              <a:endParaRPr lang="th-TH" sz="2400">
                <a:latin typeface="Vrinda" pitchFamily="2" charset="0"/>
                <a:cs typeface="Angsana New" pitchFamily="18" charset="-34"/>
              </a:endParaRPr>
            </a:p>
          </p:txBody>
        </p:sp>
        <p:sp>
          <p:nvSpPr>
            <p:cNvPr id="42127" name="Text Box 143"/>
            <p:cNvSpPr txBox="1">
              <a:spLocks noChangeArrowheads="1"/>
            </p:cNvSpPr>
            <p:nvPr/>
          </p:nvSpPr>
          <p:spPr bwMode="auto">
            <a:xfrm>
              <a:off x="2290" y="2387"/>
              <a:ext cx="1261"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Three high</a:t>
              </a:r>
              <a:endParaRPr lang="th-TH" sz="2400">
                <a:latin typeface="Vrinda" pitchFamily="2" charset="0"/>
                <a:cs typeface="Angsana New" pitchFamily="18" charset="-34"/>
              </a:endParaRPr>
            </a:p>
          </p:txBody>
        </p:sp>
        <p:sp>
          <p:nvSpPr>
            <p:cNvPr id="42128" name="Text Box 144"/>
            <p:cNvSpPr txBox="1">
              <a:spLocks noChangeArrowheads="1"/>
            </p:cNvSpPr>
            <p:nvPr/>
          </p:nvSpPr>
          <p:spPr bwMode="auto">
            <a:xfrm>
              <a:off x="4150" y="2296"/>
              <a:ext cx="1315" cy="633"/>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Four high</a:t>
              </a:r>
              <a:endParaRPr lang="th-TH" sz="2400">
                <a:latin typeface="Vrinda" pitchFamily="2" charset="0"/>
                <a:cs typeface="Angsana New" pitchFamily="18" charset="-34"/>
              </a:endParaRPr>
            </a:p>
            <a:p>
              <a:pPr>
                <a:spcBef>
                  <a:spcPct val="50000"/>
                </a:spcBef>
              </a:pPr>
              <a:endParaRPr lang="th-TH" sz="2400">
                <a:latin typeface="Vrinda" pitchFamily="2" charset="0"/>
                <a:cs typeface="Angsana New" pitchFamily="18" charset="-34"/>
              </a:endParaRPr>
            </a:p>
          </p:txBody>
        </p:sp>
        <p:sp>
          <p:nvSpPr>
            <p:cNvPr id="42129" name="Text Box 145"/>
            <p:cNvSpPr txBox="1">
              <a:spLocks noChangeArrowheads="1"/>
            </p:cNvSpPr>
            <p:nvPr/>
          </p:nvSpPr>
          <p:spPr bwMode="auto">
            <a:xfrm>
              <a:off x="748" y="3838"/>
              <a:ext cx="1542"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Cluster Mill</a:t>
              </a:r>
              <a:endParaRPr lang="th-TH" sz="2400">
                <a:latin typeface="Vrinda" pitchFamily="2" charset="0"/>
                <a:cs typeface="Angsana New" pitchFamily="18" charset="-34"/>
              </a:endParaRPr>
            </a:p>
          </p:txBody>
        </p:sp>
        <p:sp>
          <p:nvSpPr>
            <p:cNvPr id="42130" name="Text Box 146"/>
            <p:cNvSpPr txBox="1">
              <a:spLocks noChangeArrowheads="1"/>
            </p:cNvSpPr>
            <p:nvPr/>
          </p:nvSpPr>
          <p:spPr bwMode="auto">
            <a:xfrm>
              <a:off x="3424" y="3884"/>
              <a:ext cx="2404" cy="2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Tandem rolling mill</a:t>
              </a:r>
              <a:endParaRPr lang="th-TH" sz="2400">
                <a:latin typeface="Vrinda" pitchFamily="2" charset="0"/>
                <a:cs typeface="Angsana New" pitchFamily="18" charset="-34"/>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7"/>
          <p:cNvSpPr>
            <a:spLocks noGrp="1" noChangeArrowheads="1"/>
          </p:cNvSpPr>
          <p:nvPr>
            <p:ph type="title"/>
          </p:nvPr>
        </p:nvSpPr>
        <p:spPr/>
        <p:txBody>
          <a:bodyPr/>
          <a:lstStyle/>
          <a:p>
            <a:pPr eaLnBrk="1" hangingPunct="1"/>
            <a:r>
              <a:rPr lang="en-US">
                <a:solidFill>
                  <a:schemeClr val="tx1"/>
                </a:solidFill>
              </a:rPr>
              <a:t>Cluster Mill</a:t>
            </a:r>
            <a:endParaRPr lang="th-TH">
              <a:solidFill>
                <a:schemeClr val="tx1"/>
              </a:solidFill>
            </a:endParaRPr>
          </a:p>
        </p:txBody>
      </p:sp>
      <p:pic>
        <p:nvPicPr>
          <p:cNvPr id="43011" name="Picture 4" descr="ClusterMill"/>
          <p:cNvPicPr>
            <a:picLocks noGrp="1" noChangeAspect="1" noChangeArrowheads="1"/>
          </p:cNvPicPr>
          <p:nvPr>
            <p:ph sz="half" idx="1"/>
          </p:nvPr>
        </p:nvPicPr>
        <p:blipFill>
          <a:blip r:embed="rId2" cstate="print"/>
          <a:srcRect/>
          <a:stretch>
            <a:fillRect/>
          </a:stretch>
        </p:blipFill>
        <p:spPr>
          <a:xfrm>
            <a:off x="2214563" y="2713038"/>
            <a:ext cx="4887912" cy="3008312"/>
          </a:xfr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3"/>
          <p:cNvPicPr>
            <a:picLocks noGrp="1" noChangeAspect="1" noChangeArrowheads="1"/>
          </p:cNvPicPr>
          <p:nvPr>
            <p:ph sz="half" idx="1"/>
          </p:nvPr>
        </p:nvPicPr>
        <p:blipFill>
          <a:blip r:embed="rId2" cstate="print"/>
          <a:srcRect/>
          <a:stretch>
            <a:fillRect/>
          </a:stretch>
        </p:blipFill>
        <p:spPr>
          <a:xfrm>
            <a:off x="1349375" y="1143000"/>
            <a:ext cx="6664325" cy="5715000"/>
          </a:xfrm>
          <a:noFill/>
        </p:spPr>
      </p:pic>
      <p:sp>
        <p:nvSpPr>
          <p:cNvPr id="44035" name="Rectangle 5"/>
          <p:cNvSpPr>
            <a:spLocks noGrp="1" noChangeArrowheads="1"/>
          </p:cNvSpPr>
          <p:nvPr>
            <p:ph type="title"/>
          </p:nvPr>
        </p:nvSpPr>
        <p:spPr>
          <a:xfrm>
            <a:off x="673100" y="217488"/>
            <a:ext cx="7772400" cy="1143000"/>
          </a:xfrm>
        </p:spPr>
        <p:txBody>
          <a:bodyPr/>
          <a:lstStyle/>
          <a:p>
            <a:pPr eaLnBrk="1" hangingPunct="1"/>
            <a:r>
              <a:rPr lang="en-US"/>
              <a:t>Shapes Produced by rolling</a:t>
            </a:r>
            <a:endParaRPr lang="th-TH"/>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endParaRPr lang="th-TH"/>
          </a:p>
        </p:txBody>
      </p:sp>
      <p:pic>
        <p:nvPicPr>
          <p:cNvPr id="45059" name="Picture 3"/>
          <p:cNvPicPr>
            <a:picLocks noGrp="1" noChangeAspect="1" noChangeArrowheads="1"/>
          </p:cNvPicPr>
          <p:nvPr>
            <p:ph idx="1"/>
          </p:nvPr>
        </p:nvPicPr>
        <p:blipFill>
          <a:blip r:embed="rId2" cstate="print"/>
          <a:srcRect/>
          <a:stretch>
            <a:fillRect/>
          </a:stretch>
        </p:blipFill>
        <p:spPr>
          <a:xfrm>
            <a:off x="638175" y="312738"/>
            <a:ext cx="6496050" cy="6270625"/>
          </a:xfr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570163" y="273050"/>
            <a:ext cx="4638675" cy="1143000"/>
          </a:xfrm>
        </p:spPr>
        <p:txBody>
          <a:bodyPr/>
          <a:lstStyle/>
          <a:p>
            <a:pPr eaLnBrk="1" hangingPunct="1"/>
            <a:r>
              <a:rPr lang="en-US"/>
              <a:t>Roll-Forging</a:t>
            </a:r>
          </a:p>
        </p:txBody>
      </p:sp>
      <p:pic>
        <p:nvPicPr>
          <p:cNvPr id="46083" name="Picture 3"/>
          <p:cNvPicPr>
            <a:picLocks noChangeAspect="1" noChangeArrowheads="1"/>
          </p:cNvPicPr>
          <p:nvPr/>
        </p:nvPicPr>
        <p:blipFill>
          <a:blip r:embed="rId2" cstate="print"/>
          <a:srcRect/>
          <a:stretch>
            <a:fillRect/>
          </a:stretch>
        </p:blipFill>
        <p:spPr bwMode="auto">
          <a:xfrm>
            <a:off x="585788" y="1801813"/>
            <a:ext cx="7812087" cy="2419350"/>
          </a:xfrm>
          <a:prstGeom prst="rect">
            <a:avLst/>
          </a:prstGeom>
          <a:noFill/>
          <a:ln w="9525">
            <a:noFill/>
            <a:miter lim="800000"/>
            <a:headEnd/>
            <a:tailEnd/>
          </a:ln>
        </p:spPr>
      </p:pic>
      <p:sp>
        <p:nvSpPr>
          <p:cNvPr id="46084" name="Text Box 4"/>
          <p:cNvSpPr txBox="1">
            <a:spLocks noChangeArrowheads="1"/>
          </p:cNvSpPr>
          <p:nvPr/>
        </p:nvSpPr>
        <p:spPr bwMode="auto">
          <a:xfrm>
            <a:off x="557213" y="5302250"/>
            <a:ext cx="7812087" cy="622300"/>
          </a:xfrm>
          <a:prstGeom prst="rect">
            <a:avLst/>
          </a:prstGeom>
          <a:noFill/>
          <a:ln w="9525">
            <a:noFill/>
            <a:miter lim="800000"/>
            <a:headEnd/>
            <a:tailEnd/>
          </a:ln>
        </p:spPr>
        <p:txBody>
          <a:bodyPr lIns="0" tIns="0" rIns="0" bIns="0"/>
          <a:lstStyle/>
          <a:p>
            <a:pPr defTabSz="828675" eaLnBrk="0" hangingPunct="0">
              <a:lnSpc>
                <a:spcPct val="85000"/>
              </a:lnSpc>
              <a:tabLst>
                <a:tab pos="657225" algn="l"/>
                <a:tab pos="1312863" algn="l"/>
                <a:tab pos="1970088" algn="l"/>
                <a:tab pos="2627313" algn="l"/>
                <a:tab pos="3282950" algn="l"/>
                <a:tab pos="3940175" algn="l"/>
                <a:tab pos="4595813" algn="l"/>
                <a:tab pos="5253038" algn="l"/>
                <a:tab pos="5910263" algn="l"/>
                <a:tab pos="6565900" algn="l"/>
                <a:tab pos="7223125" algn="l"/>
              </a:tabLst>
            </a:pPr>
            <a:r>
              <a:rPr lang="en-GB" sz="2000"/>
              <a:t>Figure 14.13  Two examples of the roll-forging operation, also known as </a:t>
            </a:r>
            <a:r>
              <a:rPr lang="en-GB" sz="2000" i="1"/>
              <a:t>cross-rolling</a:t>
            </a:r>
            <a:r>
              <a:rPr lang="en-GB" sz="2000"/>
              <a:t>.  Tapered leaf springs and knives can be made by this process.  </a:t>
            </a:r>
            <a:r>
              <a:rPr lang="en-GB" sz="2000" i="1"/>
              <a:t>Source</a:t>
            </a:r>
            <a:r>
              <a:rPr lang="en-GB" sz="2000"/>
              <a:t>: (a) J. Holub; (b) reprinted with permission of General Motors Corporation.</a:t>
            </a:r>
            <a:endParaRPr lang="en-GB" sz="2000">
              <a:latin typeface="Helvetica"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AutoShape 2"/>
          <p:cNvSpPr>
            <a:spLocks noChangeArrowheads="1"/>
          </p:cNvSpPr>
          <p:nvPr/>
        </p:nvSpPr>
        <p:spPr bwMode="auto">
          <a:xfrm rot="-9627415">
            <a:off x="3133725" y="3424238"/>
            <a:ext cx="503238" cy="360362"/>
          </a:xfrm>
          <a:prstGeom prst="curvedUpArrow">
            <a:avLst>
              <a:gd name="adj1" fmla="val 27930"/>
              <a:gd name="adj2" fmla="val 55859"/>
              <a:gd name="adj3" fmla="val 33333"/>
            </a:avLst>
          </a:prstGeom>
          <a:solidFill>
            <a:schemeClr val="bg1"/>
          </a:solidFill>
          <a:ln w="9525">
            <a:solidFill>
              <a:schemeClr val="tx1"/>
            </a:solidFill>
            <a:miter lim="800000"/>
            <a:headEnd/>
            <a:tailEnd/>
          </a:ln>
        </p:spPr>
        <p:txBody>
          <a:bodyPr wrap="none" anchor="ctr"/>
          <a:lstStyle/>
          <a:p>
            <a:endParaRPr lang="th-TH"/>
          </a:p>
        </p:txBody>
      </p:sp>
      <p:sp>
        <p:nvSpPr>
          <p:cNvPr id="47107" name="Line 3"/>
          <p:cNvSpPr>
            <a:spLocks noChangeShapeType="1"/>
          </p:cNvSpPr>
          <p:nvPr/>
        </p:nvSpPr>
        <p:spPr bwMode="auto">
          <a:xfrm flipV="1">
            <a:off x="5364163" y="3568700"/>
            <a:ext cx="288925" cy="288925"/>
          </a:xfrm>
          <a:prstGeom prst="line">
            <a:avLst/>
          </a:prstGeom>
          <a:noFill/>
          <a:ln w="9525">
            <a:solidFill>
              <a:schemeClr val="tx1"/>
            </a:solidFill>
            <a:round/>
            <a:headEnd/>
            <a:tailEnd/>
          </a:ln>
        </p:spPr>
        <p:txBody>
          <a:bodyPr/>
          <a:lstStyle/>
          <a:p>
            <a:endParaRPr lang="th-TH"/>
          </a:p>
        </p:txBody>
      </p:sp>
      <p:sp>
        <p:nvSpPr>
          <p:cNvPr id="47108" name="Line 4"/>
          <p:cNvSpPr>
            <a:spLocks noChangeShapeType="1"/>
          </p:cNvSpPr>
          <p:nvPr/>
        </p:nvSpPr>
        <p:spPr bwMode="auto">
          <a:xfrm flipV="1">
            <a:off x="5508625" y="3640138"/>
            <a:ext cx="215900" cy="217487"/>
          </a:xfrm>
          <a:prstGeom prst="line">
            <a:avLst/>
          </a:prstGeom>
          <a:noFill/>
          <a:ln w="9525">
            <a:solidFill>
              <a:schemeClr val="tx1"/>
            </a:solidFill>
            <a:round/>
            <a:headEnd/>
            <a:tailEnd/>
          </a:ln>
        </p:spPr>
        <p:txBody>
          <a:bodyPr/>
          <a:lstStyle/>
          <a:p>
            <a:endParaRPr lang="th-TH"/>
          </a:p>
        </p:txBody>
      </p:sp>
      <p:sp>
        <p:nvSpPr>
          <p:cNvPr id="47109" name="Oval 5"/>
          <p:cNvSpPr>
            <a:spLocks noChangeArrowheads="1"/>
          </p:cNvSpPr>
          <p:nvPr/>
        </p:nvSpPr>
        <p:spPr bwMode="auto">
          <a:xfrm>
            <a:off x="5437188" y="2776538"/>
            <a:ext cx="215900" cy="504825"/>
          </a:xfrm>
          <a:prstGeom prst="ellipse">
            <a:avLst/>
          </a:prstGeom>
          <a:solidFill>
            <a:schemeClr val="bg1"/>
          </a:solidFill>
          <a:ln w="9525">
            <a:solidFill>
              <a:schemeClr val="tx1"/>
            </a:solidFill>
            <a:round/>
            <a:headEnd/>
            <a:tailEnd/>
          </a:ln>
        </p:spPr>
        <p:txBody>
          <a:bodyPr wrap="none" anchor="ctr"/>
          <a:lstStyle/>
          <a:p>
            <a:endParaRPr lang="th-TH"/>
          </a:p>
        </p:txBody>
      </p:sp>
      <p:sp>
        <p:nvSpPr>
          <p:cNvPr id="47110" name="Oval 6"/>
          <p:cNvSpPr>
            <a:spLocks noChangeArrowheads="1"/>
          </p:cNvSpPr>
          <p:nvPr/>
        </p:nvSpPr>
        <p:spPr bwMode="auto">
          <a:xfrm>
            <a:off x="755650" y="2925763"/>
            <a:ext cx="865188" cy="863600"/>
          </a:xfrm>
          <a:prstGeom prst="ellipse">
            <a:avLst/>
          </a:prstGeom>
          <a:solidFill>
            <a:schemeClr val="bg1"/>
          </a:solidFill>
          <a:ln w="9525">
            <a:solidFill>
              <a:schemeClr val="tx1"/>
            </a:solidFill>
            <a:round/>
            <a:headEnd/>
            <a:tailEnd/>
          </a:ln>
        </p:spPr>
        <p:txBody>
          <a:bodyPr wrap="none" anchor="ctr"/>
          <a:lstStyle/>
          <a:p>
            <a:endParaRPr lang="th-TH"/>
          </a:p>
        </p:txBody>
      </p:sp>
      <p:sp>
        <p:nvSpPr>
          <p:cNvPr id="47111" name="Line 7"/>
          <p:cNvSpPr>
            <a:spLocks noChangeShapeType="1"/>
          </p:cNvSpPr>
          <p:nvPr/>
        </p:nvSpPr>
        <p:spPr bwMode="auto">
          <a:xfrm>
            <a:off x="1189038" y="2278063"/>
            <a:ext cx="0" cy="576262"/>
          </a:xfrm>
          <a:prstGeom prst="line">
            <a:avLst/>
          </a:prstGeom>
          <a:noFill/>
          <a:ln w="9525">
            <a:solidFill>
              <a:schemeClr val="tx1"/>
            </a:solidFill>
            <a:round/>
            <a:headEnd/>
            <a:tailEnd type="triangle" w="med" len="med"/>
          </a:ln>
        </p:spPr>
        <p:txBody>
          <a:bodyPr/>
          <a:lstStyle/>
          <a:p>
            <a:endParaRPr lang="th-TH"/>
          </a:p>
        </p:txBody>
      </p:sp>
      <p:sp>
        <p:nvSpPr>
          <p:cNvPr id="47112" name="Line 8"/>
          <p:cNvSpPr>
            <a:spLocks noChangeShapeType="1"/>
          </p:cNvSpPr>
          <p:nvPr/>
        </p:nvSpPr>
        <p:spPr bwMode="auto">
          <a:xfrm flipV="1">
            <a:off x="1189038" y="3863975"/>
            <a:ext cx="0" cy="574675"/>
          </a:xfrm>
          <a:prstGeom prst="line">
            <a:avLst/>
          </a:prstGeom>
          <a:noFill/>
          <a:ln w="9525">
            <a:solidFill>
              <a:schemeClr val="tx1"/>
            </a:solidFill>
            <a:round/>
            <a:headEnd/>
            <a:tailEnd type="triangle" w="med" len="med"/>
          </a:ln>
        </p:spPr>
        <p:txBody>
          <a:bodyPr/>
          <a:lstStyle/>
          <a:p>
            <a:endParaRPr lang="th-TH"/>
          </a:p>
        </p:txBody>
      </p:sp>
      <p:sp>
        <p:nvSpPr>
          <p:cNvPr id="47113" name="Line 9"/>
          <p:cNvSpPr>
            <a:spLocks noChangeShapeType="1"/>
          </p:cNvSpPr>
          <p:nvPr/>
        </p:nvSpPr>
        <p:spPr bwMode="auto">
          <a:xfrm flipH="1">
            <a:off x="1189038" y="2422525"/>
            <a:ext cx="358775" cy="215900"/>
          </a:xfrm>
          <a:prstGeom prst="line">
            <a:avLst/>
          </a:prstGeom>
          <a:noFill/>
          <a:ln w="9525">
            <a:solidFill>
              <a:schemeClr val="tx1"/>
            </a:solidFill>
            <a:round/>
            <a:headEnd/>
            <a:tailEnd type="triangle" w="med" len="med"/>
          </a:ln>
        </p:spPr>
        <p:txBody>
          <a:bodyPr/>
          <a:lstStyle/>
          <a:p>
            <a:endParaRPr lang="th-TH"/>
          </a:p>
        </p:txBody>
      </p:sp>
      <p:sp>
        <p:nvSpPr>
          <p:cNvPr id="47114" name="Line 10"/>
          <p:cNvSpPr>
            <a:spLocks noChangeShapeType="1"/>
          </p:cNvSpPr>
          <p:nvPr/>
        </p:nvSpPr>
        <p:spPr bwMode="auto">
          <a:xfrm>
            <a:off x="1547813" y="2420938"/>
            <a:ext cx="360362" cy="0"/>
          </a:xfrm>
          <a:prstGeom prst="line">
            <a:avLst/>
          </a:prstGeom>
          <a:noFill/>
          <a:ln w="9525">
            <a:solidFill>
              <a:schemeClr val="tx1"/>
            </a:solidFill>
            <a:round/>
            <a:headEnd/>
            <a:tailEnd/>
          </a:ln>
        </p:spPr>
        <p:txBody>
          <a:bodyPr/>
          <a:lstStyle/>
          <a:p>
            <a:endParaRPr lang="th-TH"/>
          </a:p>
        </p:txBody>
      </p:sp>
      <p:sp>
        <p:nvSpPr>
          <p:cNvPr id="47115" name="Line 11"/>
          <p:cNvSpPr>
            <a:spLocks noChangeShapeType="1"/>
          </p:cNvSpPr>
          <p:nvPr/>
        </p:nvSpPr>
        <p:spPr bwMode="auto">
          <a:xfrm>
            <a:off x="1260475" y="3357563"/>
            <a:ext cx="287338" cy="0"/>
          </a:xfrm>
          <a:prstGeom prst="line">
            <a:avLst/>
          </a:prstGeom>
          <a:noFill/>
          <a:ln w="9525">
            <a:solidFill>
              <a:schemeClr val="tx1"/>
            </a:solidFill>
            <a:round/>
            <a:headEnd/>
            <a:tailEnd type="triangle" w="med" len="med"/>
          </a:ln>
        </p:spPr>
        <p:txBody>
          <a:bodyPr/>
          <a:lstStyle/>
          <a:p>
            <a:endParaRPr lang="th-TH"/>
          </a:p>
        </p:txBody>
      </p:sp>
      <p:sp>
        <p:nvSpPr>
          <p:cNvPr id="47116" name="Line 12"/>
          <p:cNvSpPr>
            <a:spLocks noChangeShapeType="1"/>
          </p:cNvSpPr>
          <p:nvPr/>
        </p:nvSpPr>
        <p:spPr bwMode="auto">
          <a:xfrm flipH="1">
            <a:off x="828675" y="3357563"/>
            <a:ext cx="287338" cy="0"/>
          </a:xfrm>
          <a:prstGeom prst="line">
            <a:avLst/>
          </a:prstGeom>
          <a:noFill/>
          <a:ln w="9525">
            <a:solidFill>
              <a:schemeClr val="tx1"/>
            </a:solidFill>
            <a:round/>
            <a:headEnd/>
            <a:tailEnd type="triangle" w="med" len="med"/>
          </a:ln>
        </p:spPr>
        <p:txBody>
          <a:bodyPr/>
          <a:lstStyle/>
          <a:p>
            <a:endParaRPr lang="th-TH"/>
          </a:p>
        </p:txBody>
      </p:sp>
      <p:sp>
        <p:nvSpPr>
          <p:cNvPr id="47117" name="Line 13"/>
          <p:cNvSpPr>
            <a:spLocks noChangeShapeType="1"/>
          </p:cNvSpPr>
          <p:nvPr/>
        </p:nvSpPr>
        <p:spPr bwMode="auto">
          <a:xfrm flipH="1" flipV="1">
            <a:off x="1331913" y="3357563"/>
            <a:ext cx="288925" cy="431800"/>
          </a:xfrm>
          <a:prstGeom prst="line">
            <a:avLst/>
          </a:prstGeom>
          <a:noFill/>
          <a:ln w="9525">
            <a:solidFill>
              <a:schemeClr val="tx1"/>
            </a:solidFill>
            <a:round/>
            <a:headEnd/>
            <a:tailEnd type="triangle" w="med" len="med"/>
          </a:ln>
        </p:spPr>
        <p:txBody>
          <a:bodyPr/>
          <a:lstStyle/>
          <a:p>
            <a:endParaRPr lang="th-TH"/>
          </a:p>
        </p:txBody>
      </p:sp>
      <p:sp>
        <p:nvSpPr>
          <p:cNvPr id="47118" name="Line 14"/>
          <p:cNvSpPr>
            <a:spLocks noChangeShapeType="1"/>
          </p:cNvSpPr>
          <p:nvPr/>
        </p:nvSpPr>
        <p:spPr bwMode="auto">
          <a:xfrm>
            <a:off x="1620838" y="3789363"/>
            <a:ext cx="360362" cy="0"/>
          </a:xfrm>
          <a:prstGeom prst="line">
            <a:avLst/>
          </a:prstGeom>
          <a:noFill/>
          <a:ln w="9525">
            <a:solidFill>
              <a:schemeClr val="tx1"/>
            </a:solidFill>
            <a:round/>
            <a:headEnd/>
            <a:tailEnd/>
          </a:ln>
        </p:spPr>
        <p:txBody>
          <a:bodyPr/>
          <a:lstStyle/>
          <a:p>
            <a:endParaRPr lang="th-TH"/>
          </a:p>
        </p:txBody>
      </p:sp>
      <p:sp>
        <p:nvSpPr>
          <p:cNvPr id="47119" name="Line 15"/>
          <p:cNvSpPr>
            <a:spLocks noChangeShapeType="1"/>
          </p:cNvSpPr>
          <p:nvPr/>
        </p:nvSpPr>
        <p:spPr bwMode="auto">
          <a:xfrm>
            <a:off x="3997325" y="3281363"/>
            <a:ext cx="3240088" cy="0"/>
          </a:xfrm>
          <a:prstGeom prst="line">
            <a:avLst/>
          </a:prstGeom>
          <a:noFill/>
          <a:ln w="9525">
            <a:solidFill>
              <a:schemeClr val="tx1"/>
            </a:solidFill>
            <a:round/>
            <a:headEnd/>
            <a:tailEnd/>
          </a:ln>
        </p:spPr>
        <p:txBody>
          <a:bodyPr/>
          <a:lstStyle/>
          <a:p>
            <a:endParaRPr lang="th-TH"/>
          </a:p>
        </p:txBody>
      </p:sp>
      <p:sp>
        <p:nvSpPr>
          <p:cNvPr id="47120" name="Line 16"/>
          <p:cNvSpPr>
            <a:spLocks noChangeShapeType="1"/>
          </p:cNvSpPr>
          <p:nvPr/>
        </p:nvSpPr>
        <p:spPr bwMode="auto">
          <a:xfrm>
            <a:off x="3997325" y="3857625"/>
            <a:ext cx="3240088" cy="0"/>
          </a:xfrm>
          <a:prstGeom prst="line">
            <a:avLst/>
          </a:prstGeom>
          <a:noFill/>
          <a:ln w="9525">
            <a:solidFill>
              <a:schemeClr val="tx1"/>
            </a:solidFill>
            <a:round/>
            <a:headEnd/>
            <a:tailEnd/>
          </a:ln>
        </p:spPr>
        <p:txBody>
          <a:bodyPr/>
          <a:lstStyle/>
          <a:p>
            <a:endParaRPr lang="th-TH"/>
          </a:p>
        </p:txBody>
      </p:sp>
      <p:sp>
        <p:nvSpPr>
          <p:cNvPr id="47121" name="AutoShape 17"/>
          <p:cNvSpPr>
            <a:spLocks noChangeArrowheads="1"/>
          </p:cNvSpPr>
          <p:nvPr/>
        </p:nvSpPr>
        <p:spPr bwMode="auto">
          <a:xfrm rot="-5400000">
            <a:off x="5509419" y="3423444"/>
            <a:ext cx="287337" cy="288925"/>
          </a:xfrm>
          <a:prstGeom prst="flowChartExtract">
            <a:avLst/>
          </a:prstGeom>
          <a:solidFill>
            <a:schemeClr val="bg1"/>
          </a:solidFill>
          <a:ln w="9525">
            <a:solidFill>
              <a:schemeClr val="tx1"/>
            </a:solidFill>
            <a:miter lim="800000"/>
            <a:headEnd/>
            <a:tailEnd/>
          </a:ln>
        </p:spPr>
        <p:txBody>
          <a:bodyPr wrap="none" anchor="ctr"/>
          <a:lstStyle/>
          <a:p>
            <a:endParaRPr lang="th-TH"/>
          </a:p>
        </p:txBody>
      </p:sp>
      <p:sp>
        <p:nvSpPr>
          <p:cNvPr id="47122" name="Line 18"/>
          <p:cNvSpPr>
            <a:spLocks noChangeShapeType="1"/>
          </p:cNvSpPr>
          <p:nvPr/>
        </p:nvSpPr>
        <p:spPr bwMode="auto">
          <a:xfrm>
            <a:off x="5797550" y="3424238"/>
            <a:ext cx="142875" cy="0"/>
          </a:xfrm>
          <a:prstGeom prst="line">
            <a:avLst/>
          </a:prstGeom>
          <a:noFill/>
          <a:ln w="9525">
            <a:solidFill>
              <a:schemeClr val="tx1"/>
            </a:solidFill>
            <a:round/>
            <a:headEnd/>
            <a:tailEnd/>
          </a:ln>
        </p:spPr>
        <p:txBody>
          <a:bodyPr/>
          <a:lstStyle/>
          <a:p>
            <a:endParaRPr lang="th-TH"/>
          </a:p>
        </p:txBody>
      </p:sp>
      <p:sp>
        <p:nvSpPr>
          <p:cNvPr id="47123" name="Line 19"/>
          <p:cNvSpPr>
            <a:spLocks noChangeShapeType="1"/>
          </p:cNvSpPr>
          <p:nvPr/>
        </p:nvSpPr>
        <p:spPr bwMode="auto">
          <a:xfrm>
            <a:off x="5797550" y="3713163"/>
            <a:ext cx="142875" cy="0"/>
          </a:xfrm>
          <a:prstGeom prst="line">
            <a:avLst/>
          </a:prstGeom>
          <a:noFill/>
          <a:ln w="9525">
            <a:solidFill>
              <a:schemeClr val="tx1"/>
            </a:solidFill>
            <a:round/>
            <a:headEnd/>
            <a:tailEnd/>
          </a:ln>
        </p:spPr>
        <p:txBody>
          <a:bodyPr/>
          <a:lstStyle/>
          <a:p>
            <a:endParaRPr lang="th-TH"/>
          </a:p>
        </p:txBody>
      </p:sp>
      <p:sp>
        <p:nvSpPr>
          <p:cNvPr id="47124" name="Line 20"/>
          <p:cNvSpPr>
            <a:spLocks noChangeShapeType="1"/>
          </p:cNvSpPr>
          <p:nvPr/>
        </p:nvSpPr>
        <p:spPr bwMode="auto">
          <a:xfrm>
            <a:off x="5940425" y="3424238"/>
            <a:ext cx="0" cy="288925"/>
          </a:xfrm>
          <a:prstGeom prst="line">
            <a:avLst/>
          </a:prstGeom>
          <a:noFill/>
          <a:ln w="9525">
            <a:solidFill>
              <a:schemeClr val="tx1"/>
            </a:solidFill>
            <a:round/>
            <a:headEnd/>
            <a:tailEnd/>
          </a:ln>
        </p:spPr>
        <p:txBody>
          <a:bodyPr/>
          <a:lstStyle/>
          <a:p>
            <a:endParaRPr lang="th-TH"/>
          </a:p>
        </p:txBody>
      </p:sp>
      <p:sp>
        <p:nvSpPr>
          <p:cNvPr id="47125" name="Line 21"/>
          <p:cNvSpPr>
            <a:spLocks noChangeShapeType="1"/>
          </p:cNvSpPr>
          <p:nvPr/>
        </p:nvSpPr>
        <p:spPr bwMode="auto">
          <a:xfrm>
            <a:off x="5940425" y="3497263"/>
            <a:ext cx="2016125" cy="0"/>
          </a:xfrm>
          <a:prstGeom prst="line">
            <a:avLst/>
          </a:prstGeom>
          <a:noFill/>
          <a:ln w="9525">
            <a:solidFill>
              <a:schemeClr val="tx1"/>
            </a:solidFill>
            <a:round/>
            <a:headEnd/>
            <a:tailEnd/>
          </a:ln>
        </p:spPr>
        <p:txBody>
          <a:bodyPr/>
          <a:lstStyle/>
          <a:p>
            <a:endParaRPr lang="th-TH"/>
          </a:p>
        </p:txBody>
      </p:sp>
      <p:sp>
        <p:nvSpPr>
          <p:cNvPr id="47126" name="Line 22"/>
          <p:cNvSpPr>
            <a:spLocks noChangeShapeType="1"/>
          </p:cNvSpPr>
          <p:nvPr/>
        </p:nvSpPr>
        <p:spPr bwMode="auto">
          <a:xfrm>
            <a:off x="5940425" y="3640138"/>
            <a:ext cx="2089150" cy="0"/>
          </a:xfrm>
          <a:prstGeom prst="line">
            <a:avLst/>
          </a:prstGeom>
          <a:noFill/>
          <a:ln w="9525">
            <a:solidFill>
              <a:schemeClr val="tx1"/>
            </a:solidFill>
            <a:round/>
            <a:headEnd/>
            <a:tailEnd/>
          </a:ln>
        </p:spPr>
        <p:txBody>
          <a:bodyPr/>
          <a:lstStyle/>
          <a:p>
            <a:endParaRPr lang="th-TH"/>
          </a:p>
        </p:txBody>
      </p:sp>
      <p:sp>
        <p:nvSpPr>
          <p:cNvPr id="47127" name="Freeform 23"/>
          <p:cNvSpPr>
            <a:spLocks/>
          </p:cNvSpPr>
          <p:nvPr/>
        </p:nvSpPr>
        <p:spPr bwMode="auto">
          <a:xfrm>
            <a:off x="7945438" y="3497263"/>
            <a:ext cx="84137" cy="142875"/>
          </a:xfrm>
          <a:custGeom>
            <a:avLst/>
            <a:gdLst>
              <a:gd name="T0" fmla="*/ 11112 w 53"/>
              <a:gd name="T1" fmla="*/ 0 h 90"/>
              <a:gd name="T2" fmla="*/ 84137 w 53"/>
              <a:gd name="T3" fmla="*/ 142875 h 90"/>
              <a:gd name="T4" fmla="*/ 0 60000 65536"/>
              <a:gd name="T5" fmla="*/ 0 60000 65536"/>
              <a:gd name="T6" fmla="*/ 0 w 53"/>
              <a:gd name="T7" fmla="*/ 0 h 90"/>
              <a:gd name="T8" fmla="*/ 53 w 53"/>
              <a:gd name="T9" fmla="*/ 90 h 90"/>
            </a:gdLst>
            <a:ahLst/>
            <a:cxnLst>
              <a:cxn ang="T4">
                <a:pos x="T0" y="T1"/>
              </a:cxn>
              <a:cxn ang="T5">
                <a:pos x="T2" y="T3"/>
              </a:cxn>
            </a:cxnLst>
            <a:rect l="T6" t="T7" r="T8" b="T9"/>
            <a:pathLst>
              <a:path w="53" h="90">
                <a:moveTo>
                  <a:pt x="7" y="0"/>
                </a:moveTo>
                <a:cubicBezTo>
                  <a:pt x="3" y="33"/>
                  <a:pt x="0" y="67"/>
                  <a:pt x="53" y="90"/>
                </a:cubicBezTo>
              </a:path>
            </a:pathLst>
          </a:custGeom>
          <a:noFill/>
          <a:ln w="9525">
            <a:solidFill>
              <a:schemeClr val="tx1"/>
            </a:solidFill>
            <a:round/>
            <a:headEnd/>
            <a:tailEnd/>
          </a:ln>
        </p:spPr>
        <p:txBody>
          <a:bodyPr/>
          <a:lstStyle/>
          <a:p>
            <a:endParaRPr lang="th-TH"/>
          </a:p>
        </p:txBody>
      </p:sp>
      <p:sp>
        <p:nvSpPr>
          <p:cNvPr id="47128" name="Freeform 24"/>
          <p:cNvSpPr>
            <a:spLocks/>
          </p:cNvSpPr>
          <p:nvPr/>
        </p:nvSpPr>
        <p:spPr bwMode="auto">
          <a:xfrm>
            <a:off x="7956550" y="3497263"/>
            <a:ext cx="73025" cy="142875"/>
          </a:xfrm>
          <a:custGeom>
            <a:avLst/>
            <a:gdLst>
              <a:gd name="T0" fmla="*/ 10819 w 54"/>
              <a:gd name="T1" fmla="*/ 0 h 52"/>
              <a:gd name="T2" fmla="*/ 73025 w 54"/>
              <a:gd name="T3" fmla="*/ 123642 h 52"/>
              <a:gd name="T4" fmla="*/ 10819 w 54"/>
              <a:gd name="T5" fmla="*/ 123642 h 52"/>
              <a:gd name="T6" fmla="*/ 10819 w 54"/>
              <a:gd name="T7" fmla="*/ 0 h 52"/>
              <a:gd name="T8" fmla="*/ 0 60000 65536"/>
              <a:gd name="T9" fmla="*/ 0 60000 65536"/>
              <a:gd name="T10" fmla="*/ 0 60000 65536"/>
              <a:gd name="T11" fmla="*/ 0 60000 65536"/>
              <a:gd name="T12" fmla="*/ 0 w 54"/>
              <a:gd name="T13" fmla="*/ 0 h 52"/>
              <a:gd name="T14" fmla="*/ 54 w 54"/>
              <a:gd name="T15" fmla="*/ 52 h 52"/>
            </a:gdLst>
            <a:ahLst/>
            <a:cxnLst>
              <a:cxn ang="T8">
                <a:pos x="T0" y="T1"/>
              </a:cxn>
              <a:cxn ang="T9">
                <a:pos x="T2" y="T3"/>
              </a:cxn>
              <a:cxn ang="T10">
                <a:pos x="T4" y="T5"/>
              </a:cxn>
              <a:cxn ang="T11">
                <a:pos x="T6" y="T7"/>
              </a:cxn>
            </a:cxnLst>
            <a:rect l="T12" t="T13" r="T14" b="T15"/>
            <a:pathLst>
              <a:path w="54" h="52">
                <a:moveTo>
                  <a:pt x="8" y="0"/>
                </a:moveTo>
                <a:cubicBezTo>
                  <a:pt x="16" y="0"/>
                  <a:pt x="54" y="38"/>
                  <a:pt x="54" y="45"/>
                </a:cubicBezTo>
                <a:cubicBezTo>
                  <a:pt x="54" y="52"/>
                  <a:pt x="16" y="52"/>
                  <a:pt x="8" y="45"/>
                </a:cubicBezTo>
                <a:cubicBezTo>
                  <a:pt x="0" y="38"/>
                  <a:pt x="0" y="0"/>
                  <a:pt x="8" y="0"/>
                </a:cubicBezTo>
                <a:close/>
              </a:path>
            </a:pathLst>
          </a:custGeom>
          <a:noFill/>
          <a:ln w="9525">
            <a:solidFill>
              <a:schemeClr val="tx1"/>
            </a:solidFill>
            <a:round/>
            <a:headEnd/>
            <a:tailEnd/>
          </a:ln>
        </p:spPr>
        <p:txBody>
          <a:bodyPr/>
          <a:lstStyle/>
          <a:p>
            <a:endParaRPr lang="th-TH"/>
          </a:p>
        </p:txBody>
      </p:sp>
      <p:sp>
        <p:nvSpPr>
          <p:cNvPr id="47129" name="Freeform 25"/>
          <p:cNvSpPr>
            <a:spLocks/>
          </p:cNvSpPr>
          <p:nvPr/>
        </p:nvSpPr>
        <p:spPr bwMode="auto">
          <a:xfrm>
            <a:off x="5030788" y="3281363"/>
            <a:ext cx="117475" cy="576262"/>
          </a:xfrm>
          <a:custGeom>
            <a:avLst/>
            <a:gdLst>
              <a:gd name="T0" fmla="*/ 9037 w 52"/>
              <a:gd name="T1" fmla="*/ 0 h 352"/>
              <a:gd name="T2" fmla="*/ 81329 w 52"/>
              <a:gd name="T3" fmla="*/ 72033 h 352"/>
              <a:gd name="T4" fmla="*/ 72292 w 52"/>
              <a:gd name="T5" fmla="*/ 157162 h 352"/>
              <a:gd name="T6" fmla="*/ 0 w 52"/>
              <a:gd name="T7" fmla="*/ 189905 h 352"/>
              <a:gd name="T8" fmla="*/ 9037 w 52"/>
              <a:gd name="T9" fmla="*/ 261937 h 352"/>
              <a:gd name="T10" fmla="*/ 90365 w 52"/>
              <a:gd name="T11" fmla="*/ 307776 h 352"/>
              <a:gd name="T12" fmla="*/ 72292 w 52"/>
              <a:gd name="T13" fmla="*/ 379809 h 352"/>
              <a:gd name="T14" fmla="*/ 27110 w 52"/>
              <a:gd name="T15" fmla="*/ 438745 h 352"/>
              <a:gd name="T16" fmla="*/ 90365 w 52"/>
              <a:gd name="T17" fmla="*/ 510778 h 352"/>
              <a:gd name="T18" fmla="*/ 81329 w 52"/>
              <a:gd name="T19" fmla="*/ 550068 h 352"/>
              <a:gd name="T20" fmla="*/ 45183 w 52"/>
              <a:gd name="T21" fmla="*/ 556617 h 352"/>
              <a:gd name="T22" fmla="*/ 27110 w 52"/>
              <a:gd name="T23" fmla="*/ 576262 h 3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2"/>
              <a:gd name="T37" fmla="*/ 0 h 352"/>
              <a:gd name="T38" fmla="*/ 52 w 52"/>
              <a:gd name="T39" fmla="*/ 352 h 3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2" h="352">
                <a:moveTo>
                  <a:pt x="4" y="0"/>
                </a:moveTo>
                <a:cubicBezTo>
                  <a:pt x="15" y="17"/>
                  <a:pt x="29" y="23"/>
                  <a:pt x="36" y="44"/>
                </a:cubicBezTo>
                <a:cubicBezTo>
                  <a:pt x="35" y="61"/>
                  <a:pt x="35" y="79"/>
                  <a:pt x="32" y="96"/>
                </a:cubicBezTo>
                <a:cubicBezTo>
                  <a:pt x="30" y="108"/>
                  <a:pt x="0" y="116"/>
                  <a:pt x="0" y="116"/>
                </a:cubicBezTo>
                <a:cubicBezTo>
                  <a:pt x="1" y="131"/>
                  <a:pt x="0" y="146"/>
                  <a:pt x="4" y="160"/>
                </a:cubicBezTo>
                <a:cubicBezTo>
                  <a:pt x="8" y="175"/>
                  <a:pt x="40" y="188"/>
                  <a:pt x="40" y="188"/>
                </a:cubicBezTo>
                <a:cubicBezTo>
                  <a:pt x="52" y="206"/>
                  <a:pt x="50" y="220"/>
                  <a:pt x="32" y="232"/>
                </a:cubicBezTo>
                <a:cubicBezTo>
                  <a:pt x="24" y="244"/>
                  <a:pt x="20" y="256"/>
                  <a:pt x="12" y="268"/>
                </a:cubicBezTo>
                <a:cubicBezTo>
                  <a:pt x="18" y="286"/>
                  <a:pt x="33" y="292"/>
                  <a:pt x="40" y="312"/>
                </a:cubicBezTo>
                <a:cubicBezTo>
                  <a:pt x="39" y="320"/>
                  <a:pt x="41" y="329"/>
                  <a:pt x="36" y="336"/>
                </a:cubicBezTo>
                <a:cubicBezTo>
                  <a:pt x="33" y="340"/>
                  <a:pt x="25" y="337"/>
                  <a:pt x="20" y="340"/>
                </a:cubicBezTo>
                <a:cubicBezTo>
                  <a:pt x="16" y="343"/>
                  <a:pt x="12" y="352"/>
                  <a:pt x="12" y="352"/>
                </a:cubicBezTo>
              </a:path>
            </a:pathLst>
          </a:custGeom>
          <a:noFill/>
          <a:ln w="9525">
            <a:solidFill>
              <a:schemeClr val="tx1"/>
            </a:solidFill>
            <a:round/>
            <a:headEnd/>
            <a:tailEnd/>
          </a:ln>
        </p:spPr>
        <p:txBody>
          <a:bodyPr/>
          <a:lstStyle/>
          <a:p>
            <a:endParaRPr lang="th-TH"/>
          </a:p>
        </p:txBody>
      </p:sp>
      <p:sp>
        <p:nvSpPr>
          <p:cNvPr id="47130" name="Line 26"/>
          <p:cNvSpPr>
            <a:spLocks noChangeShapeType="1"/>
          </p:cNvSpPr>
          <p:nvPr/>
        </p:nvSpPr>
        <p:spPr bwMode="auto">
          <a:xfrm>
            <a:off x="5940425" y="3424238"/>
            <a:ext cx="1296988" cy="0"/>
          </a:xfrm>
          <a:prstGeom prst="line">
            <a:avLst/>
          </a:prstGeom>
          <a:noFill/>
          <a:ln w="9525">
            <a:solidFill>
              <a:schemeClr val="tx1"/>
            </a:solidFill>
            <a:round/>
            <a:headEnd/>
            <a:tailEnd/>
          </a:ln>
        </p:spPr>
        <p:txBody>
          <a:bodyPr/>
          <a:lstStyle/>
          <a:p>
            <a:endParaRPr lang="th-TH"/>
          </a:p>
        </p:txBody>
      </p:sp>
      <p:sp>
        <p:nvSpPr>
          <p:cNvPr id="47131" name="Line 27"/>
          <p:cNvSpPr>
            <a:spLocks noChangeShapeType="1"/>
          </p:cNvSpPr>
          <p:nvPr/>
        </p:nvSpPr>
        <p:spPr bwMode="auto">
          <a:xfrm>
            <a:off x="5940425" y="3713163"/>
            <a:ext cx="1296988" cy="0"/>
          </a:xfrm>
          <a:prstGeom prst="line">
            <a:avLst/>
          </a:prstGeom>
          <a:noFill/>
          <a:ln w="9525">
            <a:solidFill>
              <a:schemeClr val="tx1"/>
            </a:solidFill>
            <a:round/>
            <a:headEnd/>
            <a:tailEnd/>
          </a:ln>
        </p:spPr>
        <p:txBody>
          <a:bodyPr/>
          <a:lstStyle/>
          <a:p>
            <a:endParaRPr lang="th-TH"/>
          </a:p>
        </p:txBody>
      </p:sp>
      <p:sp>
        <p:nvSpPr>
          <p:cNvPr id="47132" name="Line 28"/>
          <p:cNvSpPr>
            <a:spLocks noChangeShapeType="1"/>
          </p:cNvSpPr>
          <p:nvPr/>
        </p:nvSpPr>
        <p:spPr bwMode="auto">
          <a:xfrm>
            <a:off x="7237413" y="3281363"/>
            <a:ext cx="0" cy="142875"/>
          </a:xfrm>
          <a:prstGeom prst="line">
            <a:avLst/>
          </a:prstGeom>
          <a:noFill/>
          <a:ln w="9525">
            <a:solidFill>
              <a:schemeClr val="tx1"/>
            </a:solidFill>
            <a:round/>
            <a:headEnd/>
            <a:tailEnd/>
          </a:ln>
        </p:spPr>
        <p:txBody>
          <a:bodyPr/>
          <a:lstStyle/>
          <a:p>
            <a:endParaRPr lang="th-TH"/>
          </a:p>
        </p:txBody>
      </p:sp>
      <p:sp>
        <p:nvSpPr>
          <p:cNvPr id="47133" name="Line 29"/>
          <p:cNvSpPr>
            <a:spLocks noChangeShapeType="1"/>
          </p:cNvSpPr>
          <p:nvPr/>
        </p:nvSpPr>
        <p:spPr bwMode="auto">
          <a:xfrm>
            <a:off x="7237413" y="3713163"/>
            <a:ext cx="0" cy="144462"/>
          </a:xfrm>
          <a:prstGeom prst="line">
            <a:avLst/>
          </a:prstGeom>
          <a:noFill/>
          <a:ln w="9525">
            <a:solidFill>
              <a:schemeClr val="tx1"/>
            </a:solidFill>
            <a:round/>
            <a:headEnd/>
            <a:tailEnd/>
          </a:ln>
        </p:spPr>
        <p:txBody>
          <a:bodyPr/>
          <a:lstStyle/>
          <a:p>
            <a:endParaRPr lang="th-TH"/>
          </a:p>
        </p:txBody>
      </p:sp>
      <p:sp>
        <p:nvSpPr>
          <p:cNvPr id="47134" name="Oval 30"/>
          <p:cNvSpPr>
            <a:spLocks noChangeArrowheads="1"/>
          </p:cNvSpPr>
          <p:nvPr/>
        </p:nvSpPr>
        <p:spPr bwMode="auto">
          <a:xfrm>
            <a:off x="6013450" y="2849563"/>
            <a:ext cx="71438" cy="358775"/>
          </a:xfrm>
          <a:prstGeom prst="ellipse">
            <a:avLst/>
          </a:prstGeom>
          <a:solidFill>
            <a:schemeClr val="bg1"/>
          </a:solidFill>
          <a:ln w="9525">
            <a:solidFill>
              <a:schemeClr val="tx1"/>
            </a:solidFill>
            <a:round/>
            <a:headEnd/>
            <a:tailEnd/>
          </a:ln>
        </p:spPr>
        <p:txBody>
          <a:bodyPr wrap="none" anchor="ctr"/>
          <a:lstStyle/>
          <a:p>
            <a:endParaRPr lang="th-TH"/>
          </a:p>
        </p:txBody>
      </p:sp>
      <p:sp>
        <p:nvSpPr>
          <p:cNvPr id="47135" name="Oval 31"/>
          <p:cNvSpPr>
            <a:spLocks noChangeArrowheads="1"/>
          </p:cNvSpPr>
          <p:nvPr/>
        </p:nvSpPr>
        <p:spPr bwMode="auto">
          <a:xfrm>
            <a:off x="5005388" y="2849563"/>
            <a:ext cx="71437" cy="358775"/>
          </a:xfrm>
          <a:prstGeom prst="ellipse">
            <a:avLst/>
          </a:prstGeom>
          <a:solidFill>
            <a:schemeClr val="bg1"/>
          </a:solidFill>
          <a:ln w="9525">
            <a:solidFill>
              <a:schemeClr val="tx1"/>
            </a:solidFill>
            <a:round/>
            <a:headEnd/>
            <a:tailEnd/>
          </a:ln>
        </p:spPr>
        <p:txBody>
          <a:bodyPr wrap="none" anchor="ctr"/>
          <a:lstStyle/>
          <a:p>
            <a:endParaRPr lang="th-TH"/>
          </a:p>
        </p:txBody>
      </p:sp>
      <p:sp>
        <p:nvSpPr>
          <p:cNvPr id="47136" name="Line 32"/>
          <p:cNvSpPr>
            <a:spLocks noChangeShapeType="1"/>
          </p:cNvSpPr>
          <p:nvPr/>
        </p:nvSpPr>
        <p:spPr bwMode="auto">
          <a:xfrm>
            <a:off x="5508625" y="2776538"/>
            <a:ext cx="576263" cy="73025"/>
          </a:xfrm>
          <a:prstGeom prst="line">
            <a:avLst/>
          </a:prstGeom>
          <a:noFill/>
          <a:ln w="9525">
            <a:solidFill>
              <a:schemeClr val="tx1"/>
            </a:solidFill>
            <a:round/>
            <a:headEnd/>
            <a:tailEnd/>
          </a:ln>
        </p:spPr>
        <p:txBody>
          <a:bodyPr/>
          <a:lstStyle/>
          <a:p>
            <a:endParaRPr lang="th-TH"/>
          </a:p>
        </p:txBody>
      </p:sp>
      <p:sp>
        <p:nvSpPr>
          <p:cNvPr id="47137" name="Line 33"/>
          <p:cNvSpPr>
            <a:spLocks noChangeShapeType="1"/>
          </p:cNvSpPr>
          <p:nvPr/>
        </p:nvSpPr>
        <p:spPr bwMode="auto">
          <a:xfrm flipV="1">
            <a:off x="5580063" y="3208338"/>
            <a:ext cx="504825" cy="73025"/>
          </a:xfrm>
          <a:prstGeom prst="line">
            <a:avLst/>
          </a:prstGeom>
          <a:noFill/>
          <a:ln w="9525">
            <a:solidFill>
              <a:schemeClr val="tx1"/>
            </a:solidFill>
            <a:round/>
            <a:headEnd/>
            <a:tailEnd/>
          </a:ln>
        </p:spPr>
        <p:txBody>
          <a:bodyPr/>
          <a:lstStyle/>
          <a:p>
            <a:endParaRPr lang="th-TH"/>
          </a:p>
        </p:txBody>
      </p:sp>
      <p:sp>
        <p:nvSpPr>
          <p:cNvPr id="47138" name="Line 34"/>
          <p:cNvSpPr>
            <a:spLocks noChangeShapeType="1"/>
          </p:cNvSpPr>
          <p:nvPr/>
        </p:nvSpPr>
        <p:spPr bwMode="auto">
          <a:xfrm flipH="1">
            <a:off x="5005388" y="2776538"/>
            <a:ext cx="503237" cy="73025"/>
          </a:xfrm>
          <a:prstGeom prst="line">
            <a:avLst/>
          </a:prstGeom>
          <a:noFill/>
          <a:ln w="9525">
            <a:solidFill>
              <a:schemeClr val="tx1"/>
            </a:solidFill>
            <a:round/>
            <a:headEnd/>
            <a:tailEnd/>
          </a:ln>
        </p:spPr>
        <p:txBody>
          <a:bodyPr/>
          <a:lstStyle/>
          <a:p>
            <a:endParaRPr lang="th-TH"/>
          </a:p>
        </p:txBody>
      </p:sp>
      <p:sp>
        <p:nvSpPr>
          <p:cNvPr id="47139" name="Line 35"/>
          <p:cNvSpPr>
            <a:spLocks noChangeShapeType="1"/>
          </p:cNvSpPr>
          <p:nvPr/>
        </p:nvSpPr>
        <p:spPr bwMode="auto">
          <a:xfrm flipH="1" flipV="1">
            <a:off x="5005388" y="3208338"/>
            <a:ext cx="574675" cy="73025"/>
          </a:xfrm>
          <a:prstGeom prst="line">
            <a:avLst/>
          </a:prstGeom>
          <a:noFill/>
          <a:ln w="9525">
            <a:solidFill>
              <a:schemeClr val="tx1"/>
            </a:solidFill>
            <a:round/>
            <a:headEnd/>
            <a:tailEnd/>
          </a:ln>
        </p:spPr>
        <p:txBody>
          <a:bodyPr/>
          <a:lstStyle/>
          <a:p>
            <a:endParaRPr lang="th-TH"/>
          </a:p>
        </p:txBody>
      </p:sp>
      <p:sp>
        <p:nvSpPr>
          <p:cNvPr id="47140" name="Oval 36"/>
          <p:cNvSpPr>
            <a:spLocks noChangeArrowheads="1"/>
          </p:cNvSpPr>
          <p:nvPr/>
        </p:nvSpPr>
        <p:spPr bwMode="auto">
          <a:xfrm>
            <a:off x="6013450" y="3930650"/>
            <a:ext cx="71438" cy="358775"/>
          </a:xfrm>
          <a:prstGeom prst="ellipse">
            <a:avLst/>
          </a:prstGeom>
          <a:solidFill>
            <a:schemeClr val="bg1"/>
          </a:solidFill>
          <a:ln w="9525">
            <a:solidFill>
              <a:schemeClr val="tx1"/>
            </a:solidFill>
            <a:round/>
            <a:headEnd/>
            <a:tailEnd/>
          </a:ln>
        </p:spPr>
        <p:txBody>
          <a:bodyPr wrap="none" anchor="ctr"/>
          <a:lstStyle/>
          <a:p>
            <a:endParaRPr lang="th-TH"/>
          </a:p>
        </p:txBody>
      </p:sp>
      <p:sp>
        <p:nvSpPr>
          <p:cNvPr id="47141" name="Oval 37"/>
          <p:cNvSpPr>
            <a:spLocks noChangeArrowheads="1"/>
          </p:cNvSpPr>
          <p:nvPr/>
        </p:nvSpPr>
        <p:spPr bwMode="auto">
          <a:xfrm>
            <a:off x="5005388" y="3930650"/>
            <a:ext cx="71437" cy="358775"/>
          </a:xfrm>
          <a:prstGeom prst="ellipse">
            <a:avLst/>
          </a:prstGeom>
          <a:solidFill>
            <a:schemeClr val="bg1"/>
          </a:solidFill>
          <a:ln w="9525">
            <a:solidFill>
              <a:schemeClr val="tx1"/>
            </a:solidFill>
            <a:round/>
            <a:headEnd/>
            <a:tailEnd/>
          </a:ln>
        </p:spPr>
        <p:txBody>
          <a:bodyPr wrap="none" anchor="ctr"/>
          <a:lstStyle/>
          <a:p>
            <a:endParaRPr lang="th-TH"/>
          </a:p>
        </p:txBody>
      </p:sp>
      <p:sp>
        <p:nvSpPr>
          <p:cNvPr id="47142" name="Line 38"/>
          <p:cNvSpPr>
            <a:spLocks noChangeShapeType="1"/>
          </p:cNvSpPr>
          <p:nvPr/>
        </p:nvSpPr>
        <p:spPr bwMode="auto">
          <a:xfrm>
            <a:off x="5508625" y="3857625"/>
            <a:ext cx="576263" cy="73025"/>
          </a:xfrm>
          <a:prstGeom prst="line">
            <a:avLst/>
          </a:prstGeom>
          <a:noFill/>
          <a:ln w="9525">
            <a:solidFill>
              <a:schemeClr val="tx1"/>
            </a:solidFill>
            <a:round/>
            <a:headEnd/>
            <a:tailEnd/>
          </a:ln>
        </p:spPr>
        <p:txBody>
          <a:bodyPr/>
          <a:lstStyle/>
          <a:p>
            <a:endParaRPr lang="th-TH"/>
          </a:p>
        </p:txBody>
      </p:sp>
      <p:sp>
        <p:nvSpPr>
          <p:cNvPr id="47143" name="Line 39"/>
          <p:cNvSpPr>
            <a:spLocks noChangeShapeType="1"/>
          </p:cNvSpPr>
          <p:nvPr/>
        </p:nvSpPr>
        <p:spPr bwMode="auto">
          <a:xfrm flipH="1">
            <a:off x="5005388" y="3857625"/>
            <a:ext cx="503237" cy="73025"/>
          </a:xfrm>
          <a:prstGeom prst="line">
            <a:avLst/>
          </a:prstGeom>
          <a:noFill/>
          <a:ln w="9525">
            <a:solidFill>
              <a:schemeClr val="tx1"/>
            </a:solidFill>
            <a:round/>
            <a:headEnd/>
            <a:tailEnd/>
          </a:ln>
        </p:spPr>
        <p:txBody>
          <a:bodyPr/>
          <a:lstStyle/>
          <a:p>
            <a:endParaRPr lang="th-TH"/>
          </a:p>
        </p:txBody>
      </p:sp>
      <p:sp>
        <p:nvSpPr>
          <p:cNvPr id="47144" name="Oval 40"/>
          <p:cNvSpPr>
            <a:spLocks noChangeArrowheads="1"/>
          </p:cNvSpPr>
          <p:nvPr/>
        </p:nvSpPr>
        <p:spPr bwMode="auto">
          <a:xfrm>
            <a:off x="5364163" y="3857625"/>
            <a:ext cx="288925" cy="503238"/>
          </a:xfrm>
          <a:prstGeom prst="ellipse">
            <a:avLst/>
          </a:prstGeom>
          <a:solidFill>
            <a:schemeClr val="bg1"/>
          </a:solidFill>
          <a:ln w="9525">
            <a:solidFill>
              <a:schemeClr val="tx1"/>
            </a:solidFill>
            <a:round/>
            <a:headEnd/>
            <a:tailEnd/>
          </a:ln>
        </p:spPr>
        <p:txBody>
          <a:bodyPr wrap="none" anchor="ctr"/>
          <a:lstStyle/>
          <a:p>
            <a:endParaRPr lang="th-TH"/>
          </a:p>
        </p:txBody>
      </p:sp>
      <p:sp>
        <p:nvSpPr>
          <p:cNvPr id="47145" name="Line 41"/>
          <p:cNvSpPr>
            <a:spLocks noChangeShapeType="1"/>
          </p:cNvSpPr>
          <p:nvPr/>
        </p:nvSpPr>
        <p:spPr bwMode="auto">
          <a:xfrm flipH="1" flipV="1">
            <a:off x="5005388" y="4289425"/>
            <a:ext cx="503237" cy="71438"/>
          </a:xfrm>
          <a:prstGeom prst="line">
            <a:avLst/>
          </a:prstGeom>
          <a:noFill/>
          <a:ln w="9525">
            <a:solidFill>
              <a:schemeClr val="tx1"/>
            </a:solidFill>
            <a:round/>
            <a:headEnd/>
            <a:tailEnd/>
          </a:ln>
        </p:spPr>
        <p:txBody>
          <a:bodyPr/>
          <a:lstStyle/>
          <a:p>
            <a:endParaRPr lang="th-TH"/>
          </a:p>
        </p:txBody>
      </p:sp>
      <p:sp>
        <p:nvSpPr>
          <p:cNvPr id="47146" name="Line 42"/>
          <p:cNvSpPr>
            <a:spLocks noChangeShapeType="1"/>
          </p:cNvSpPr>
          <p:nvPr/>
        </p:nvSpPr>
        <p:spPr bwMode="auto">
          <a:xfrm flipV="1">
            <a:off x="5508625" y="4289425"/>
            <a:ext cx="576263" cy="71438"/>
          </a:xfrm>
          <a:prstGeom prst="line">
            <a:avLst/>
          </a:prstGeom>
          <a:noFill/>
          <a:ln w="9525">
            <a:solidFill>
              <a:schemeClr val="tx1"/>
            </a:solidFill>
            <a:round/>
            <a:headEnd/>
            <a:tailEnd/>
          </a:ln>
        </p:spPr>
        <p:txBody>
          <a:bodyPr/>
          <a:lstStyle/>
          <a:p>
            <a:endParaRPr lang="th-TH"/>
          </a:p>
        </p:txBody>
      </p:sp>
      <p:sp>
        <p:nvSpPr>
          <p:cNvPr id="47147" name="Rectangle 43"/>
          <p:cNvSpPr>
            <a:spLocks noChangeArrowheads="1"/>
          </p:cNvSpPr>
          <p:nvPr/>
        </p:nvSpPr>
        <p:spPr bwMode="auto">
          <a:xfrm>
            <a:off x="3997325" y="3281363"/>
            <a:ext cx="142875" cy="287337"/>
          </a:xfrm>
          <a:prstGeom prst="rect">
            <a:avLst/>
          </a:prstGeom>
          <a:solidFill>
            <a:srgbClr val="FFFFFF"/>
          </a:solidFill>
          <a:ln w="9525">
            <a:solidFill>
              <a:schemeClr val="bg1"/>
            </a:solidFill>
            <a:miter lim="800000"/>
            <a:headEnd/>
            <a:tailEnd/>
          </a:ln>
        </p:spPr>
        <p:txBody>
          <a:bodyPr wrap="none" anchor="ctr"/>
          <a:lstStyle/>
          <a:p>
            <a:endParaRPr lang="th-TH"/>
          </a:p>
        </p:txBody>
      </p:sp>
      <p:sp>
        <p:nvSpPr>
          <p:cNvPr id="47148" name="Line 44"/>
          <p:cNvSpPr>
            <a:spLocks noChangeShapeType="1"/>
          </p:cNvSpPr>
          <p:nvPr/>
        </p:nvSpPr>
        <p:spPr bwMode="auto">
          <a:xfrm flipH="1">
            <a:off x="3997325" y="3281363"/>
            <a:ext cx="215900" cy="0"/>
          </a:xfrm>
          <a:prstGeom prst="line">
            <a:avLst/>
          </a:prstGeom>
          <a:noFill/>
          <a:ln w="9525">
            <a:solidFill>
              <a:schemeClr val="tx1"/>
            </a:solidFill>
            <a:round/>
            <a:headEnd/>
            <a:tailEnd/>
          </a:ln>
        </p:spPr>
        <p:txBody>
          <a:bodyPr/>
          <a:lstStyle/>
          <a:p>
            <a:endParaRPr lang="th-TH"/>
          </a:p>
        </p:txBody>
      </p:sp>
      <p:sp>
        <p:nvSpPr>
          <p:cNvPr id="47149" name="Line 45"/>
          <p:cNvSpPr>
            <a:spLocks noChangeShapeType="1"/>
          </p:cNvSpPr>
          <p:nvPr/>
        </p:nvSpPr>
        <p:spPr bwMode="auto">
          <a:xfrm flipV="1">
            <a:off x="5076825" y="3281363"/>
            <a:ext cx="144463" cy="142875"/>
          </a:xfrm>
          <a:prstGeom prst="line">
            <a:avLst/>
          </a:prstGeom>
          <a:noFill/>
          <a:ln w="9525">
            <a:solidFill>
              <a:schemeClr val="tx1"/>
            </a:solidFill>
            <a:round/>
            <a:headEnd/>
            <a:tailEnd/>
          </a:ln>
        </p:spPr>
        <p:txBody>
          <a:bodyPr/>
          <a:lstStyle/>
          <a:p>
            <a:endParaRPr lang="th-TH"/>
          </a:p>
        </p:txBody>
      </p:sp>
      <p:sp>
        <p:nvSpPr>
          <p:cNvPr id="47150" name="Line 46"/>
          <p:cNvSpPr>
            <a:spLocks noChangeShapeType="1"/>
          </p:cNvSpPr>
          <p:nvPr/>
        </p:nvSpPr>
        <p:spPr bwMode="auto">
          <a:xfrm flipV="1">
            <a:off x="5076825" y="3281363"/>
            <a:ext cx="287338" cy="285750"/>
          </a:xfrm>
          <a:prstGeom prst="line">
            <a:avLst/>
          </a:prstGeom>
          <a:noFill/>
          <a:ln w="9525">
            <a:solidFill>
              <a:schemeClr val="tx1"/>
            </a:solidFill>
            <a:round/>
            <a:headEnd/>
            <a:tailEnd/>
          </a:ln>
        </p:spPr>
        <p:txBody>
          <a:bodyPr/>
          <a:lstStyle/>
          <a:p>
            <a:endParaRPr lang="th-TH"/>
          </a:p>
        </p:txBody>
      </p:sp>
      <p:sp>
        <p:nvSpPr>
          <p:cNvPr id="47151" name="Line 47"/>
          <p:cNvSpPr>
            <a:spLocks noChangeShapeType="1"/>
          </p:cNvSpPr>
          <p:nvPr/>
        </p:nvSpPr>
        <p:spPr bwMode="auto">
          <a:xfrm flipH="1">
            <a:off x="5076825" y="3281363"/>
            <a:ext cx="431800" cy="431800"/>
          </a:xfrm>
          <a:prstGeom prst="line">
            <a:avLst/>
          </a:prstGeom>
          <a:noFill/>
          <a:ln w="9525">
            <a:solidFill>
              <a:schemeClr val="tx1"/>
            </a:solidFill>
            <a:round/>
            <a:headEnd/>
            <a:tailEnd/>
          </a:ln>
        </p:spPr>
        <p:txBody>
          <a:bodyPr/>
          <a:lstStyle/>
          <a:p>
            <a:endParaRPr lang="th-TH"/>
          </a:p>
        </p:txBody>
      </p:sp>
      <p:sp>
        <p:nvSpPr>
          <p:cNvPr id="47152" name="Line 48"/>
          <p:cNvSpPr>
            <a:spLocks noChangeShapeType="1"/>
          </p:cNvSpPr>
          <p:nvPr/>
        </p:nvSpPr>
        <p:spPr bwMode="auto">
          <a:xfrm flipH="1">
            <a:off x="5076825" y="3281363"/>
            <a:ext cx="576263" cy="576262"/>
          </a:xfrm>
          <a:prstGeom prst="line">
            <a:avLst/>
          </a:prstGeom>
          <a:noFill/>
          <a:ln w="9525">
            <a:solidFill>
              <a:schemeClr val="tx1"/>
            </a:solidFill>
            <a:round/>
            <a:headEnd/>
            <a:tailEnd/>
          </a:ln>
        </p:spPr>
        <p:txBody>
          <a:bodyPr/>
          <a:lstStyle/>
          <a:p>
            <a:endParaRPr lang="th-TH"/>
          </a:p>
        </p:txBody>
      </p:sp>
      <p:sp>
        <p:nvSpPr>
          <p:cNvPr id="47153" name="Line 49"/>
          <p:cNvSpPr>
            <a:spLocks noChangeShapeType="1"/>
          </p:cNvSpPr>
          <p:nvPr/>
        </p:nvSpPr>
        <p:spPr bwMode="auto">
          <a:xfrm flipH="1">
            <a:off x="5221288" y="3281363"/>
            <a:ext cx="576262" cy="576262"/>
          </a:xfrm>
          <a:prstGeom prst="line">
            <a:avLst/>
          </a:prstGeom>
          <a:noFill/>
          <a:ln w="9525">
            <a:solidFill>
              <a:schemeClr val="tx1"/>
            </a:solidFill>
            <a:round/>
            <a:headEnd/>
            <a:tailEnd/>
          </a:ln>
        </p:spPr>
        <p:txBody>
          <a:bodyPr/>
          <a:lstStyle/>
          <a:p>
            <a:endParaRPr lang="th-TH"/>
          </a:p>
        </p:txBody>
      </p:sp>
      <p:sp>
        <p:nvSpPr>
          <p:cNvPr id="47154" name="Line 50"/>
          <p:cNvSpPr>
            <a:spLocks noChangeShapeType="1"/>
          </p:cNvSpPr>
          <p:nvPr/>
        </p:nvSpPr>
        <p:spPr bwMode="auto">
          <a:xfrm flipH="1">
            <a:off x="5797550" y="3281363"/>
            <a:ext cx="142875" cy="142875"/>
          </a:xfrm>
          <a:prstGeom prst="line">
            <a:avLst/>
          </a:prstGeom>
          <a:noFill/>
          <a:ln w="9525">
            <a:solidFill>
              <a:schemeClr val="tx1"/>
            </a:solidFill>
            <a:round/>
            <a:headEnd/>
            <a:tailEnd/>
          </a:ln>
        </p:spPr>
        <p:txBody>
          <a:bodyPr/>
          <a:lstStyle/>
          <a:p>
            <a:endParaRPr lang="th-TH"/>
          </a:p>
        </p:txBody>
      </p:sp>
      <p:sp>
        <p:nvSpPr>
          <p:cNvPr id="47155" name="Line 51"/>
          <p:cNvSpPr>
            <a:spLocks noChangeShapeType="1"/>
          </p:cNvSpPr>
          <p:nvPr/>
        </p:nvSpPr>
        <p:spPr bwMode="auto">
          <a:xfrm flipH="1">
            <a:off x="5940425" y="3281363"/>
            <a:ext cx="144463" cy="142875"/>
          </a:xfrm>
          <a:prstGeom prst="line">
            <a:avLst/>
          </a:prstGeom>
          <a:noFill/>
          <a:ln w="9525">
            <a:solidFill>
              <a:schemeClr val="tx1"/>
            </a:solidFill>
            <a:round/>
            <a:headEnd/>
            <a:tailEnd/>
          </a:ln>
        </p:spPr>
        <p:txBody>
          <a:bodyPr/>
          <a:lstStyle/>
          <a:p>
            <a:endParaRPr lang="th-TH"/>
          </a:p>
        </p:txBody>
      </p:sp>
      <p:sp>
        <p:nvSpPr>
          <p:cNvPr id="47156" name="Line 52"/>
          <p:cNvSpPr>
            <a:spLocks noChangeShapeType="1"/>
          </p:cNvSpPr>
          <p:nvPr/>
        </p:nvSpPr>
        <p:spPr bwMode="auto">
          <a:xfrm flipH="1">
            <a:off x="6084888" y="3281363"/>
            <a:ext cx="144462" cy="142875"/>
          </a:xfrm>
          <a:prstGeom prst="line">
            <a:avLst/>
          </a:prstGeom>
          <a:noFill/>
          <a:ln w="9525">
            <a:solidFill>
              <a:schemeClr val="tx1"/>
            </a:solidFill>
            <a:round/>
            <a:headEnd/>
            <a:tailEnd/>
          </a:ln>
        </p:spPr>
        <p:txBody>
          <a:bodyPr/>
          <a:lstStyle/>
          <a:p>
            <a:endParaRPr lang="th-TH"/>
          </a:p>
        </p:txBody>
      </p:sp>
      <p:sp>
        <p:nvSpPr>
          <p:cNvPr id="47157" name="Line 53"/>
          <p:cNvSpPr>
            <a:spLocks noChangeShapeType="1"/>
          </p:cNvSpPr>
          <p:nvPr/>
        </p:nvSpPr>
        <p:spPr bwMode="auto">
          <a:xfrm flipH="1">
            <a:off x="6229350" y="3281363"/>
            <a:ext cx="142875" cy="142875"/>
          </a:xfrm>
          <a:prstGeom prst="line">
            <a:avLst/>
          </a:prstGeom>
          <a:noFill/>
          <a:ln w="9525">
            <a:solidFill>
              <a:schemeClr val="tx1"/>
            </a:solidFill>
            <a:round/>
            <a:headEnd/>
            <a:tailEnd/>
          </a:ln>
        </p:spPr>
        <p:txBody>
          <a:bodyPr/>
          <a:lstStyle/>
          <a:p>
            <a:endParaRPr lang="th-TH"/>
          </a:p>
        </p:txBody>
      </p:sp>
      <p:sp>
        <p:nvSpPr>
          <p:cNvPr id="47158" name="Line 54"/>
          <p:cNvSpPr>
            <a:spLocks noChangeShapeType="1"/>
          </p:cNvSpPr>
          <p:nvPr/>
        </p:nvSpPr>
        <p:spPr bwMode="auto">
          <a:xfrm flipH="1">
            <a:off x="6372225" y="3281363"/>
            <a:ext cx="144463" cy="142875"/>
          </a:xfrm>
          <a:prstGeom prst="line">
            <a:avLst/>
          </a:prstGeom>
          <a:noFill/>
          <a:ln w="9525">
            <a:solidFill>
              <a:schemeClr val="tx1"/>
            </a:solidFill>
            <a:round/>
            <a:headEnd/>
            <a:tailEnd/>
          </a:ln>
        </p:spPr>
        <p:txBody>
          <a:bodyPr/>
          <a:lstStyle/>
          <a:p>
            <a:endParaRPr lang="th-TH"/>
          </a:p>
        </p:txBody>
      </p:sp>
      <p:sp>
        <p:nvSpPr>
          <p:cNvPr id="47159" name="Line 55"/>
          <p:cNvSpPr>
            <a:spLocks noChangeShapeType="1"/>
          </p:cNvSpPr>
          <p:nvPr/>
        </p:nvSpPr>
        <p:spPr bwMode="auto">
          <a:xfrm flipH="1">
            <a:off x="6516688" y="3281363"/>
            <a:ext cx="144462" cy="142875"/>
          </a:xfrm>
          <a:prstGeom prst="line">
            <a:avLst/>
          </a:prstGeom>
          <a:noFill/>
          <a:ln w="9525">
            <a:solidFill>
              <a:schemeClr val="tx1"/>
            </a:solidFill>
            <a:round/>
            <a:headEnd/>
            <a:tailEnd/>
          </a:ln>
        </p:spPr>
        <p:txBody>
          <a:bodyPr/>
          <a:lstStyle/>
          <a:p>
            <a:endParaRPr lang="th-TH"/>
          </a:p>
        </p:txBody>
      </p:sp>
      <p:sp>
        <p:nvSpPr>
          <p:cNvPr id="47160" name="Line 56"/>
          <p:cNvSpPr>
            <a:spLocks noChangeShapeType="1"/>
          </p:cNvSpPr>
          <p:nvPr/>
        </p:nvSpPr>
        <p:spPr bwMode="auto">
          <a:xfrm flipH="1">
            <a:off x="6661150" y="3281363"/>
            <a:ext cx="144463" cy="142875"/>
          </a:xfrm>
          <a:prstGeom prst="line">
            <a:avLst/>
          </a:prstGeom>
          <a:noFill/>
          <a:ln w="9525">
            <a:solidFill>
              <a:schemeClr val="tx1"/>
            </a:solidFill>
            <a:round/>
            <a:headEnd/>
            <a:tailEnd/>
          </a:ln>
        </p:spPr>
        <p:txBody>
          <a:bodyPr/>
          <a:lstStyle/>
          <a:p>
            <a:endParaRPr lang="th-TH"/>
          </a:p>
        </p:txBody>
      </p:sp>
      <p:sp>
        <p:nvSpPr>
          <p:cNvPr id="47161" name="Line 57"/>
          <p:cNvSpPr>
            <a:spLocks noChangeShapeType="1"/>
          </p:cNvSpPr>
          <p:nvPr/>
        </p:nvSpPr>
        <p:spPr bwMode="auto">
          <a:xfrm flipH="1">
            <a:off x="6805613" y="3281363"/>
            <a:ext cx="142875" cy="142875"/>
          </a:xfrm>
          <a:prstGeom prst="line">
            <a:avLst/>
          </a:prstGeom>
          <a:noFill/>
          <a:ln w="9525">
            <a:solidFill>
              <a:schemeClr val="tx1"/>
            </a:solidFill>
            <a:round/>
            <a:headEnd/>
            <a:tailEnd/>
          </a:ln>
        </p:spPr>
        <p:txBody>
          <a:bodyPr/>
          <a:lstStyle/>
          <a:p>
            <a:endParaRPr lang="th-TH"/>
          </a:p>
        </p:txBody>
      </p:sp>
      <p:sp>
        <p:nvSpPr>
          <p:cNvPr id="47162" name="Line 58"/>
          <p:cNvSpPr>
            <a:spLocks noChangeShapeType="1"/>
          </p:cNvSpPr>
          <p:nvPr/>
        </p:nvSpPr>
        <p:spPr bwMode="auto">
          <a:xfrm flipH="1">
            <a:off x="6948488" y="3281363"/>
            <a:ext cx="144462" cy="142875"/>
          </a:xfrm>
          <a:prstGeom prst="line">
            <a:avLst/>
          </a:prstGeom>
          <a:noFill/>
          <a:ln w="9525">
            <a:solidFill>
              <a:schemeClr val="tx1"/>
            </a:solidFill>
            <a:round/>
            <a:headEnd/>
            <a:tailEnd/>
          </a:ln>
        </p:spPr>
        <p:txBody>
          <a:bodyPr/>
          <a:lstStyle/>
          <a:p>
            <a:endParaRPr lang="th-TH"/>
          </a:p>
        </p:txBody>
      </p:sp>
      <p:sp>
        <p:nvSpPr>
          <p:cNvPr id="47163" name="Line 59"/>
          <p:cNvSpPr>
            <a:spLocks noChangeShapeType="1"/>
          </p:cNvSpPr>
          <p:nvPr/>
        </p:nvSpPr>
        <p:spPr bwMode="auto">
          <a:xfrm flipH="1">
            <a:off x="7092950" y="3281363"/>
            <a:ext cx="144463" cy="142875"/>
          </a:xfrm>
          <a:prstGeom prst="line">
            <a:avLst/>
          </a:prstGeom>
          <a:noFill/>
          <a:ln w="9525">
            <a:solidFill>
              <a:schemeClr val="tx1"/>
            </a:solidFill>
            <a:round/>
            <a:headEnd/>
            <a:tailEnd/>
          </a:ln>
        </p:spPr>
        <p:txBody>
          <a:bodyPr/>
          <a:lstStyle/>
          <a:p>
            <a:endParaRPr lang="th-TH"/>
          </a:p>
        </p:txBody>
      </p:sp>
      <p:sp>
        <p:nvSpPr>
          <p:cNvPr id="47164" name="Line 60"/>
          <p:cNvSpPr>
            <a:spLocks noChangeShapeType="1"/>
          </p:cNvSpPr>
          <p:nvPr/>
        </p:nvSpPr>
        <p:spPr bwMode="auto">
          <a:xfrm flipV="1">
            <a:off x="5653088" y="3713163"/>
            <a:ext cx="144462" cy="144462"/>
          </a:xfrm>
          <a:prstGeom prst="line">
            <a:avLst/>
          </a:prstGeom>
          <a:noFill/>
          <a:ln w="9525">
            <a:solidFill>
              <a:schemeClr val="tx1"/>
            </a:solidFill>
            <a:round/>
            <a:headEnd/>
            <a:tailEnd/>
          </a:ln>
        </p:spPr>
        <p:txBody>
          <a:bodyPr/>
          <a:lstStyle/>
          <a:p>
            <a:endParaRPr lang="th-TH"/>
          </a:p>
        </p:txBody>
      </p:sp>
      <p:sp>
        <p:nvSpPr>
          <p:cNvPr id="47165" name="Line 61"/>
          <p:cNvSpPr>
            <a:spLocks noChangeShapeType="1"/>
          </p:cNvSpPr>
          <p:nvPr/>
        </p:nvSpPr>
        <p:spPr bwMode="auto">
          <a:xfrm flipV="1">
            <a:off x="5797550" y="3713163"/>
            <a:ext cx="142875" cy="144462"/>
          </a:xfrm>
          <a:prstGeom prst="line">
            <a:avLst/>
          </a:prstGeom>
          <a:noFill/>
          <a:ln w="9525">
            <a:solidFill>
              <a:schemeClr val="tx1"/>
            </a:solidFill>
            <a:round/>
            <a:headEnd/>
            <a:tailEnd/>
          </a:ln>
        </p:spPr>
        <p:txBody>
          <a:bodyPr/>
          <a:lstStyle/>
          <a:p>
            <a:endParaRPr lang="th-TH"/>
          </a:p>
        </p:txBody>
      </p:sp>
      <p:sp>
        <p:nvSpPr>
          <p:cNvPr id="47166" name="Line 62"/>
          <p:cNvSpPr>
            <a:spLocks noChangeShapeType="1"/>
          </p:cNvSpPr>
          <p:nvPr/>
        </p:nvSpPr>
        <p:spPr bwMode="auto">
          <a:xfrm flipV="1">
            <a:off x="5940425" y="3713163"/>
            <a:ext cx="144463" cy="144462"/>
          </a:xfrm>
          <a:prstGeom prst="line">
            <a:avLst/>
          </a:prstGeom>
          <a:noFill/>
          <a:ln w="9525">
            <a:solidFill>
              <a:schemeClr val="tx1"/>
            </a:solidFill>
            <a:round/>
            <a:headEnd/>
            <a:tailEnd/>
          </a:ln>
        </p:spPr>
        <p:txBody>
          <a:bodyPr/>
          <a:lstStyle/>
          <a:p>
            <a:endParaRPr lang="th-TH"/>
          </a:p>
        </p:txBody>
      </p:sp>
      <p:sp>
        <p:nvSpPr>
          <p:cNvPr id="47167" name="Line 63"/>
          <p:cNvSpPr>
            <a:spLocks noChangeShapeType="1"/>
          </p:cNvSpPr>
          <p:nvPr/>
        </p:nvSpPr>
        <p:spPr bwMode="auto">
          <a:xfrm flipV="1">
            <a:off x="6084888" y="3713163"/>
            <a:ext cx="144462" cy="144462"/>
          </a:xfrm>
          <a:prstGeom prst="line">
            <a:avLst/>
          </a:prstGeom>
          <a:noFill/>
          <a:ln w="9525">
            <a:solidFill>
              <a:schemeClr val="tx1"/>
            </a:solidFill>
            <a:round/>
            <a:headEnd/>
            <a:tailEnd/>
          </a:ln>
        </p:spPr>
        <p:txBody>
          <a:bodyPr/>
          <a:lstStyle/>
          <a:p>
            <a:endParaRPr lang="th-TH"/>
          </a:p>
        </p:txBody>
      </p:sp>
      <p:sp>
        <p:nvSpPr>
          <p:cNvPr id="47168" name="Line 64"/>
          <p:cNvSpPr>
            <a:spLocks noChangeShapeType="1"/>
          </p:cNvSpPr>
          <p:nvPr/>
        </p:nvSpPr>
        <p:spPr bwMode="auto">
          <a:xfrm flipV="1">
            <a:off x="6229350" y="3713163"/>
            <a:ext cx="142875" cy="144462"/>
          </a:xfrm>
          <a:prstGeom prst="line">
            <a:avLst/>
          </a:prstGeom>
          <a:noFill/>
          <a:ln w="9525">
            <a:solidFill>
              <a:schemeClr val="tx1"/>
            </a:solidFill>
            <a:round/>
            <a:headEnd/>
            <a:tailEnd/>
          </a:ln>
        </p:spPr>
        <p:txBody>
          <a:bodyPr/>
          <a:lstStyle/>
          <a:p>
            <a:endParaRPr lang="th-TH"/>
          </a:p>
        </p:txBody>
      </p:sp>
      <p:sp>
        <p:nvSpPr>
          <p:cNvPr id="47169" name="Line 65"/>
          <p:cNvSpPr>
            <a:spLocks noChangeShapeType="1"/>
          </p:cNvSpPr>
          <p:nvPr/>
        </p:nvSpPr>
        <p:spPr bwMode="auto">
          <a:xfrm flipV="1">
            <a:off x="6372225" y="3713163"/>
            <a:ext cx="144463" cy="144462"/>
          </a:xfrm>
          <a:prstGeom prst="line">
            <a:avLst/>
          </a:prstGeom>
          <a:noFill/>
          <a:ln w="9525">
            <a:solidFill>
              <a:schemeClr val="tx1"/>
            </a:solidFill>
            <a:round/>
            <a:headEnd/>
            <a:tailEnd/>
          </a:ln>
        </p:spPr>
        <p:txBody>
          <a:bodyPr/>
          <a:lstStyle/>
          <a:p>
            <a:endParaRPr lang="th-TH"/>
          </a:p>
        </p:txBody>
      </p:sp>
      <p:sp>
        <p:nvSpPr>
          <p:cNvPr id="47170" name="Line 66"/>
          <p:cNvSpPr>
            <a:spLocks noChangeShapeType="1"/>
          </p:cNvSpPr>
          <p:nvPr/>
        </p:nvSpPr>
        <p:spPr bwMode="auto">
          <a:xfrm flipV="1">
            <a:off x="6516688" y="3713163"/>
            <a:ext cx="144462" cy="144462"/>
          </a:xfrm>
          <a:prstGeom prst="line">
            <a:avLst/>
          </a:prstGeom>
          <a:noFill/>
          <a:ln w="9525">
            <a:solidFill>
              <a:schemeClr val="tx1"/>
            </a:solidFill>
            <a:round/>
            <a:headEnd/>
            <a:tailEnd/>
          </a:ln>
        </p:spPr>
        <p:txBody>
          <a:bodyPr/>
          <a:lstStyle/>
          <a:p>
            <a:endParaRPr lang="th-TH"/>
          </a:p>
        </p:txBody>
      </p:sp>
      <p:sp>
        <p:nvSpPr>
          <p:cNvPr id="47171" name="Line 67"/>
          <p:cNvSpPr>
            <a:spLocks noChangeShapeType="1"/>
          </p:cNvSpPr>
          <p:nvPr/>
        </p:nvSpPr>
        <p:spPr bwMode="auto">
          <a:xfrm flipV="1">
            <a:off x="6661150" y="3713163"/>
            <a:ext cx="144463" cy="144462"/>
          </a:xfrm>
          <a:prstGeom prst="line">
            <a:avLst/>
          </a:prstGeom>
          <a:noFill/>
          <a:ln w="9525">
            <a:solidFill>
              <a:schemeClr val="tx1"/>
            </a:solidFill>
            <a:round/>
            <a:headEnd/>
            <a:tailEnd/>
          </a:ln>
        </p:spPr>
        <p:txBody>
          <a:bodyPr/>
          <a:lstStyle/>
          <a:p>
            <a:endParaRPr lang="th-TH"/>
          </a:p>
        </p:txBody>
      </p:sp>
      <p:sp>
        <p:nvSpPr>
          <p:cNvPr id="47172" name="Line 68"/>
          <p:cNvSpPr>
            <a:spLocks noChangeShapeType="1"/>
          </p:cNvSpPr>
          <p:nvPr/>
        </p:nvSpPr>
        <p:spPr bwMode="auto">
          <a:xfrm flipV="1">
            <a:off x="6805613" y="3713163"/>
            <a:ext cx="142875" cy="144462"/>
          </a:xfrm>
          <a:prstGeom prst="line">
            <a:avLst/>
          </a:prstGeom>
          <a:noFill/>
          <a:ln w="9525">
            <a:solidFill>
              <a:schemeClr val="tx1"/>
            </a:solidFill>
            <a:round/>
            <a:headEnd/>
            <a:tailEnd/>
          </a:ln>
        </p:spPr>
        <p:txBody>
          <a:bodyPr/>
          <a:lstStyle/>
          <a:p>
            <a:endParaRPr lang="th-TH"/>
          </a:p>
        </p:txBody>
      </p:sp>
      <p:sp>
        <p:nvSpPr>
          <p:cNvPr id="47173" name="Line 69"/>
          <p:cNvSpPr>
            <a:spLocks noChangeShapeType="1"/>
          </p:cNvSpPr>
          <p:nvPr/>
        </p:nvSpPr>
        <p:spPr bwMode="auto">
          <a:xfrm flipV="1">
            <a:off x="6948488" y="3713163"/>
            <a:ext cx="144462" cy="144462"/>
          </a:xfrm>
          <a:prstGeom prst="line">
            <a:avLst/>
          </a:prstGeom>
          <a:noFill/>
          <a:ln w="9525">
            <a:solidFill>
              <a:schemeClr val="tx1"/>
            </a:solidFill>
            <a:round/>
            <a:headEnd/>
            <a:tailEnd/>
          </a:ln>
        </p:spPr>
        <p:txBody>
          <a:bodyPr/>
          <a:lstStyle/>
          <a:p>
            <a:endParaRPr lang="th-TH"/>
          </a:p>
        </p:txBody>
      </p:sp>
      <p:sp>
        <p:nvSpPr>
          <p:cNvPr id="47174" name="Line 70"/>
          <p:cNvSpPr>
            <a:spLocks noChangeShapeType="1"/>
          </p:cNvSpPr>
          <p:nvPr/>
        </p:nvSpPr>
        <p:spPr bwMode="auto">
          <a:xfrm flipV="1">
            <a:off x="7092950" y="3713163"/>
            <a:ext cx="144463" cy="144462"/>
          </a:xfrm>
          <a:prstGeom prst="line">
            <a:avLst/>
          </a:prstGeom>
          <a:noFill/>
          <a:ln w="9525">
            <a:solidFill>
              <a:schemeClr val="tx1"/>
            </a:solidFill>
            <a:round/>
            <a:headEnd/>
            <a:tailEnd/>
          </a:ln>
        </p:spPr>
        <p:txBody>
          <a:bodyPr/>
          <a:lstStyle/>
          <a:p>
            <a:endParaRPr lang="th-TH"/>
          </a:p>
        </p:txBody>
      </p:sp>
      <p:sp>
        <p:nvSpPr>
          <p:cNvPr id="47175" name="Oval 71"/>
          <p:cNvSpPr>
            <a:spLocks noChangeArrowheads="1"/>
          </p:cNvSpPr>
          <p:nvPr/>
        </p:nvSpPr>
        <p:spPr bwMode="auto">
          <a:xfrm>
            <a:off x="3924300" y="3281363"/>
            <a:ext cx="144463" cy="576262"/>
          </a:xfrm>
          <a:prstGeom prst="ellipse">
            <a:avLst/>
          </a:prstGeom>
          <a:solidFill>
            <a:schemeClr val="bg1"/>
          </a:solidFill>
          <a:ln w="9525">
            <a:solidFill>
              <a:schemeClr val="tx1"/>
            </a:solidFill>
            <a:round/>
            <a:headEnd/>
            <a:tailEnd/>
          </a:ln>
        </p:spPr>
        <p:txBody>
          <a:bodyPr wrap="none" anchor="ctr"/>
          <a:lstStyle/>
          <a:p>
            <a:endParaRPr lang="th-TH"/>
          </a:p>
        </p:txBody>
      </p:sp>
      <p:sp>
        <p:nvSpPr>
          <p:cNvPr id="47176" name="Freeform 72"/>
          <p:cNvSpPr>
            <a:spLocks/>
          </p:cNvSpPr>
          <p:nvPr/>
        </p:nvSpPr>
        <p:spPr bwMode="auto">
          <a:xfrm>
            <a:off x="4946650" y="2855913"/>
            <a:ext cx="177800" cy="365125"/>
          </a:xfrm>
          <a:custGeom>
            <a:avLst/>
            <a:gdLst>
              <a:gd name="T0" fmla="*/ 93662 w 112"/>
              <a:gd name="T1" fmla="*/ 0 h 230"/>
              <a:gd name="T2" fmla="*/ 125413 w 112"/>
              <a:gd name="T3" fmla="*/ 355600 h 230"/>
              <a:gd name="T4" fmla="*/ 150813 w 112"/>
              <a:gd name="T5" fmla="*/ 241300 h 230"/>
              <a:gd name="T6" fmla="*/ 176213 w 112"/>
              <a:gd name="T7" fmla="*/ 203200 h 230"/>
              <a:gd name="T8" fmla="*/ 131763 w 112"/>
              <a:gd name="T9" fmla="*/ 38100 h 230"/>
              <a:gd name="T10" fmla="*/ 93662 w 112"/>
              <a:gd name="T11" fmla="*/ 0 h 230"/>
              <a:gd name="T12" fmla="*/ 0 60000 65536"/>
              <a:gd name="T13" fmla="*/ 0 60000 65536"/>
              <a:gd name="T14" fmla="*/ 0 60000 65536"/>
              <a:gd name="T15" fmla="*/ 0 60000 65536"/>
              <a:gd name="T16" fmla="*/ 0 60000 65536"/>
              <a:gd name="T17" fmla="*/ 0 60000 65536"/>
              <a:gd name="T18" fmla="*/ 0 w 112"/>
              <a:gd name="T19" fmla="*/ 0 h 230"/>
              <a:gd name="T20" fmla="*/ 112 w 112"/>
              <a:gd name="T21" fmla="*/ 230 h 230"/>
            </a:gdLst>
            <a:ahLst/>
            <a:cxnLst>
              <a:cxn ang="T12">
                <a:pos x="T0" y="T1"/>
              </a:cxn>
              <a:cxn ang="T13">
                <a:pos x="T2" y="T3"/>
              </a:cxn>
              <a:cxn ang="T14">
                <a:pos x="T4" y="T5"/>
              </a:cxn>
              <a:cxn ang="T15">
                <a:pos x="T6" y="T7"/>
              </a:cxn>
              <a:cxn ang="T16">
                <a:pos x="T8" y="T9"/>
              </a:cxn>
              <a:cxn ang="T17">
                <a:pos x="T10" y="T11"/>
              </a:cxn>
            </a:cxnLst>
            <a:rect l="T18" t="T19" r="T20" b="T21"/>
            <a:pathLst>
              <a:path w="112" h="230">
                <a:moveTo>
                  <a:pt x="59" y="0"/>
                </a:moveTo>
                <a:cubicBezTo>
                  <a:pt x="78" y="74"/>
                  <a:pt x="0" y="198"/>
                  <a:pt x="79" y="224"/>
                </a:cubicBezTo>
                <a:cubicBezTo>
                  <a:pt x="112" y="202"/>
                  <a:pt x="77" y="230"/>
                  <a:pt x="95" y="152"/>
                </a:cubicBezTo>
                <a:cubicBezTo>
                  <a:pt x="97" y="143"/>
                  <a:pt x="111" y="128"/>
                  <a:pt x="111" y="128"/>
                </a:cubicBezTo>
                <a:cubicBezTo>
                  <a:pt x="107" y="66"/>
                  <a:pt x="106" y="70"/>
                  <a:pt x="83" y="24"/>
                </a:cubicBezTo>
                <a:cubicBezTo>
                  <a:pt x="77" y="12"/>
                  <a:pt x="76" y="0"/>
                  <a:pt x="59" y="0"/>
                </a:cubicBezTo>
                <a:close/>
              </a:path>
            </a:pathLst>
          </a:custGeom>
          <a:solidFill>
            <a:schemeClr val="bg1"/>
          </a:solidFill>
          <a:ln w="9525">
            <a:solidFill>
              <a:schemeClr val="bg1"/>
            </a:solidFill>
            <a:round/>
            <a:headEnd/>
            <a:tailEnd/>
          </a:ln>
        </p:spPr>
        <p:txBody>
          <a:bodyPr/>
          <a:lstStyle/>
          <a:p>
            <a:endParaRPr lang="th-TH"/>
          </a:p>
        </p:txBody>
      </p:sp>
      <p:sp>
        <p:nvSpPr>
          <p:cNvPr id="47177" name="Freeform 73"/>
          <p:cNvSpPr>
            <a:spLocks/>
          </p:cNvSpPr>
          <p:nvPr/>
        </p:nvSpPr>
        <p:spPr bwMode="auto">
          <a:xfrm>
            <a:off x="5565775" y="2787650"/>
            <a:ext cx="161925" cy="487363"/>
          </a:xfrm>
          <a:custGeom>
            <a:avLst/>
            <a:gdLst>
              <a:gd name="T0" fmla="*/ 0 w 102"/>
              <a:gd name="T1" fmla="*/ 0 h 307"/>
              <a:gd name="T2" fmla="*/ 28575 w 102"/>
              <a:gd name="T3" fmla="*/ 109538 h 307"/>
              <a:gd name="T4" fmla="*/ 38100 w 102"/>
              <a:gd name="T5" fmla="*/ 138113 h 307"/>
              <a:gd name="T6" fmla="*/ 42862 w 102"/>
              <a:gd name="T7" fmla="*/ 342900 h 307"/>
              <a:gd name="T8" fmla="*/ 0 w 102"/>
              <a:gd name="T9" fmla="*/ 433388 h 307"/>
              <a:gd name="T10" fmla="*/ 52388 w 102"/>
              <a:gd name="T11" fmla="*/ 476250 h 307"/>
              <a:gd name="T12" fmla="*/ 109538 w 102"/>
              <a:gd name="T13" fmla="*/ 423863 h 307"/>
              <a:gd name="T14" fmla="*/ 119063 w 102"/>
              <a:gd name="T15" fmla="*/ 390525 h 307"/>
              <a:gd name="T16" fmla="*/ 0 w 102"/>
              <a:gd name="T17" fmla="*/ 0 h 3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2"/>
              <a:gd name="T28" fmla="*/ 0 h 307"/>
              <a:gd name="T29" fmla="*/ 102 w 102"/>
              <a:gd name="T30" fmla="*/ 307 h 3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2" h="307">
                <a:moveTo>
                  <a:pt x="0" y="0"/>
                </a:moveTo>
                <a:cubicBezTo>
                  <a:pt x="8" y="23"/>
                  <a:pt x="10" y="46"/>
                  <a:pt x="18" y="69"/>
                </a:cubicBezTo>
                <a:cubicBezTo>
                  <a:pt x="20" y="75"/>
                  <a:pt x="24" y="87"/>
                  <a:pt x="24" y="87"/>
                </a:cubicBezTo>
                <a:cubicBezTo>
                  <a:pt x="27" y="131"/>
                  <a:pt x="31" y="171"/>
                  <a:pt x="27" y="216"/>
                </a:cubicBezTo>
                <a:cubicBezTo>
                  <a:pt x="25" y="234"/>
                  <a:pt x="5" y="253"/>
                  <a:pt x="0" y="273"/>
                </a:cubicBezTo>
                <a:cubicBezTo>
                  <a:pt x="4" y="307"/>
                  <a:pt x="2" y="304"/>
                  <a:pt x="33" y="300"/>
                </a:cubicBezTo>
                <a:cubicBezTo>
                  <a:pt x="49" y="289"/>
                  <a:pt x="57" y="283"/>
                  <a:pt x="69" y="267"/>
                </a:cubicBezTo>
                <a:cubicBezTo>
                  <a:pt x="71" y="260"/>
                  <a:pt x="75" y="253"/>
                  <a:pt x="75" y="246"/>
                </a:cubicBezTo>
                <a:cubicBezTo>
                  <a:pt x="75" y="196"/>
                  <a:pt x="102" y="17"/>
                  <a:pt x="0" y="0"/>
                </a:cubicBezTo>
                <a:close/>
              </a:path>
            </a:pathLst>
          </a:custGeom>
          <a:solidFill>
            <a:schemeClr val="bg1"/>
          </a:solidFill>
          <a:ln w="9525">
            <a:solidFill>
              <a:schemeClr val="bg1"/>
            </a:solidFill>
            <a:round/>
            <a:headEnd/>
            <a:tailEnd/>
          </a:ln>
        </p:spPr>
        <p:txBody>
          <a:bodyPr/>
          <a:lstStyle/>
          <a:p>
            <a:endParaRPr lang="th-TH"/>
          </a:p>
        </p:txBody>
      </p:sp>
      <p:sp>
        <p:nvSpPr>
          <p:cNvPr id="47178" name="Freeform 74"/>
          <p:cNvSpPr>
            <a:spLocks/>
          </p:cNvSpPr>
          <p:nvPr/>
        </p:nvSpPr>
        <p:spPr bwMode="auto">
          <a:xfrm>
            <a:off x="6045200" y="2767013"/>
            <a:ext cx="77788" cy="111125"/>
          </a:xfrm>
          <a:custGeom>
            <a:avLst/>
            <a:gdLst>
              <a:gd name="T0" fmla="*/ 1588 w 49"/>
              <a:gd name="T1" fmla="*/ 30162 h 70"/>
              <a:gd name="T2" fmla="*/ 34925 w 49"/>
              <a:gd name="T3" fmla="*/ 87312 h 70"/>
              <a:gd name="T4" fmla="*/ 77788 w 49"/>
              <a:gd name="T5" fmla="*/ 77787 h 70"/>
              <a:gd name="T6" fmla="*/ 1588 w 49"/>
              <a:gd name="T7" fmla="*/ 30162 h 70"/>
              <a:gd name="T8" fmla="*/ 0 60000 65536"/>
              <a:gd name="T9" fmla="*/ 0 60000 65536"/>
              <a:gd name="T10" fmla="*/ 0 60000 65536"/>
              <a:gd name="T11" fmla="*/ 0 60000 65536"/>
              <a:gd name="T12" fmla="*/ 0 w 49"/>
              <a:gd name="T13" fmla="*/ 0 h 70"/>
              <a:gd name="T14" fmla="*/ 49 w 49"/>
              <a:gd name="T15" fmla="*/ 70 h 70"/>
            </a:gdLst>
            <a:ahLst/>
            <a:cxnLst>
              <a:cxn ang="T8">
                <a:pos x="T0" y="T1"/>
              </a:cxn>
              <a:cxn ang="T9">
                <a:pos x="T2" y="T3"/>
              </a:cxn>
              <a:cxn ang="T10">
                <a:pos x="T4" y="T5"/>
              </a:cxn>
              <a:cxn ang="T11">
                <a:pos x="T6" y="T7"/>
              </a:cxn>
            </a:cxnLst>
            <a:rect l="T12" t="T13" r="T14" b="T15"/>
            <a:pathLst>
              <a:path w="49" h="70">
                <a:moveTo>
                  <a:pt x="1" y="19"/>
                </a:moveTo>
                <a:cubicBezTo>
                  <a:pt x="4" y="46"/>
                  <a:pt x="0" y="48"/>
                  <a:pt x="22" y="55"/>
                </a:cubicBezTo>
                <a:cubicBezTo>
                  <a:pt x="37" y="70"/>
                  <a:pt x="42" y="69"/>
                  <a:pt x="49" y="49"/>
                </a:cubicBezTo>
                <a:cubicBezTo>
                  <a:pt x="45" y="23"/>
                  <a:pt x="29" y="0"/>
                  <a:pt x="1" y="19"/>
                </a:cubicBezTo>
                <a:close/>
              </a:path>
            </a:pathLst>
          </a:custGeom>
          <a:solidFill>
            <a:schemeClr val="bg1"/>
          </a:solidFill>
          <a:ln w="9525">
            <a:solidFill>
              <a:schemeClr val="bg1"/>
            </a:solidFill>
            <a:round/>
            <a:headEnd/>
            <a:tailEnd/>
          </a:ln>
        </p:spPr>
        <p:txBody>
          <a:bodyPr/>
          <a:lstStyle/>
          <a:p>
            <a:endParaRPr lang="th-TH"/>
          </a:p>
        </p:txBody>
      </p:sp>
      <p:sp>
        <p:nvSpPr>
          <p:cNvPr id="47179" name="Freeform 75"/>
          <p:cNvSpPr>
            <a:spLocks/>
          </p:cNvSpPr>
          <p:nvPr/>
        </p:nvSpPr>
        <p:spPr bwMode="auto">
          <a:xfrm>
            <a:off x="6040438" y="3184525"/>
            <a:ext cx="80962" cy="98425"/>
          </a:xfrm>
          <a:custGeom>
            <a:avLst/>
            <a:gdLst>
              <a:gd name="T0" fmla="*/ 34925 w 51"/>
              <a:gd name="T1" fmla="*/ 60325 h 62"/>
              <a:gd name="T2" fmla="*/ 11112 w 51"/>
              <a:gd name="T3" fmla="*/ 31750 h 62"/>
              <a:gd name="T4" fmla="*/ 53975 w 51"/>
              <a:gd name="T5" fmla="*/ 3175 h 62"/>
              <a:gd name="T6" fmla="*/ 77787 w 51"/>
              <a:gd name="T7" fmla="*/ 7938 h 62"/>
              <a:gd name="T8" fmla="*/ 34925 w 51"/>
              <a:gd name="T9" fmla="*/ 60325 h 62"/>
              <a:gd name="T10" fmla="*/ 0 60000 65536"/>
              <a:gd name="T11" fmla="*/ 0 60000 65536"/>
              <a:gd name="T12" fmla="*/ 0 60000 65536"/>
              <a:gd name="T13" fmla="*/ 0 60000 65536"/>
              <a:gd name="T14" fmla="*/ 0 60000 65536"/>
              <a:gd name="T15" fmla="*/ 0 w 51"/>
              <a:gd name="T16" fmla="*/ 0 h 62"/>
              <a:gd name="T17" fmla="*/ 51 w 51"/>
              <a:gd name="T18" fmla="*/ 62 h 62"/>
            </a:gdLst>
            <a:ahLst/>
            <a:cxnLst>
              <a:cxn ang="T10">
                <a:pos x="T0" y="T1"/>
              </a:cxn>
              <a:cxn ang="T11">
                <a:pos x="T2" y="T3"/>
              </a:cxn>
              <a:cxn ang="T12">
                <a:pos x="T4" y="T5"/>
              </a:cxn>
              <a:cxn ang="T13">
                <a:pos x="T6" y="T7"/>
              </a:cxn>
              <a:cxn ang="T14">
                <a:pos x="T8" y="T9"/>
              </a:cxn>
            </a:cxnLst>
            <a:rect l="T15" t="T16" r="T17" b="T18"/>
            <a:pathLst>
              <a:path w="51" h="62">
                <a:moveTo>
                  <a:pt x="22" y="38"/>
                </a:moveTo>
                <a:cubicBezTo>
                  <a:pt x="0" y="31"/>
                  <a:pt x="29" y="34"/>
                  <a:pt x="7" y="20"/>
                </a:cubicBezTo>
                <a:cubicBezTo>
                  <a:pt x="19" y="16"/>
                  <a:pt x="25" y="11"/>
                  <a:pt x="34" y="2"/>
                </a:cubicBezTo>
                <a:cubicBezTo>
                  <a:pt x="39" y="3"/>
                  <a:pt x="48" y="0"/>
                  <a:pt x="49" y="5"/>
                </a:cubicBezTo>
                <a:cubicBezTo>
                  <a:pt x="51" y="12"/>
                  <a:pt x="34" y="62"/>
                  <a:pt x="22" y="38"/>
                </a:cubicBezTo>
                <a:close/>
              </a:path>
            </a:pathLst>
          </a:custGeom>
          <a:solidFill>
            <a:schemeClr val="bg1"/>
          </a:solidFill>
          <a:ln w="9525">
            <a:solidFill>
              <a:schemeClr val="bg1"/>
            </a:solidFill>
            <a:round/>
            <a:headEnd/>
            <a:tailEnd/>
          </a:ln>
        </p:spPr>
        <p:txBody>
          <a:bodyPr/>
          <a:lstStyle/>
          <a:p>
            <a:endParaRPr lang="th-TH"/>
          </a:p>
        </p:txBody>
      </p:sp>
      <p:sp>
        <p:nvSpPr>
          <p:cNvPr id="47180" name="Freeform 76"/>
          <p:cNvSpPr>
            <a:spLocks/>
          </p:cNvSpPr>
          <p:nvPr/>
        </p:nvSpPr>
        <p:spPr bwMode="auto">
          <a:xfrm>
            <a:off x="4951413" y="2811463"/>
            <a:ext cx="84137" cy="66675"/>
          </a:xfrm>
          <a:custGeom>
            <a:avLst/>
            <a:gdLst>
              <a:gd name="T0" fmla="*/ 84137 w 53"/>
              <a:gd name="T1" fmla="*/ 0 h 42"/>
              <a:gd name="T2" fmla="*/ 33337 w 53"/>
              <a:gd name="T3" fmla="*/ 66675 h 42"/>
              <a:gd name="T4" fmla="*/ 0 w 53"/>
              <a:gd name="T5" fmla="*/ 50800 h 42"/>
              <a:gd name="T6" fmla="*/ 61912 w 53"/>
              <a:gd name="T7" fmla="*/ 12700 h 42"/>
              <a:gd name="T8" fmla="*/ 84137 w 53"/>
              <a:gd name="T9" fmla="*/ 0 h 42"/>
              <a:gd name="T10" fmla="*/ 0 60000 65536"/>
              <a:gd name="T11" fmla="*/ 0 60000 65536"/>
              <a:gd name="T12" fmla="*/ 0 60000 65536"/>
              <a:gd name="T13" fmla="*/ 0 60000 65536"/>
              <a:gd name="T14" fmla="*/ 0 60000 65536"/>
              <a:gd name="T15" fmla="*/ 0 w 53"/>
              <a:gd name="T16" fmla="*/ 0 h 42"/>
              <a:gd name="T17" fmla="*/ 53 w 53"/>
              <a:gd name="T18" fmla="*/ 42 h 42"/>
            </a:gdLst>
            <a:ahLst/>
            <a:cxnLst>
              <a:cxn ang="T10">
                <a:pos x="T0" y="T1"/>
              </a:cxn>
              <a:cxn ang="T11">
                <a:pos x="T2" y="T3"/>
              </a:cxn>
              <a:cxn ang="T12">
                <a:pos x="T4" y="T5"/>
              </a:cxn>
              <a:cxn ang="T13">
                <a:pos x="T6" y="T7"/>
              </a:cxn>
              <a:cxn ang="T14">
                <a:pos x="T8" y="T9"/>
              </a:cxn>
            </a:cxnLst>
            <a:rect l="T15" t="T16" r="T17" b="T18"/>
            <a:pathLst>
              <a:path w="53" h="42">
                <a:moveTo>
                  <a:pt x="53" y="0"/>
                </a:moveTo>
                <a:cubicBezTo>
                  <a:pt x="50" y="28"/>
                  <a:pt x="46" y="34"/>
                  <a:pt x="21" y="42"/>
                </a:cubicBezTo>
                <a:cubicBezTo>
                  <a:pt x="10" y="41"/>
                  <a:pt x="5" y="42"/>
                  <a:pt x="0" y="32"/>
                </a:cubicBezTo>
                <a:cubicBezTo>
                  <a:pt x="4" y="16"/>
                  <a:pt x="24" y="10"/>
                  <a:pt x="39" y="8"/>
                </a:cubicBezTo>
                <a:cubicBezTo>
                  <a:pt x="46" y="6"/>
                  <a:pt x="49" y="7"/>
                  <a:pt x="53" y="0"/>
                </a:cubicBezTo>
                <a:close/>
              </a:path>
            </a:pathLst>
          </a:custGeom>
          <a:solidFill>
            <a:schemeClr val="bg1"/>
          </a:solidFill>
          <a:ln w="9525">
            <a:solidFill>
              <a:schemeClr val="bg1"/>
            </a:solidFill>
            <a:round/>
            <a:headEnd/>
            <a:tailEnd/>
          </a:ln>
        </p:spPr>
        <p:txBody>
          <a:bodyPr/>
          <a:lstStyle/>
          <a:p>
            <a:endParaRPr lang="th-TH"/>
          </a:p>
        </p:txBody>
      </p:sp>
      <p:sp>
        <p:nvSpPr>
          <p:cNvPr id="47181" name="Freeform 77"/>
          <p:cNvSpPr>
            <a:spLocks/>
          </p:cNvSpPr>
          <p:nvPr/>
        </p:nvSpPr>
        <p:spPr bwMode="auto">
          <a:xfrm>
            <a:off x="4979988" y="3186113"/>
            <a:ext cx="52387" cy="65087"/>
          </a:xfrm>
          <a:custGeom>
            <a:avLst/>
            <a:gdLst>
              <a:gd name="T0" fmla="*/ 28575 w 33"/>
              <a:gd name="T1" fmla="*/ 0 h 41"/>
              <a:gd name="T2" fmla="*/ 52387 w 33"/>
              <a:gd name="T3" fmla="*/ 28575 h 41"/>
              <a:gd name="T4" fmla="*/ 17462 w 33"/>
              <a:gd name="T5" fmla="*/ 38100 h 41"/>
              <a:gd name="T6" fmla="*/ 0 w 33"/>
              <a:gd name="T7" fmla="*/ 19050 h 41"/>
              <a:gd name="T8" fmla="*/ 12700 w 33"/>
              <a:gd name="T9" fmla="*/ 15875 h 41"/>
              <a:gd name="T10" fmla="*/ 22225 w 33"/>
              <a:gd name="T11" fmla="*/ 11112 h 41"/>
              <a:gd name="T12" fmla="*/ 36512 w 33"/>
              <a:gd name="T13" fmla="*/ 9525 h 41"/>
              <a:gd name="T14" fmla="*/ 28575 w 33"/>
              <a:gd name="T15" fmla="*/ 0 h 41"/>
              <a:gd name="T16" fmla="*/ 0 60000 65536"/>
              <a:gd name="T17" fmla="*/ 0 60000 65536"/>
              <a:gd name="T18" fmla="*/ 0 60000 65536"/>
              <a:gd name="T19" fmla="*/ 0 60000 65536"/>
              <a:gd name="T20" fmla="*/ 0 60000 65536"/>
              <a:gd name="T21" fmla="*/ 0 60000 65536"/>
              <a:gd name="T22" fmla="*/ 0 60000 65536"/>
              <a:gd name="T23" fmla="*/ 0 60000 65536"/>
              <a:gd name="T24" fmla="*/ 0 w 33"/>
              <a:gd name="T25" fmla="*/ 0 h 41"/>
              <a:gd name="T26" fmla="*/ 33 w 33"/>
              <a:gd name="T27" fmla="*/ 41 h 4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 h="41">
                <a:moveTo>
                  <a:pt x="18" y="0"/>
                </a:moveTo>
                <a:cubicBezTo>
                  <a:pt x="24" y="5"/>
                  <a:pt x="29" y="11"/>
                  <a:pt x="33" y="18"/>
                </a:cubicBezTo>
                <a:cubicBezTo>
                  <a:pt x="31" y="41"/>
                  <a:pt x="26" y="26"/>
                  <a:pt x="11" y="24"/>
                </a:cubicBezTo>
                <a:cubicBezTo>
                  <a:pt x="7" y="20"/>
                  <a:pt x="3" y="17"/>
                  <a:pt x="0" y="12"/>
                </a:cubicBezTo>
                <a:cubicBezTo>
                  <a:pt x="3" y="11"/>
                  <a:pt x="5" y="11"/>
                  <a:pt x="8" y="10"/>
                </a:cubicBezTo>
                <a:cubicBezTo>
                  <a:pt x="10" y="9"/>
                  <a:pt x="12" y="8"/>
                  <a:pt x="14" y="7"/>
                </a:cubicBezTo>
                <a:cubicBezTo>
                  <a:pt x="17" y="6"/>
                  <a:pt x="22" y="9"/>
                  <a:pt x="23" y="6"/>
                </a:cubicBezTo>
                <a:cubicBezTo>
                  <a:pt x="24" y="4"/>
                  <a:pt x="20" y="2"/>
                  <a:pt x="18" y="0"/>
                </a:cubicBezTo>
                <a:close/>
              </a:path>
            </a:pathLst>
          </a:custGeom>
          <a:solidFill>
            <a:schemeClr val="bg1"/>
          </a:solidFill>
          <a:ln w="9525">
            <a:solidFill>
              <a:schemeClr val="bg1"/>
            </a:solidFill>
            <a:round/>
            <a:headEnd/>
            <a:tailEnd/>
          </a:ln>
        </p:spPr>
        <p:txBody>
          <a:bodyPr/>
          <a:lstStyle/>
          <a:p>
            <a:endParaRPr lang="th-TH"/>
          </a:p>
        </p:txBody>
      </p:sp>
      <p:sp>
        <p:nvSpPr>
          <p:cNvPr id="47182" name="Freeform 78"/>
          <p:cNvSpPr>
            <a:spLocks/>
          </p:cNvSpPr>
          <p:nvPr/>
        </p:nvSpPr>
        <p:spPr bwMode="auto">
          <a:xfrm>
            <a:off x="4965700" y="3890963"/>
            <a:ext cx="77788" cy="65087"/>
          </a:xfrm>
          <a:custGeom>
            <a:avLst/>
            <a:gdLst>
              <a:gd name="T0" fmla="*/ 65088 w 49"/>
              <a:gd name="T1" fmla="*/ 0 h 41"/>
              <a:gd name="T2" fmla="*/ 42863 w 49"/>
              <a:gd name="T3" fmla="*/ 61912 h 41"/>
              <a:gd name="T4" fmla="*/ 14288 w 49"/>
              <a:gd name="T5" fmla="*/ 58737 h 41"/>
              <a:gd name="T6" fmla="*/ 50800 w 49"/>
              <a:gd name="T7" fmla="*/ 19050 h 41"/>
              <a:gd name="T8" fmla="*/ 65088 w 49"/>
              <a:gd name="T9" fmla="*/ 0 h 41"/>
              <a:gd name="T10" fmla="*/ 0 60000 65536"/>
              <a:gd name="T11" fmla="*/ 0 60000 65536"/>
              <a:gd name="T12" fmla="*/ 0 60000 65536"/>
              <a:gd name="T13" fmla="*/ 0 60000 65536"/>
              <a:gd name="T14" fmla="*/ 0 60000 65536"/>
              <a:gd name="T15" fmla="*/ 0 w 49"/>
              <a:gd name="T16" fmla="*/ 0 h 41"/>
              <a:gd name="T17" fmla="*/ 49 w 49"/>
              <a:gd name="T18" fmla="*/ 41 h 41"/>
            </a:gdLst>
            <a:ahLst/>
            <a:cxnLst>
              <a:cxn ang="T10">
                <a:pos x="T0" y="T1"/>
              </a:cxn>
              <a:cxn ang="T11">
                <a:pos x="T2" y="T3"/>
              </a:cxn>
              <a:cxn ang="T12">
                <a:pos x="T4" y="T5"/>
              </a:cxn>
              <a:cxn ang="T13">
                <a:pos x="T6" y="T7"/>
              </a:cxn>
              <a:cxn ang="T14">
                <a:pos x="T8" y="T9"/>
              </a:cxn>
            </a:cxnLst>
            <a:rect l="T15" t="T16" r="T17" b="T18"/>
            <a:pathLst>
              <a:path w="49" h="41">
                <a:moveTo>
                  <a:pt x="41" y="0"/>
                </a:moveTo>
                <a:cubicBezTo>
                  <a:pt x="44" y="17"/>
                  <a:pt x="44" y="32"/>
                  <a:pt x="27" y="39"/>
                </a:cubicBezTo>
                <a:cubicBezTo>
                  <a:pt x="21" y="38"/>
                  <a:pt x="14" y="41"/>
                  <a:pt x="9" y="37"/>
                </a:cubicBezTo>
                <a:cubicBezTo>
                  <a:pt x="0" y="30"/>
                  <a:pt x="28" y="13"/>
                  <a:pt x="32" y="12"/>
                </a:cubicBezTo>
                <a:cubicBezTo>
                  <a:pt x="37" y="8"/>
                  <a:pt x="49" y="6"/>
                  <a:pt x="41" y="0"/>
                </a:cubicBezTo>
                <a:close/>
              </a:path>
            </a:pathLst>
          </a:custGeom>
          <a:solidFill>
            <a:schemeClr val="bg1"/>
          </a:solidFill>
          <a:ln w="9525">
            <a:solidFill>
              <a:schemeClr val="bg1"/>
            </a:solidFill>
            <a:round/>
            <a:headEnd/>
            <a:tailEnd/>
          </a:ln>
        </p:spPr>
        <p:txBody>
          <a:bodyPr/>
          <a:lstStyle/>
          <a:p>
            <a:endParaRPr lang="th-TH"/>
          </a:p>
        </p:txBody>
      </p:sp>
      <p:sp>
        <p:nvSpPr>
          <p:cNvPr id="47183" name="Freeform 79"/>
          <p:cNvSpPr>
            <a:spLocks/>
          </p:cNvSpPr>
          <p:nvPr/>
        </p:nvSpPr>
        <p:spPr bwMode="auto">
          <a:xfrm>
            <a:off x="5045075" y="3373438"/>
            <a:ext cx="58738" cy="65087"/>
          </a:xfrm>
          <a:custGeom>
            <a:avLst/>
            <a:gdLst>
              <a:gd name="T0" fmla="*/ 52388 w 37"/>
              <a:gd name="T1" fmla="*/ 0 h 41"/>
              <a:gd name="T2" fmla="*/ 58738 w 37"/>
              <a:gd name="T3" fmla="*/ 26987 h 41"/>
              <a:gd name="T4" fmla="*/ 30163 w 37"/>
              <a:gd name="T5" fmla="*/ 65087 h 41"/>
              <a:gd name="T6" fmla="*/ 28575 w 37"/>
              <a:gd name="T7" fmla="*/ 26987 h 41"/>
              <a:gd name="T8" fmla="*/ 52388 w 37"/>
              <a:gd name="T9" fmla="*/ 0 h 41"/>
              <a:gd name="T10" fmla="*/ 0 60000 65536"/>
              <a:gd name="T11" fmla="*/ 0 60000 65536"/>
              <a:gd name="T12" fmla="*/ 0 60000 65536"/>
              <a:gd name="T13" fmla="*/ 0 60000 65536"/>
              <a:gd name="T14" fmla="*/ 0 60000 65536"/>
              <a:gd name="T15" fmla="*/ 0 w 37"/>
              <a:gd name="T16" fmla="*/ 0 h 41"/>
              <a:gd name="T17" fmla="*/ 37 w 37"/>
              <a:gd name="T18" fmla="*/ 41 h 41"/>
            </a:gdLst>
            <a:ahLst/>
            <a:cxnLst>
              <a:cxn ang="T10">
                <a:pos x="T0" y="T1"/>
              </a:cxn>
              <a:cxn ang="T11">
                <a:pos x="T2" y="T3"/>
              </a:cxn>
              <a:cxn ang="T12">
                <a:pos x="T4" y="T5"/>
              </a:cxn>
              <a:cxn ang="T13">
                <a:pos x="T6" y="T7"/>
              </a:cxn>
              <a:cxn ang="T14">
                <a:pos x="T8" y="T9"/>
              </a:cxn>
            </a:cxnLst>
            <a:rect l="T15" t="T16" r="T17" b="T18"/>
            <a:pathLst>
              <a:path w="37" h="41">
                <a:moveTo>
                  <a:pt x="33" y="0"/>
                </a:moveTo>
                <a:cubicBezTo>
                  <a:pt x="34" y="6"/>
                  <a:pt x="36" y="11"/>
                  <a:pt x="37" y="17"/>
                </a:cubicBezTo>
                <a:cubicBezTo>
                  <a:pt x="36" y="27"/>
                  <a:pt x="29" y="37"/>
                  <a:pt x="19" y="41"/>
                </a:cubicBezTo>
                <a:cubicBezTo>
                  <a:pt x="0" y="37"/>
                  <a:pt x="5" y="20"/>
                  <a:pt x="18" y="17"/>
                </a:cubicBezTo>
                <a:cubicBezTo>
                  <a:pt x="26" y="13"/>
                  <a:pt x="35" y="11"/>
                  <a:pt x="33" y="0"/>
                </a:cubicBezTo>
                <a:close/>
              </a:path>
            </a:pathLst>
          </a:custGeom>
          <a:solidFill>
            <a:schemeClr val="bg1"/>
          </a:solidFill>
          <a:ln w="9525">
            <a:solidFill>
              <a:schemeClr val="bg1"/>
            </a:solidFill>
            <a:round/>
            <a:headEnd/>
            <a:tailEnd/>
          </a:ln>
        </p:spPr>
        <p:txBody>
          <a:bodyPr/>
          <a:lstStyle/>
          <a:p>
            <a:endParaRPr lang="th-TH"/>
          </a:p>
        </p:txBody>
      </p:sp>
      <p:sp>
        <p:nvSpPr>
          <p:cNvPr id="47184" name="Freeform 80"/>
          <p:cNvSpPr>
            <a:spLocks/>
          </p:cNvSpPr>
          <p:nvPr/>
        </p:nvSpPr>
        <p:spPr bwMode="auto">
          <a:xfrm>
            <a:off x="4975225" y="4267200"/>
            <a:ext cx="57150" cy="68263"/>
          </a:xfrm>
          <a:custGeom>
            <a:avLst/>
            <a:gdLst>
              <a:gd name="T0" fmla="*/ 26988 w 36"/>
              <a:gd name="T1" fmla="*/ 0 h 43"/>
              <a:gd name="T2" fmla="*/ 57150 w 36"/>
              <a:gd name="T3" fmla="*/ 28575 h 43"/>
              <a:gd name="T4" fmla="*/ 38100 w 36"/>
              <a:gd name="T5" fmla="*/ 63500 h 43"/>
              <a:gd name="T6" fmla="*/ 0 w 36"/>
              <a:gd name="T7" fmla="*/ 52388 h 43"/>
              <a:gd name="T8" fmla="*/ 4762 w 36"/>
              <a:gd name="T9" fmla="*/ 20638 h 43"/>
              <a:gd name="T10" fmla="*/ 26988 w 36"/>
              <a:gd name="T11" fmla="*/ 0 h 43"/>
              <a:gd name="T12" fmla="*/ 0 60000 65536"/>
              <a:gd name="T13" fmla="*/ 0 60000 65536"/>
              <a:gd name="T14" fmla="*/ 0 60000 65536"/>
              <a:gd name="T15" fmla="*/ 0 60000 65536"/>
              <a:gd name="T16" fmla="*/ 0 60000 65536"/>
              <a:gd name="T17" fmla="*/ 0 60000 65536"/>
              <a:gd name="T18" fmla="*/ 0 w 36"/>
              <a:gd name="T19" fmla="*/ 0 h 43"/>
              <a:gd name="T20" fmla="*/ 36 w 36"/>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36" h="43">
                <a:moveTo>
                  <a:pt x="17" y="0"/>
                </a:moveTo>
                <a:cubicBezTo>
                  <a:pt x="24" y="6"/>
                  <a:pt x="29" y="13"/>
                  <a:pt x="36" y="18"/>
                </a:cubicBezTo>
                <a:cubicBezTo>
                  <a:pt x="34" y="29"/>
                  <a:pt x="36" y="38"/>
                  <a:pt x="24" y="40"/>
                </a:cubicBezTo>
                <a:cubicBezTo>
                  <a:pt x="13" y="39"/>
                  <a:pt x="5" y="43"/>
                  <a:pt x="0" y="33"/>
                </a:cubicBezTo>
                <a:cubicBezTo>
                  <a:pt x="1" y="26"/>
                  <a:pt x="0" y="19"/>
                  <a:pt x="3" y="13"/>
                </a:cubicBezTo>
                <a:cubicBezTo>
                  <a:pt x="6" y="6"/>
                  <a:pt x="14" y="6"/>
                  <a:pt x="17" y="0"/>
                </a:cubicBezTo>
                <a:close/>
              </a:path>
            </a:pathLst>
          </a:custGeom>
          <a:solidFill>
            <a:schemeClr val="bg1"/>
          </a:solidFill>
          <a:ln w="9525">
            <a:solidFill>
              <a:schemeClr val="bg1"/>
            </a:solidFill>
            <a:round/>
            <a:headEnd/>
            <a:tailEnd/>
          </a:ln>
        </p:spPr>
        <p:txBody>
          <a:bodyPr/>
          <a:lstStyle/>
          <a:p>
            <a:endParaRPr lang="th-TH"/>
          </a:p>
        </p:txBody>
      </p:sp>
      <p:sp>
        <p:nvSpPr>
          <p:cNvPr id="47185" name="Freeform 81"/>
          <p:cNvSpPr>
            <a:spLocks/>
          </p:cNvSpPr>
          <p:nvPr/>
        </p:nvSpPr>
        <p:spPr bwMode="auto">
          <a:xfrm>
            <a:off x="6051550" y="4267200"/>
            <a:ext cx="77788" cy="73025"/>
          </a:xfrm>
          <a:custGeom>
            <a:avLst/>
            <a:gdLst>
              <a:gd name="T0" fmla="*/ 38100 w 49"/>
              <a:gd name="T1" fmla="*/ 0 h 46"/>
              <a:gd name="T2" fmla="*/ 19050 w 49"/>
              <a:gd name="T3" fmla="*/ 15875 h 46"/>
              <a:gd name="T4" fmla="*/ 0 w 49"/>
              <a:gd name="T5" fmla="*/ 39687 h 46"/>
              <a:gd name="T6" fmla="*/ 19050 w 49"/>
              <a:gd name="T7" fmla="*/ 66675 h 46"/>
              <a:gd name="T8" fmla="*/ 50800 w 49"/>
              <a:gd name="T9" fmla="*/ 63500 h 46"/>
              <a:gd name="T10" fmla="*/ 38100 w 49"/>
              <a:gd name="T11" fmla="*/ 0 h 46"/>
              <a:gd name="T12" fmla="*/ 0 60000 65536"/>
              <a:gd name="T13" fmla="*/ 0 60000 65536"/>
              <a:gd name="T14" fmla="*/ 0 60000 65536"/>
              <a:gd name="T15" fmla="*/ 0 60000 65536"/>
              <a:gd name="T16" fmla="*/ 0 60000 65536"/>
              <a:gd name="T17" fmla="*/ 0 60000 65536"/>
              <a:gd name="T18" fmla="*/ 0 w 49"/>
              <a:gd name="T19" fmla="*/ 0 h 46"/>
              <a:gd name="T20" fmla="*/ 49 w 49"/>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49" h="46">
                <a:moveTo>
                  <a:pt x="24" y="0"/>
                </a:moveTo>
                <a:cubicBezTo>
                  <a:pt x="21" y="7"/>
                  <a:pt x="19" y="9"/>
                  <a:pt x="12" y="10"/>
                </a:cubicBezTo>
                <a:cubicBezTo>
                  <a:pt x="8" y="16"/>
                  <a:pt x="6" y="21"/>
                  <a:pt x="0" y="25"/>
                </a:cubicBezTo>
                <a:cubicBezTo>
                  <a:pt x="3" y="44"/>
                  <a:pt x="0" y="36"/>
                  <a:pt x="12" y="42"/>
                </a:cubicBezTo>
                <a:cubicBezTo>
                  <a:pt x="19" y="41"/>
                  <a:pt x="28" y="46"/>
                  <a:pt x="32" y="40"/>
                </a:cubicBezTo>
                <a:cubicBezTo>
                  <a:pt x="49" y="13"/>
                  <a:pt x="21" y="17"/>
                  <a:pt x="24" y="0"/>
                </a:cubicBezTo>
                <a:close/>
              </a:path>
            </a:pathLst>
          </a:custGeom>
          <a:solidFill>
            <a:schemeClr val="bg1"/>
          </a:solidFill>
          <a:ln w="9525">
            <a:solidFill>
              <a:schemeClr val="bg1"/>
            </a:solidFill>
            <a:round/>
            <a:headEnd/>
            <a:tailEnd/>
          </a:ln>
        </p:spPr>
        <p:txBody>
          <a:bodyPr/>
          <a:lstStyle/>
          <a:p>
            <a:endParaRPr lang="th-TH"/>
          </a:p>
        </p:txBody>
      </p:sp>
      <p:sp>
        <p:nvSpPr>
          <p:cNvPr id="47186" name="Freeform 82"/>
          <p:cNvSpPr>
            <a:spLocks/>
          </p:cNvSpPr>
          <p:nvPr/>
        </p:nvSpPr>
        <p:spPr bwMode="auto">
          <a:xfrm>
            <a:off x="6040438" y="3889375"/>
            <a:ext cx="76200" cy="68263"/>
          </a:xfrm>
          <a:custGeom>
            <a:avLst/>
            <a:gdLst>
              <a:gd name="T0" fmla="*/ 23812 w 48"/>
              <a:gd name="T1" fmla="*/ 7938 h 43"/>
              <a:gd name="T2" fmla="*/ 15875 w 48"/>
              <a:gd name="T3" fmla="*/ 41275 h 43"/>
              <a:gd name="T4" fmla="*/ 68263 w 48"/>
              <a:gd name="T5" fmla="*/ 68263 h 43"/>
              <a:gd name="T6" fmla="*/ 44450 w 48"/>
              <a:gd name="T7" fmla="*/ 22225 h 43"/>
              <a:gd name="T8" fmla="*/ 23812 w 48"/>
              <a:gd name="T9" fmla="*/ 7938 h 43"/>
              <a:gd name="T10" fmla="*/ 0 60000 65536"/>
              <a:gd name="T11" fmla="*/ 0 60000 65536"/>
              <a:gd name="T12" fmla="*/ 0 60000 65536"/>
              <a:gd name="T13" fmla="*/ 0 60000 65536"/>
              <a:gd name="T14" fmla="*/ 0 60000 65536"/>
              <a:gd name="T15" fmla="*/ 0 w 48"/>
              <a:gd name="T16" fmla="*/ 0 h 43"/>
              <a:gd name="T17" fmla="*/ 48 w 48"/>
              <a:gd name="T18" fmla="*/ 43 h 43"/>
            </a:gdLst>
            <a:ahLst/>
            <a:cxnLst>
              <a:cxn ang="T10">
                <a:pos x="T0" y="T1"/>
              </a:cxn>
              <a:cxn ang="T11">
                <a:pos x="T2" y="T3"/>
              </a:cxn>
              <a:cxn ang="T12">
                <a:pos x="T4" y="T5"/>
              </a:cxn>
              <a:cxn ang="T13">
                <a:pos x="T6" y="T7"/>
              </a:cxn>
              <a:cxn ang="T14">
                <a:pos x="T8" y="T9"/>
              </a:cxn>
            </a:cxnLst>
            <a:rect l="T15" t="T16" r="T17" b="T18"/>
            <a:pathLst>
              <a:path w="48" h="43">
                <a:moveTo>
                  <a:pt x="15" y="5"/>
                </a:moveTo>
                <a:cubicBezTo>
                  <a:pt x="6" y="8"/>
                  <a:pt x="0" y="18"/>
                  <a:pt x="10" y="26"/>
                </a:cubicBezTo>
                <a:cubicBezTo>
                  <a:pt x="19" y="33"/>
                  <a:pt x="33" y="39"/>
                  <a:pt x="43" y="43"/>
                </a:cubicBezTo>
                <a:cubicBezTo>
                  <a:pt x="48" y="30"/>
                  <a:pt x="38" y="21"/>
                  <a:pt x="28" y="14"/>
                </a:cubicBezTo>
                <a:cubicBezTo>
                  <a:pt x="12" y="2"/>
                  <a:pt x="15" y="0"/>
                  <a:pt x="15" y="5"/>
                </a:cubicBezTo>
                <a:close/>
              </a:path>
            </a:pathLst>
          </a:custGeom>
          <a:solidFill>
            <a:schemeClr val="bg1"/>
          </a:solidFill>
          <a:ln w="9525">
            <a:solidFill>
              <a:schemeClr val="bg1"/>
            </a:solidFill>
            <a:round/>
            <a:headEnd/>
            <a:tailEnd/>
          </a:ln>
        </p:spPr>
        <p:txBody>
          <a:bodyPr/>
          <a:lstStyle/>
          <a:p>
            <a:endParaRPr lang="th-TH"/>
          </a:p>
        </p:txBody>
      </p:sp>
      <p:sp>
        <p:nvSpPr>
          <p:cNvPr id="47187" name="Freeform 83"/>
          <p:cNvSpPr>
            <a:spLocks/>
          </p:cNvSpPr>
          <p:nvPr/>
        </p:nvSpPr>
        <p:spPr bwMode="auto">
          <a:xfrm>
            <a:off x="5324475" y="3867150"/>
            <a:ext cx="215900" cy="498475"/>
          </a:xfrm>
          <a:custGeom>
            <a:avLst/>
            <a:gdLst>
              <a:gd name="T0" fmla="*/ 84137 w 136"/>
              <a:gd name="T1" fmla="*/ 20637 h 314"/>
              <a:gd name="T2" fmla="*/ 125412 w 136"/>
              <a:gd name="T3" fmla="*/ 9525 h 314"/>
              <a:gd name="T4" fmla="*/ 146050 w 136"/>
              <a:gd name="T5" fmla="*/ 0 h 314"/>
              <a:gd name="T6" fmla="*/ 173037 w 136"/>
              <a:gd name="T7" fmla="*/ 11112 h 314"/>
              <a:gd name="T8" fmla="*/ 187325 w 136"/>
              <a:gd name="T9" fmla="*/ 42862 h 314"/>
              <a:gd name="T10" fmla="*/ 179387 w 136"/>
              <a:gd name="T11" fmla="*/ 163512 h 314"/>
              <a:gd name="T12" fmla="*/ 160337 w 136"/>
              <a:gd name="T13" fmla="*/ 282575 h 314"/>
              <a:gd name="T14" fmla="*/ 131762 w 136"/>
              <a:gd name="T15" fmla="*/ 481013 h 314"/>
              <a:gd name="T16" fmla="*/ 92075 w 136"/>
              <a:gd name="T17" fmla="*/ 463550 h 314"/>
              <a:gd name="T18" fmla="*/ 63500 w 136"/>
              <a:gd name="T19" fmla="*/ 434975 h 314"/>
              <a:gd name="T20" fmla="*/ 55562 w 136"/>
              <a:gd name="T21" fmla="*/ 425450 h 314"/>
              <a:gd name="T22" fmla="*/ 41275 w 136"/>
              <a:gd name="T23" fmla="*/ 395287 h 314"/>
              <a:gd name="T24" fmla="*/ 12700 w 136"/>
              <a:gd name="T25" fmla="*/ 314325 h 314"/>
              <a:gd name="T26" fmla="*/ 22225 w 136"/>
              <a:gd name="T27" fmla="*/ 204788 h 314"/>
              <a:gd name="T28" fmla="*/ 30162 w 136"/>
              <a:gd name="T29" fmla="*/ 176212 h 314"/>
              <a:gd name="T30" fmla="*/ 58737 w 136"/>
              <a:gd name="T31" fmla="*/ 57150 h 314"/>
              <a:gd name="T32" fmla="*/ 77787 w 136"/>
              <a:gd name="T33" fmla="*/ 39687 h 314"/>
              <a:gd name="T34" fmla="*/ 84137 w 136"/>
              <a:gd name="T35" fmla="*/ 20637 h 3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6"/>
              <a:gd name="T55" fmla="*/ 0 h 314"/>
              <a:gd name="T56" fmla="*/ 136 w 136"/>
              <a:gd name="T57" fmla="*/ 314 h 31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6" h="314">
                <a:moveTo>
                  <a:pt x="53" y="13"/>
                </a:moveTo>
                <a:cubicBezTo>
                  <a:pt x="62" y="11"/>
                  <a:pt x="70" y="7"/>
                  <a:pt x="79" y="6"/>
                </a:cubicBezTo>
                <a:cubicBezTo>
                  <a:pt x="84" y="4"/>
                  <a:pt x="88" y="3"/>
                  <a:pt x="92" y="0"/>
                </a:cubicBezTo>
                <a:cubicBezTo>
                  <a:pt x="99" y="1"/>
                  <a:pt x="103" y="3"/>
                  <a:pt x="109" y="7"/>
                </a:cubicBezTo>
                <a:cubicBezTo>
                  <a:pt x="118" y="21"/>
                  <a:pt x="115" y="14"/>
                  <a:pt x="118" y="27"/>
                </a:cubicBezTo>
                <a:cubicBezTo>
                  <a:pt x="117" y="52"/>
                  <a:pt x="121" y="79"/>
                  <a:pt x="113" y="103"/>
                </a:cubicBezTo>
                <a:cubicBezTo>
                  <a:pt x="111" y="128"/>
                  <a:pt x="104" y="153"/>
                  <a:pt x="101" y="178"/>
                </a:cubicBezTo>
                <a:cubicBezTo>
                  <a:pt x="101" y="223"/>
                  <a:pt x="136" y="314"/>
                  <a:pt x="83" y="303"/>
                </a:cubicBezTo>
                <a:cubicBezTo>
                  <a:pt x="72" y="295"/>
                  <a:pt x="75" y="295"/>
                  <a:pt x="58" y="292"/>
                </a:cubicBezTo>
                <a:cubicBezTo>
                  <a:pt x="49" y="286"/>
                  <a:pt x="48" y="284"/>
                  <a:pt x="40" y="274"/>
                </a:cubicBezTo>
                <a:cubicBezTo>
                  <a:pt x="38" y="272"/>
                  <a:pt x="35" y="268"/>
                  <a:pt x="35" y="268"/>
                </a:cubicBezTo>
                <a:cubicBezTo>
                  <a:pt x="34" y="260"/>
                  <a:pt x="31" y="255"/>
                  <a:pt x="26" y="249"/>
                </a:cubicBezTo>
                <a:cubicBezTo>
                  <a:pt x="23" y="232"/>
                  <a:pt x="13" y="215"/>
                  <a:pt x="8" y="198"/>
                </a:cubicBezTo>
                <a:cubicBezTo>
                  <a:pt x="9" y="175"/>
                  <a:pt x="0" y="147"/>
                  <a:pt x="14" y="129"/>
                </a:cubicBezTo>
                <a:cubicBezTo>
                  <a:pt x="15" y="123"/>
                  <a:pt x="16" y="117"/>
                  <a:pt x="19" y="111"/>
                </a:cubicBezTo>
                <a:cubicBezTo>
                  <a:pt x="20" y="86"/>
                  <a:pt x="15" y="54"/>
                  <a:pt x="37" y="36"/>
                </a:cubicBezTo>
                <a:cubicBezTo>
                  <a:pt x="40" y="30"/>
                  <a:pt x="43" y="28"/>
                  <a:pt x="49" y="25"/>
                </a:cubicBezTo>
                <a:cubicBezTo>
                  <a:pt x="52" y="21"/>
                  <a:pt x="53" y="18"/>
                  <a:pt x="53" y="13"/>
                </a:cubicBezTo>
                <a:close/>
              </a:path>
            </a:pathLst>
          </a:custGeom>
          <a:solidFill>
            <a:schemeClr val="bg1"/>
          </a:solidFill>
          <a:ln w="9525">
            <a:solidFill>
              <a:schemeClr val="bg1"/>
            </a:solidFill>
            <a:round/>
            <a:headEnd/>
            <a:tailEnd/>
          </a:ln>
        </p:spPr>
        <p:txBody>
          <a:bodyPr/>
          <a:lstStyle/>
          <a:p>
            <a:endParaRPr lang="th-TH"/>
          </a:p>
        </p:txBody>
      </p:sp>
      <p:sp>
        <p:nvSpPr>
          <p:cNvPr id="47188" name="Line 84"/>
          <p:cNvSpPr>
            <a:spLocks noChangeShapeType="1"/>
          </p:cNvSpPr>
          <p:nvPr/>
        </p:nvSpPr>
        <p:spPr bwMode="auto">
          <a:xfrm flipH="1">
            <a:off x="5868988" y="2489200"/>
            <a:ext cx="215900" cy="360363"/>
          </a:xfrm>
          <a:prstGeom prst="line">
            <a:avLst/>
          </a:prstGeom>
          <a:noFill/>
          <a:ln w="9525">
            <a:solidFill>
              <a:schemeClr val="tx1"/>
            </a:solidFill>
            <a:round/>
            <a:headEnd/>
            <a:tailEnd type="triangle" w="med" len="med"/>
          </a:ln>
        </p:spPr>
        <p:txBody>
          <a:bodyPr/>
          <a:lstStyle/>
          <a:p>
            <a:endParaRPr lang="th-TH"/>
          </a:p>
        </p:txBody>
      </p:sp>
      <p:sp>
        <p:nvSpPr>
          <p:cNvPr id="47189" name="Line 85"/>
          <p:cNvSpPr>
            <a:spLocks noChangeShapeType="1"/>
          </p:cNvSpPr>
          <p:nvPr/>
        </p:nvSpPr>
        <p:spPr bwMode="auto">
          <a:xfrm>
            <a:off x="6084888" y="2489200"/>
            <a:ext cx="360362" cy="0"/>
          </a:xfrm>
          <a:prstGeom prst="line">
            <a:avLst/>
          </a:prstGeom>
          <a:noFill/>
          <a:ln w="9525">
            <a:solidFill>
              <a:schemeClr val="tx1"/>
            </a:solidFill>
            <a:round/>
            <a:headEnd/>
            <a:tailEnd/>
          </a:ln>
        </p:spPr>
        <p:txBody>
          <a:bodyPr/>
          <a:lstStyle/>
          <a:p>
            <a:endParaRPr lang="th-TH"/>
          </a:p>
        </p:txBody>
      </p:sp>
      <p:sp>
        <p:nvSpPr>
          <p:cNvPr id="47190" name="Line 86"/>
          <p:cNvSpPr>
            <a:spLocks noChangeShapeType="1"/>
          </p:cNvSpPr>
          <p:nvPr/>
        </p:nvSpPr>
        <p:spPr bwMode="auto">
          <a:xfrm flipH="1" flipV="1">
            <a:off x="6805613" y="3857625"/>
            <a:ext cx="215900" cy="287338"/>
          </a:xfrm>
          <a:prstGeom prst="line">
            <a:avLst/>
          </a:prstGeom>
          <a:noFill/>
          <a:ln w="9525">
            <a:solidFill>
              <a:schemeClr val="tx1"/>
            </a:solidFill>
            <a:round/>
            <a:headEnd/>
            <a:tailEnd type="triangle" w="med" len="med"/>
          </a:ln>
        </p:spPr>
        <p:txBody>
          <a:bodyPr/>
          <a:lstStyle/>
          <a:p>
            <a:endParaRPr lang="th-TH"/>
          </a:p>
        </p:txBody>
      </p:sp>
      <p:sp>
        <p:nvSpPr>
          <p:cNvPr id="47191" name="Line 87"/>
          <p:cNvSpPr>
            <a:spLocks noChangeShapeType="1"/>
          </p:cNvSpPr>
          <p:nvPr/>
        </p:nvSpPr>
        <p:spPr bwMode="auto">
          <a:xfrm>
            <a:off x="7021513" y="4144963"/>
            <a:ext cx="360362" cy="0"/>
          </a:xfrm>
          <a:prstGeom prst="line">
            <a:avLst/>
          </a:prstGeom>
          <a:noFill/>
          <a:ln w="9525">
            <a:solidFill>
              <a:schemeClr val="tx1"/>
            </a:solidFill>
            <a:round/>
            <a:headEnd/>
            <a:tailEnd/>
          </a:ln>
        </p:spPr>
        <p:txBody>
          <a:bodyPr/>
          <a:lstStyle/>
          <a:p>
            <a:endParaRPr lang="th-TH"/>
          </a:p>
        </p:txBody>
      </p:sp>
      <p:sp>
        <p:nvSpPr>
          <p:cNvPr id="47192" name="Line 88"/>
          <p:cNvSpPr>
            <a:spLocks noChangeShapeType="1"/>
          </p:cNvSpPr>
          <p:nvPr/>
        </p:nvSpPr>
        <p:spPr bwMode="auto">
          <a:xfrm flipV="1">
            <a:off x="4284663" y="3860800"/>
            <a:ext cx="146050" cy="1006475"/>
          </a:xfrm>
          <a:prstGeom prst="line">
            <a:avLst/>
          </a:prstGeom>
          <a:noFill/>
          <a:ln w="9525">
            <a:solidFill>
              <a:schemeClr val="tx1"/>
            </a:solidFill>
            <a:round/>
            <a:headEnd/>
            <a:tailEnd type="triangle" w="med" len="med"/>
          </a:ln>
        </p:spPr>
        <p:txBody>
          <a:bodyPr/>
          <a:lstStyle/>
          <a:p>
            <a:endParaRPr lang="th-TH"/>
          </a:p>
        </p:txBody>
      </p:sp>
      <p:sp>
        <p:nvSpPr>
          <p:cNvPr id="47193" name="Line 89"/>
          <p:cNvSpPr>
            <a:spLocks noChangeShapeType="1"/>
          </p:cNvSpPr>
          <p:nvPr/>
        </p:nvSpPr>
        <p:spPr bwMode="auto">
          <a:xfrm>
            <a:off x="3205163" y="3568700"/>
            <a:ext cx="647700" cy="0"/>
          </a:xfrm>
          <a:prstGeom prst="line">
            <a:avLst/>
          </a:prstGeom>
          <a:noFill/>
          <a:ln w="9525">
            <a:solidFill>
              <a:schemeClr val="tx1"/>
            </a:solidFill>
            <a:round/>
            <a:headEnd/>
            <a:tailEnd/>
          </a:ln>
        </p:spPr>
        <p:txBody>
          <a:bodyPr/>
          <a:lstStyle/>
          <a:p>
            <a:endParaRPr lang="th-TH"/>
          </a:p>
        </p:txBody>
      </p:sp>
      <p:sp>
        <p:nvSpPr>
          <p:cNvPr id="47194" name="Line 90"/>
          <p:cNvSpPr>
            <a:spLocks noChangeShapeType="1"/>
          </p:cNvSpPr>
          <p:nvPr/>
        </p:nvSpPr>
        <p:spPr bwMode="auto">
          <a:xfrm>
            <a:off x="4572000" y="4144963"/>
            <a:ext cx="433388" cy="0"/>
          </a:xfrm>
          <a:prstGeom prst="line">
            <a:avLst/>
          </a:prstGeom>
          <a:noFill/>
          <a:ln w="9525">
            <a:solidFill>
              <a:schemeClr val="tx1"/>
            </a:solidFill>
            <a:round/>
            <a:headEnd/>
            <a:tailEnd/>
          </a:ln>
        </p:spPr>
        <p:txBody>
          <a:bodyPr/>
          <a:lstStyle/>
          <a:p>
            <a:endParaRPr lang="th-TH"/>
          </a:p>
        </p:txBody>
      </p:sp>
      <p:sp>
        <p:nvSpPr>
          <p:cNvPr id="47195" name="Freeform 91"/>
          <p:cNvSpPr>
            <a:spLocks/>
          </p:cNvSpPr>
          <p:nvPr/>
        </p:nvSpPr>
        <p:spPr bwMode="auto">
          <a:xfrm>
            <a:off x="5961063" y="3922713"/>
            <a:ext cx="127000" cy="365125"/>
          </a:xfrm>
          <a:custGeom>
            <a:avLst/>
            <a:gdLst>
              <a:gd name="T0" fmla="*/ 47625 w 80"/>
              <a:gd name="T1" fmla="*/ 7938 h 230"/>
              <a:gd name="T2" fmla="*/ 84137 w 80"/>
              <a:gd name="T3" fmla="*/ 12700 h 230"/>
              <a:gd name="T4" fmla="*/ 88900 w 80"/>
              <a:gd name="T5" fmla="*/ 258763 h 230"/>
              <a:gd name="T6" fmla="*/ 71437 w 80"/>
              <a:gd name="T7" fmla="*/ 365125 h 230"/>
              <a:gd name="T8" fmla="*/ 23812 w 80"/>
              <a:gd name="T9" fmla="*/ 334963 h 230"/>
              <a:gd name="T10" fmla="*/ 12700 w 80"/>
              <a:gd name="T11" fmla="*/ 301625 h 230"/>
              <a:gd name="T12" fmla="*/ 12700 w 80"/>
              <a:gd name="T13" fmla="*/ 50800 h 230"/>
              <a:gd name="T14" fmla="*/ 47625 w 80"/>
              <a:gd name="T15" fmla="*/ 7938 h 230"/>
              <a:gd name="T16" fmla="*/ 0 60000 65536"/>
              <a:gd name="T17" fmla="*/ 0 60000 65536"/>
              <a:gd name="T18" fmla="*/ 0 60000 65536"/>
              <a:gd name="T19" fmla="*/ 0 60000 65536"/>
              <a:gd name="T20" fmla="*/ 0 60000 65536"/>
              <a:gd name="T21" fmla="*/ 0 60000 65536"/>
              <a:gd name="T22" fmla="*/ 0 60000 65536"/>
              <a:gd name="T23" fmla="*/ 0 60000 65536"/>
              <a:gd name="T24" fmla="*/ 0 w 80"/>
              <a:gd name="T25" fmla="*/ 0 h 230"/>
              <a:gd name="T26" fmla="*/ 80 w 80"/>
              <a:gd name="T27" fmla="*/ 230 h 23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0" h="230">
                <a:moveTo>
                  <a:pt x="30" y="5"/>
                </a:moveTo>
                <a:cubicBezTo>
                  <a:pt x="37" y="8"/>
                  <a:pt x="52" y="0"/>
                  <a:pt x="53" y="8"/>
                </a:cubicBezTo>
                <a:cubicBezTo>
                  <a:pt x="80" y="226"/>
                  <a:pt x="34" y="109"/>
                  <a:pt x="56" y="163"/>
                </a:cubicBezTo>
                <a:cubicBezTo>
                  <a:pt x="56" y="169"/>
                  <a:pt x="70" y="225"/>
                  <a:pt x="45" y="230"/>
                </a:cubicBezTo>
                <a:cubicBezTo>
                  <a:pt x="29" y="229"/>
                  <a:pt x="24" y="223"/>
                  <a:pt x="15" y="211"/>
                </a:cubicBezTo>
                <a:cubicBezTo>
                  <a:pt x="14" y="203"/>
                  <a:pt x="12" y="197"/>
                  <a:pt x="8" y="190"/>
                </a:cubicBezTo>
                <a:cubicBezTo>
                  <a:pt x="0" y="131"/>
                  <a:pt x="1" y="145"/>
                  <a:pt x="8" y="32"/>
                </a:cubicBezTo>
                <a:cubicBezTo>
                  <a:pt x="9" y="17"/>
                  <a:pt x="37" y="19"/>
                  <a:pt x="30" y="5"/>
                </a:cubicBezTo>
                <a:close/>
              </a:path>
            </a:pathLst>
          </a:custGeom>
          <a:solidFill>
            <a:schemeClr val="bg1"/>
          </a:solidFill>
          <a:ln w="9525">
            <a:solidFill>
              <a:schemeClr val="bg1"/>
            </a:solidFill>
            <a:round/>
            <a:headEnd/>
            <a:tailEnd/>
          </a:ln>
        </p:spPr>
        <p:txBody>
          <a:bodyPr/>
          <a:lstStyle/>
          <a:p>
            <a:endParaRPr lang="th-TH"/>
          </a:p>
        </p:txBody>
      </p:sp>
      <p:sp>
        <p:nvSpPr>
          <p:cNvPr id="47196" name="Line 92"/>
          <p:cNvSpPr>
            <a:spLocks noChangeShapeType="1"/>
          </p:cNvSpPr>
          <p:nvPr/>
        </p:nvSpPr>
        <p:spPr bwMode="auto">
          <a:xfrm>
            <a:off x="6084888" y="4144963"/>
            <a:ext cx="504825" cy="0"/>
          </a:xfrm>
          <a:prstGeom prst="line">
            <a:avLst/>
          </a:prstGeom>
          <a:noFill/>
          <a:ln w="9525">
            <a:solidFill>
              <a:schemeClr val="tx1"/>
            </a:solidFill>
            <a:round/>
            <a:headEnd/>
            <a:tailEnd/>
          </a:ln>
        </p:spPr>
        <p:txBody>
          <a:bodyPr/>
          <a:lstStyle/>
          <a:p>
            <a:endParaRPr lang="th-TH"/>
          </a:p>
        </p:txBody>
      </p:sp>
      <p:sp>
        <p:nvSpPr>
          <p:cNvPr id="47197" name="Line 93"/>
          <p:cNvSpPr>
            <a:spLocks noChangeShapeType="1"/>
          </p:cNvSpPr>
          <p:nvPr/>
        </p:nvSpPr>
        <p:spPr bwMode="auto">
          <a:xfrm>
            <a:off x="6084888" y="2992438"/>
            <a:ext cx="504825" cy="0"/>
          </a:xfrm>
          <a:prstGeom prst="line">
            <a:avLst/>
          </a:prstGeom>
          <a:noFill/>
          <a:ln w="9525">
            <a:solidFill>
              <a:schemeClr val="tx1"/>
            </a:solidFill>
            <a:round/>
            <a:headEnd/>
            <a:tailEnd/>
          </a:ln>
        </p:spPr>
        <p:txBody>
          <a:bodyPr/>
          <a:lstStyle/>
          <a:p>
            <a:endParaRPr lang="th-TH"/>
          </a:p>
        </p:txBody>
      </p:sp>
      <p:sp>
        <p:nvSpPr>
          <p:cNvPr id="47198" name="Line 94"/>
          <p:cNvSpPr>
            <a:spLocks noChangeShapeType="1"/>
          </p:cNvSpPr>
          <p:nvPr/>
        </p:nvSpPr>
        <p:spPr bwMode="auto">
          <a:xfrm>
            <a:off x="4572000" y="2992438"/>
            <a:ext cx="433388" cy="0"/>
          </a:xfrm>
          <a:prstGeom prst="line">
            <a:avLst/>
          </a:prstGeom>
          <a:noFill/>
          <a:ln w="9525">
            <a:solidFill>
              <a:schemeClr val="tx1"/>
            </a:solidFill>
            <a:round/>
            <a:headEnd/>
            <a:tailEnd/>
          </a:ln>
        </p:spPr>
        <p:txBody>
          <a:bodyPr/>
          <a:lstStyle/>
          <a:p>
            <a:endParaRPr lang="th-TH"/>
          </a:p>
        </p:txBody>
      </p:sp>
      <p:sp>
        <p:nvSpPr>
          <p:cNvPr id="47199" name="AutoShape 95"/>
          <p:cNvSpPr>
            <a:spLocks noChangeArrowheads="1"/>
          </p:cNvSpPr>
          <p:nvPr/>
        </p:nvSpPr>
        <p:spPr bwMode="auto">
          <a:xfrm rot="580620">
            <a:off x="4645025" y="2776538"/>
            <a:ext cx="288925" cy="431800"/>
          </a:xfrm>
          <a:prstGeom prst="curvedRightArrow">
            <a:avLst>
              <a:gd name="adj1" fmla="val 29890"/>
              <a:gd name="adj2" fmla="val 59780"/>
              <a:gd name="adj3" fmla="val 74236"/>
            </a:avLst>
          </a:prstGeom>
          <a:solidFill>
            <a:schemeClr val="bg1"/>
          </a:solidFill>
          <a:ln w="9525">
            <a:solidFill>
              <a:schemeClr val="tx1"/>
            </a:solidFill>
            <a:miter lim="800000"/>
            <a:headEnd/>
            <a:tailEnd/>
          </a:ln>
        </p:spPr>
        <p:txBody>
          <a:bodyPr wrap="none" anchor="ctr"/>
          <a:lstStyle/>
          <a:p>
            <a:endParaRPr lang="th-TH"/>
          </a:p>
        </p:txBody>
      </p:sp>
      <p:sp>
        <p:nvSpPr>
          <p:cNvPr id="47200" name="AutoShape 96"/>
          <p:cNvSpPr>
            <a:spLocks noChangeArrowheads="1"/>
          </p:cNvSpPr>
          <p:nvPr/>
        </p:nvSpPr>
        <p:spPr bwMode="auto">
          <a:xfrm rot="555343">
            <a:off x="4645025" y="3929063"/>
            <a:ext cx="288925" cy="431800"/>
          </a:xfrm>
          <a:prstGeom prst="curvedRightArrow">
            <a:avLst>
              <a:gd name="adj1" fmla="val 29890"/>
              <a:gd name="adj2" fmla="val 59780"/>
              <a:gd name="adj3" fmla="val 74236"/>
            </a:avLst>
          </a:prstGeom>
          <a:solidFill>
            <a:schemeClr val="bg1"/>
          </a:solidFill>
          <a:ln w="9525">
            <a:solidFill>
              <a:schemeClr val="tx1"/>
            </a:solidFill>
            <a:miter lim="800000"/>
            <a:headEnd/>
            <a:tailEnd/>
          </a:ln>
        </p:spPr>
        <p:txBody>
          <a:bodyPr wrap="none" anchor="ctr"/>
          <a:lstStyle/>
          <a:p>
            <a:endParaRPr lang="th-TH"/>
          </a:p>
        </p:txBody>
      </p:sp>
      <p:sp>
        <p:nvSpPr>
          <p:cNvPr id="47201" name="Text Box 97"/>
          <p:cNvSpPr txBox="1">
            <a:spLocks noChangeArrowheads="1"/>
          </p:cNvSpPr>
          <p:nvPr/>
        </p:nvSpPr>
        <p:spPr bwMode="auto">
          <a:xfrm>
            <a:off x="6372225" y="2295525"/>
            <a:ext cx="1160463"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Rolls</a:t>
            </a:r>
            <a:endParaRPr lang="th-TH" sz="2400">
              <a:latin typeface="Vrinda" pitchFamily="2" charset="0"/>
              <a:cs typeface="Angsana New" pitchFamily="18" charset="-34"/>
            </a:endParaRPr>
          </a:p>
        </p:txBody>
      </p:sp>
      <p:sp>
        <p:nvSpPr>
          <p:cNvPr id="47202" name="Text Box 98"/>
          <p:cNvSpPr txBox="1">
            <a:spLocks noChangeArrowheads="1"/>
          </p:cNvSpPr>
          <p:nvPr/>
        </p:nvSpPr>
        <p:spPr bwMode="auto">
          <a:xfrm>
            <a:off x="7380288" y="3929063"/>
            <a:ext cx="1427162"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Finished</a:t>
            </a:r>
            <a:endParaRPr lang="th-TH" sz="2400">
              <a:latin typeface="Vrinda" pitchFamily="2" charset="0"/>
              <a:cs typeface="Angsana New" pitchFamily="18" charset="-34"/>
            </a:endParaRPr>
          </a:p>
        </p:txBody>
      </p:sp>
      <p:sp>
        <p:nvSpPr>
          <p:cNvPr id="47203" name="Text Box 99"/>
          <p:cNvSpPr txBox="1">
            <a:spLocks noChangeArrowheads="1"/>
          </p:cNvSpPr>
          <p:nvPr/>
        </p:nvSpPr>
        <p:spPr bwMode="auto">
          <a:xfrm>
            <a:off x="2987675" y="4868863"/>
            <a:ext cx="4678363"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Starting Cylinder</a:t>
            </a:r>
            <a:endParaRPr lang="th-TH" sz="2400">
              <a:latin typeface="Vrinda" pitchFamily="2" charset="0"/>
              <a:cs typeface="Angsana New" pitchFamily="18" charset="-34"/>
            </a:endParaRPr>
          </a:p>
        </p:txBody>
      </p:sp>
      <p:sp>
        <p:nvSpPr>
          <p:cNvPr id="47204" name="Text Box 100"/>
          <p:cNvSpPr txBox="1">
            <a:spLocks noChangeArrowheads="1"/>
          </p:cNvSpPr>
          <p:nvPr/>
        </p:nvSpPr>
        <p:spPr bwMode="auto">
          <a:xfrm>
            <a:off x="1908175" y="2133600"/>
            <a:ext cx="5472113"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Compressive Force</a:t>
            </a:r>
            <a:endParaRPr lang="th-TH" sz="2400">
              <a:latin typeface="Vrinda" pitchFamily="2" charset="0"/>
              <a:cs typeface="Angsana New" pitchFamily="18" charset="-34"/>
            </a:endParaRPr>
          </a:p>
        </p:txBody>
      </p:sp>
      <p:sp>
        <p:nvSpPr>
          <p:cNvPr id="47205" name="Text Box 101"/>
          <p:cNvSpPr txBox="1">
            <a:spLocks noChangeArrowheads="1"/>
          </p:cNvSpPr>
          <p:nvPr/>
        </p:nvSpPr>
        <p:spPr bwMode="auto">
          <a:xfrm>
            <a:off x="1908175" y="3543300"/>
            <a:ext cx="1692275"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Tensile</a:t>
            </a:r>
            <a:endParaRPr lang="th-TH" sz="2400">
              <a:latin typeface="Vrinda" pitchFamily="2" charset="0"/>
              <a:cs typeface="Angsana New" pitchFamily="18" charset="-34"/>
            </a:endParaRPr>
          </a:p>
        </p:txBody>
      </p:sp>
      <p:sp>
        <p:nvSpPr>
          <p:cNvPr id="47206" name="Line 102"/>
          <p:cNvSpPr>
            <a:spLocks noChangeShapeType="1"/>
          </p:cNvSpPr>
          <p:nvPr/>
        </p:nvSpPr>
        <p:spPr bwMode="auto">
          <a:xfrm flipH="1">
            <a:off x="7380288" y="3136900"/>
            <a:ext cx="215900" cy="360363"/>
          </a:xfrm>
          <a:prstGeom prst="line">
            <a:avLst/>
          </a:prstGeom>
          <a:noFill/>
          <a:ln w="9525">
            <a:solidFill>
              <a:schemeClr val="tx1"/>
            </a:solidFill>
            <a:round/>
            <a:headEnd/>
            <a:tailEnd type="triangle" w="med" len="med"/>
          </a:ln>
        </p:spPr>
        <p:txBody>
          <a:bodyPr/>
          <a:lstStyle/>
          <a:p>
            <a:endParaRPr lang="th-TH"/>
          </a:p>
        </p:txBody>
      </p:sp>
      <p:sp>
        <p:nvSpPr>
          <p:cNvPr id="47207" name="Line 103"/>
          <p:cNvSpPr>
            <a:spLocks noChangeShapeType="1"/>
          </p:cNvSpPr>
          <p:nvPr/>
        </p:nvSpPr>
        <p:spPr bwMode="auto">
          <a:xfrm>
            <a:off x="7597775" y="3136900"/>
            <a:ext cx="287338" cy="0"/>
          </a:xfrm>
          <a:prstGeom prst="line">
            <a:avLst/>
          </a:prstGeom>
          <a:noFill/>
          <a:ln w="9525">
            <a:solidFill>
              <a:schemeClr val="tx1"/>
            </a:solidFill>
            <a:round/>
            <a:headEnd/>
            <a:tailEnd/>
          </a:ln>
        </p:spPr>
        <p:txBody>
          <a:bodyPr/>
          <a:lstStyle/>
          <a:p>
            <a:endParaRPr lang="th-TH"/>
          </a:p>
        </p:txBody>
      </p:sp>
      <p:sp>
        <p:nvSpPr>
          <p:cNvPr id="47208" name="Text Box 104"/>
          <p:cNvSpPr txBox="1">
            <a:spLocks noChangeArrowheads="1"/>
          </p:cNvSpPr>
          <p:nvPr/>
        </p:nvSpPr>
        <p:spPr bwMode="auto">
          <a:xfrm>
            <a:off x="7451725" y="2781300"/>
            <a:ext cx="1414463" cy="396875"/>
          </a:xfrm>
          <a:prstGeom prst="rect">
            <a:avLst/>
          </a:prstGeom>
          <a:noFill/>
          <a:ln w="9525">
            <a:noFill/>
            <a:miter lim="800000"/>
            <a:headEnd/>
            <a:tailEnd/>
          </a:ln>
        </p:spPr>
        <p:txBody>
          <a:bodyPr>
            <a:spAutoFit/>
          </a:bodyPr>
          <a:lstStyle/>
          <a:p>
            <a:pPr>
              <a:spcBef>
                <a:spcPct val="50000"/>
              </a:spcBef>
            </a:pPr>
            <a:r>
              <a:rPr lang="en-US" sz="2000">
                <a:latin typeface="Vrinda" pitchFamily="2" charset="0"/>
                <a:cs typeface="Angsana New" pitchFamily="18" charset="-34"/>
              </a:rPr>
              <a:t>Mandrel</a:t>
            </a:r>
            <a:endParaRPr lang="th-TH" sz="2000">
              <a:latin typeface="Vrinda" pitchFamily="2" charset="0"/>
              <a:cs typeface="Angsana New" pitchFamily="18" charset="-34"/>
            </a:endParaRPr>
          </a:p>
        </p:txBody>
      </p:sp>
      <p:sp>
        <p:nvSpPr>
          <p:cNvPr id="47209" name="Text Box 105"/>
          <p:cNvSpPr txBox="1">
            <a:spLocks noChangeArrowheads="1"/>
          </p:cNvSpPr>
          <p:nvPr/>
        </p:nvSpPr>
        <p:spPr bwMode="auto">
          <a:xfrm>
            <a:off x="1835150" y="4005263"/>
            <a:ext cx="2087563" cy="457200"/>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Stresses</a:t>
            </a:r>
            <a:endParaRPr lang="th-TH" sz="2400">
              <a:latin typeface="Vrinda" pitchFamily="2" charset="0"/>
              <a:cs typeface="Angsana New" pitchFamily="18" charset="-34"/>
            </a:endParaRPr>
          </a:p>
        </p:txBody>
      </p:sp>
      <p:sp>
        <p:nvSpPr>
          <p:cNvPr id="47210" name="Text Box 106"/>
          <p:cNvSpPr txBox="1">
            <a:spLocks noChangeArrowheads="1"/>
          </p:cNvSpPr>
          <p:nvPr/>
        </p:nvSpPr>
        <p:spPr bwMode="auto">
          <a:xfrm>
            <a:off x="7380288" y="4365625"/>
            <a:ext cx="1368425" cy="1004888"/>
          </a:xfrm>
          <a:prstGeom prst="rect">
            <a:avLst/>
          </a:prstGeom>
          <a:noFill/>
          <a:ln w="9525">
            <a:noFill/>
            <a:miter lim="800000"/>
            <a:headEnd/>
            <a:tailEnd/>
          </a:ln>
        </p:spPr>
        <p:txBody>
          <a:bodyPr>
            <a:spAutoFit/>
          </a:bodyPr>
          <a:lstStyle/>
          <a:p>
            <a:pPr>
              <a:spcBef>
                <a:spcPct val="50000"/>
              </a:spcBef>
            </a:pPr>
            <a:r>
              <a:rPr lang="en-US" sz="2400">
                <a:latin typeface="Vrinda" pitchFamily="2" charset="0"/>
                <a:cs typeface="Angsana New" pitchFamily="18" charset="-34"/>
              </a:rPr>
              <a:t>Tube</a:t>
            </a:r>
            <a:endParaRPr lang="th-TH" sz="2400">
              <a:latin typeface="Vrinda" pitchFamily="2" charset="0"/>
              <a:cs typeface="Angsana New" pitchFamily="18" charset="-34"/>
            </a:endParaRPr>
          </a:p>
          <a:p>
            <a:pPr>
              <a:spcBef>
                <a:spcPct val="50000"/>
              </a:spcBef>
            </a:pPr>
            <a:endParaRPr lang="th-TH" sz="2400">
              <a:latin typeface="Vrinda" pitchFamily="2" charset="0"/>
              <a:cs typeface="Angsana New" pitchFamily="18" charset="-34"/>
            </a:endParaRPr>
          </a:p>
        </p:txBody>
      </p:sp>
      <p:sp>
        <p:nvSpPr>
          <p:cNvPr id="47211" name="Rectangle 107"/>
          <p:cNvSpPr>
            <a:spLocks noGrp="1" noChangeArrowheads="1"/>
          </p:cNvSpPr>
          <p:nvPr>
            <p:ph type="ctrTitle"/>
          </p:nvPr>
        </p:nvSpPr>
        <p:spPr>
          <a:xfrm>
            <a:off x="554038" y="200025"/>
            <a:ext cx="7772400" cy="1470025"/>
          </a:xfrm>
        </p:spPr>
        <p:txBody>
          <a:bodyPr/>
          <a:lstStyle/>
          <a:p>
            <a:pPr eaLnBrk="1" hangingPunct="1"/>
            <a:r>
              <a:rPr lang="en-US"/>
              <a:t>Roll piercing</a:t>
            </a:r>
            <a:endParaRPr lang="th-TH"/>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Friction and lubrication</a:t>
            </a:r>
            <a:endParaRPr lang="th-TH"/>
          </a:p>
        </p:txBody>
      </p:sp>
      <p:sp>
        <p:nvSpPr>
          <p:cNvPr id="48131" name="Rectangle 3"/>
          <p:cNvSpPr>
            <a:spLocks noGrp="1" noChangeArrowheads="1"/>
          </p:cNvSpPr>
          <p:nvPr>
            <p:ph type="body" idx="1"/>
          </p:nvPr>
        </p:nvSpPr>
        <p:spPr/>
        <p:txBody>
          <a:bodyPr/>
          <a:lstStyle/>
          <a:p>
            <a:pPr eaLnBrk="1" hangingPunct="1"/>
            <a:r>
              <a:rPr lang="en-US"/>
              <a:t>Friction is undesirable;</a:t>
            </a:r>
          </a:p>
          <a:p>
            <a:pPr lvl="1" eaLnBrk="1" hangingPunct="1"/>
            <a:r>
              <a:rPr lang="en-US"/>
              <a:t>Metal flow in the work is retarded</a:t>
            </a:r>
          </a:p>
          <a:p>
            <a:pPr lvl="1" eaLnBrk="1" hangingPunct="1"/>
            <a:r>
              <a:rPr lang="en-US"/>
              <a:t>The forces to perform are increased</a:t>
            </a:r>
          </a:p>
          <a:p>
            <a:pPr lvl="1" eaLnBrk="1" hangingPunct="1"/>
            <a:r>
              <a:rPr lang="en-US"/>
              <a:t>Rapid wear of tooling</a:t>
            </a:r>
          </a:p>
          <a:p>
            <a:pPr lvl="1" eaLnBrk="1" hangingPunct="1"/>
            <a:endParaRPr lang="th-TH"/>
          </a:p>
        </p:txBody>
      </p:sp>
      <p:sp>
        <p:nvSpPr>
          <p:cNvPr id="48132" name="WordArt 4"/>
          <p:cNvSpPr>
            <a:spLocks noChangeArrowheads="1" noChangeShapeType="1" noTextEdit="1"/>
          </p:cNvSpPr>
          <p:nvPr/>
        </p:nvSpPr>
        <p:spPr bwMode="auto">
          <a:xfrm>
            <a:off x="5173663" y="3905250"/>
            <a:ext cx="1552575" cy="257175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Sticking</a:t>
            </a:r>
            <a:endParaRPr lang="th-TH"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body" idx="1"/>
          </p:nvPr>
        </p:nvSpPr>
        <p:spPr/>
        <p:txBody>
          <a:bodyPr/>
          <a:lstStyle/>
          <a:p>
            <a:pPr eaLnBrk="1" hangingPunct="1"/>
            <a:r>
              <a:rPr lang="en-US"/>
              <a:t>Mineral oils</a:t>
            </a:r>
          </a:p>
          <a:p>
            <a:pPr eaLnBrk="1" hangingPunct="1"/>
            <a:r>
              <a:rPr lang="en-US"/>
              <a:t>Graphite </a:t>
            </a:r>
          </a:p>
          <a:p>
            <a:pPr eaLnBrk="1" hangingPunct="1"/>
            <a:r>
              <a:rPr lang="en-US"/>
              <a:t>Glass</a:t>
            </a:r>
          </a:p>
          <a:p>
            <a:pPr eaLnBrk="1" hangingPunct="1"/>
            <a:r>
              <a:rPr lang="en-US"/>
              <a:t>Graphite in water or mineral oil is a common for hot forging</a:t>
            </a:r>
            <a:endParaRPr lang="th-TH"/>
          </a:p>
        </p:txBody>
      </p:sp>
      <p:sp>
        <p:nvSpPr>
          <p:cNvPr id="49155" name="Rectangle 3"/>
          <p:cNvSpPr>
            <a:spLocks noGrp="1" noChangeArrowheads="1"/>
          </p:cNvSpPr>
          <p:nvPr>
            <p:ph type="title"/>
          </p:nvPr>
        </p:nvSpPr>
        <p:spPr>
          <a:noFill/>
        </p:spPr>
        <p:txBody>
          <a:bodyPr/>
          <a:lstStyle/>
          <a:p>
            <a:pPr eaLnBrk="1" hangingPunct="1"/>
            <a:r>
              <a:rPr lang="en-US"/>
              <a:t>Lubrication</a:t>
            </a:r>
            <a:endParaRPr lang="th-TH"/>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1"/>
          <p:cNvSpPr txBox="1">
            <a:spLocks noChangeArrowheads="1"/>
          </p:cNvSpPr>
          <p:nvPr/>
        </p:nvSpPr>
        <p:spPr bwMode="auto">
          <a:xfrm>
            <a:off x="1100138" y="1668463"/>
            <a:ext cx="7219950" cy="1196975"/>
          </a:xfrm>
          <a:prstGeom prst="rect">
            <a:avLst/>
          </a:prstGeom>
          <a:noFill/>
          <a:ln w="9525">
            <a:solidFill>
              <a:schemeClr val="accent2"/>
            </a:solidFill>
            <a:miter lim="800000"/>
            <a:headEnd/>
            <a:tailEnd/>
          </a:ln>
        </p:spPr>
        <p:txBody>
          <a:bodyPr wrap="none">
            <a:spAutoFit/>
          </a:bodyPr>
          <a:lstStyle/>
          <a:p>
            <a:r>
              <a:rPr lang="en-US" sz="2400"/>
              <a:t>Raw material: sheets of metal, rectangular, large</a:t>
            </a:r>
          </a:p>
          <a:p>
            <a:endParaRPr lang="en-US" sz="2400"/>
          </a:p>
          <a:p>
            <a:r>
              <a:rPr lang="en-US" sz="2400"/>
              <a:t>Raw material Processing: Rolling (anisotropic properties)</a:t>
            </a:r>
          </a:p>
        </p:txBody>
      </p:sp>
      <p:sp>
        <p:nvSpPr>
          <p:cNvPr id="50179" name="Text Box 12"/>
          <p:cNvSpPr txBox="1">
            <a:spLocks noChangeArrowheads="1"/>
          </p:cNvSpPr>
          <p:nvPr/>
        </p:nvSpPr>
        <p:spPr bwMode="auto">
          <a:xfrm>
            <a:off x="1062038" y="3770313"/>
            <a:ext cx="2825750" cy="1927225"/>
          </a:xfrm>
          <a:prstGeom prst="rect">
            <a:avLst/>
          </a:prstGeom>
          <a:noFill/>
          <a:ln w="9525">
            <a:solidFill>
              <a:schemeClr val="accent2"/>
            </a:solidFill>
            <a:miter lim="800000"/>
            <a:headEnd/>
            <a:tailEnd/>
          </a:ln>
        </p:spPr>
        <p:txBody>
          <a:bodyPr wrap="none">
            <a:spAutoFit/>
          </a:bodyPr>
          <a:lstStyle/>
          <a:p>
            <a:r>
              <a:rPr lang="en-US" sz="2400"/>
              <a:t>Processes:</a:t>
            </a:r>
          </a:p>
          <a:p>
            <a:r>
              <a:rPr lang="en-US" sz="2400"/>
              <a:t>	Shearing</a:t>
            </a:r>
          </a:p>
          <a:p>
            <a:r>
              <a:rPr lang="en-US" sz="2400"/>
              <a:t>	Punching</a:t>
            </a:r>
          </a:p>
          <a:p>
            <a:r>
              <a:rPr lang="en-US" sz="2400"/>
              <a:t>	Bending</a:t>
            </a:r>
          </a:p>
          <a:p>
            <a:r>
              <a:rPr lang="en-US" sz="2400"/>
              <a:t>	Deep drawing</a:t>
            </a:r>
          </a:p>
        </p:txBody>
      </p:sp>
      <p:sp>
        <p:nvSpPr>
          <p:cNvPr id="50180" name="WordArt 13" descr="Paper bag"/>
          <p:cNvSpPr>
            <a:spLocks noChangeArrowheads="1" noChangeShapeType="1" noTextEdit="1"/>
          </p:cNvSpPr>
          <p:nvPr/>
        </p:nvSpPr>
        <p:spPr bwMode="auto">
          <a:xfrm>
            <a:off x="2547938" y="414338"/>
            <a:ext cx="4048125" cy="1047750"/>
          </a:xfrm>
          <a:prstGeom prst="rect">
            <a:avLst/>
          </a:prstGeom>
        </p:spPr>
        <p:txBody>
          <a:bodyPr wrap="none" fromWordArt="1">
            <a:prstTxWarp prst="textPlain">
              <a:avLst>
                <a:gd name="adj" fmla="val 50000"/>
              </a:avLst>
            </a:prstTxWarp>
          </a:bodyPr>
          <a:lstStyle/>
          <a:p>
            <a:pPr algn="ctr"/>
            <a:r>
              <a:rPr lang="en-US" sz="3600" kern="10">
                <a:ln w="9525">
                  <a:solidFill>
                    <a:srgbClr val="008000"/>
                  </a:solidFill>
                  <a:round/>
                  <a:headEnd/>
                  <a:tailEnd/>
                </a:ln>
                <a:blipFill dpi="0" rotWithShape="0">
                  <a:blip r:embed="rId2"/>
                  <a:srcRect/>
                  <a:tile tx="0" ty="0" sx="100000" sy="100000" flip="none" algn="tl"/>
                </a:blipFill>
                <a:effectLst>
                  <a:outerShdw dist="563972" dir="14049741" sx="125000" sy="125000" algn="tl" rotWithShape="0">
                    <a:srgbClr val="C7DFD3">
                      <a:alpha val="79999"/>
                    </a:srgbClr>
                  </a:outerShdw>
                </a:effectLst>
                <a:latin typeface="Times New Roman"/>
                <a:cs typeface="Times New Roman"/>
              </a:rPr>
              <a:t>Sheet Metal Processes</a:t>
            </a:r>
            <a:endParaRPr lang="th-TH" sz="3600" kern="10">
              <a:ln w="9525">
                <a:solidFill>
                  <a:srgbClr val="008000"/>
                </a:solidFill>
                <a:round/>
                <a:headEnd/>
                <a:tailEnd/>
              </a:ln>
              <a:blipFill dpi="0" rotWithShape="0">
                <a:blip r:embed="rId2"/>
                <a:srcRect/>
                <a:tile tx="0" ty="0" sx="100000" sy="100000" flip="none" algn="tl"/>
              </a:blipFill>
              <a:effectLst>
                <a:outerShdw dist="563972" dir="14049741" sx="125000" sy="125000" algn="tl" rotWithShape="0">
                  <a:srgbClr val="C7DFD3">
                    <a:alpha val="79999"/>
                  </a:srgbClr>
                </a:outerShdw>
              </a:effectLst>
              <a:latin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382588" y="528638"/>
            <a:ext cx="1268412" cy="457200"/>
          </a:xfrm>
          <a:prstGeom prst="rect">
            <a:avLst/>
          </a:prstGeom>
          <a:noFill/>
          <a:ln w="9525">
            <a:noFill/>
            <a:miter lim="800000"/>
            <a:headEnd/>
            <a:tailEnd/>
          </a:ln>
        </p:spPr>
        <p:txBody>
          <a:bodyPr wrap="none">
            <a:spAutoFit/>
          </a:bodyPr>
          <a:lstStyle/>
          <a:p>
            <a:r>
              <a:rPr lang="en-US" sz="2400" b="1"/>
              <a:t>Bending</a:t>
            </a:r>
          </a:p>
        </p:txBody>
      </p:sp>
      <p:pic>
        <p:nvPicPr>
          <p:cNvPr id="51203" name="Picture 9"/>
          <p:cNvPicPr>
            <a:picLocks noChangeAspect="1" noChangeArrowheads="1"/>
          </p:cNvPicPr>
          <p:nvPr/>
        </p:nvPicPr>
        <p:blipFill>
          <a:blip r:embed="rId2" cstate="print"/>
          <a:srcRect/>
          <a:stretch>
            <a:fillRect/>
          </a:stretch>
        </p:blipFill>
        <p:spPr bwMode="auto">
          <a:xfrm>
            <a:off x="190500" y="2043113"/>
            <a:ext cx="5057775" cy="4054475"/>
          </a:xfrm>
          <a:prstGeom prst="rect">
            <a:avLst/>
          </a:prstGeom>
          <a:noFill/>
          <a:ln w="9525">
            <a:noFill/>
            <a:miter lim="800000"/>
            <a:headEnd/>
            <a:tailEnd/>
          </a:ln>
        </p:spPr>
      </p:pic>
      <p:sp>
        <p:nvSpPr>
          <p:cNvPr id="51204" name="Text Box 10"/>
          <p:cNvSpPr txBox="1">
            <a:spLocks noChangeArrowheads="1"/>
          </p:cNvSpPr>
          <p:nvPr/>
        </p:nvSpPr>
        <p:spPr bwMode="auto">
          <a:xfrm>
            <a:off x="239713" y="1622425"/>
            <a:ext cx="3482975" cy="396875"/>
          </a:xfrm>
          <a:prstGeom prst="rect">
            <a:avLst/>
          </a:prstGeom>
          <a:noFill/>
          <a:ln w="9525">
            <a:noFill/>
            <a:miter lim="800000"/>
            <a:headEnd/>
            <a:tailEnd/>
          </a:ln>
        </p:spPr>
        <p:txBody>
          <a:bodyPr wrap="none">
            <a:spAutoFit/>
          </a:bodyPr>
          <a:lstStyle/>
          <a:p>
            <a:r>
              <a:rPr lang="en-US" sz="2000"/>
              <a:t>Body of Olympus E-300 camera</a:t>
            </a:r>
          </a:p>
        </p:txBody>
      </p:sp>
      <p:sp>
        <p:nvSpPr>
          <p:cNvPr id="51205" name="Text Box 11"/>
          <p:cNvSpPr txBox="1">
            <a:spLocks noChangeArrowheads="1"/>
          </p:cNvSpPr>
          <p:nvPr/>
        </p:nvSpPr>
        <p:spPr bwMode="auto">
          <a:xfrm>
            <a:off x="4660900" y="2381250"/>
            <a:ext cx="4286250" cy="366713"/>
          </a:xfrm>
          <a:prstGeom prst="rect">
            <a:avLst/>
          </a:prstGeom>
          <a:noFill/>
          <a:ln w="9525">
            <a:noFill/>
            <a:miter lim="800000"/>
            <a:headEnd/>
            <a:tailEnd/>
          </a:ln>
        </p:spPr>
        <p:txBody>
          <a:bodyPr wrap="none">
            <a:spAutoFit/>
          </a:bodyPr>
          <a:lstStyle/>
          <a:p>
            <a:r>
              <a:rPr lang="en-US" sz="1800"/>
              <a:t>component with multiple bending operations</a:t>
            </a:r>
          </a:p>
        </p:txBody>
      </p:sp>
      <p:sp>
        <p:nvSpPr>
          <p:cNvPr id="51206" name="Line 12"/>
          <p:cNvSpPr>
            <a:spLocks noChangeShapeType="1"/>
          </p:cNvSpPr>
          <p:nvPr/>
        </p:nvSpPr>
        <p:spPr bwMode="auto">
          <a:xfrm flipH="1">
            <a:off x="4200525" y="2705100"/>
            <a:ext cx="1457325" cy="1428750"/>
          </a:xfrm>
          <a:prstGeom prst="line">
            <a:avLst/>
          </a:prstGeom>
          <a:noFill/>
          <a:ln w="9525">
            <a:solidFill>
              <a:schemeClr val="tx1"/>
            </a:solidFill>
            <a:round/>
            <a:headEnd/>
            <a:tailEnd type="triangle" w="med" len="med"/>
          </a:ln>
        </p:spPr>
        <p:txBody>
          <a:bodyPr/>
          <a:lstStyle/>
          <a:p>
            <a:endParaRPr lang="th-TH"/>
          </a:p>
        </p:txBody>
      </p:sp>
      <p:sp>
        <p:nvSpPr>
          <p:cNvPr id="51207" name="Text Box 13"/>
          <p:cNvSpPr txBox="1">
            <a:spLocks noChangeArrowheads="1"/>
          </p:cNvSpPr>
          <p:nvPr/>
        </p:nvSpPr>
        <p:spPr bwMode="auto">
          <a:xfrm>
            <a:off x="277813" y="5789613"/>
            <a:ext cx="1738312" cy="244475"/>
          </a:xfrm>
          <a:prstGeom prst="rect">
            <a:avLst/>
          </a:prstGeom>
          <a:noFill/>
          <a:ln w="9525">
            <a:noFill/>
            <a:miter lim="800000"/>
            <a:headEnd/>
            <a:tailEnd/>
          </a:ln>
        </p:spPr>
        <p:txBody>
          <a:bodyPr wrap="none">
            <a:spAutoFit/>
          </a:bodyPr>
          <a:lstStyle/>
          <a:p>
            <a:r>
              <a:rPr lang="en-US" sz="1000"/>
              <a:t>[image source: dpreview.com]</a:t>
            </a:r>
          </a:p>
        </p:txBody>
      </p:sp>
      <p:sp>
        <p:nvSpPr>
          <p:cNvPr id="51208" name="Text Box 14"/>
          <p:cNvSpPr txBox="1">
            <a:spLocks noChangeArrowheads="1"/>
          </p:cNvSpPr>
          <p:nvPr/>
        </p:nvSpPr>
        <p:spPr bwMode="auto">
          <a:xfrm>
            <a:off x="5927725" y="3371850"/>
            <a:ext cx="2794000" cy="641350"/>
          </a:xfrm>
          <a:prstGeom prst="rect">
            <a:avLst/>
          </a:prstGeom>
          <a:noFill/>
          <a:ln w="9525">
            <a:noFill/>
            <a:miter lim="800000"/>
            <a:headEnd/>
            <a:tailEnd/>
          </a:ln>
        </p:spPr>
        <p:txBody>
          <a:bodyPr wrap="none">
            <a:spAutoFit/>
          </a:bodyPr>
          <a:lstStyle/>
          <a:p>
            <a:r>
              <a:rPr lang="en-US" sz="1800"/>
              <a:t>component with punching,</a:t>
            </a:r>
          </a:p>
          <a:p>
            <a:r>
              <a:rPr lang="en-US" sz="1800"/>
              <a:t>bending, drawing operations</a:t>
            </a:r>
          </a:p>
        </p:txBody>
      </p:sp>
      <p:sp>
        <p:nvSpPr>
          <p:cNvPr id="51209" name="Line 15"/>
          <p:cNvSpPr>
            <a:spLocks noChangeShapeType="1"/>
          </p:cNvSpPr>
          <p:nvPr/>
        </p:nvSpPr>
        <p:spPr bwMode="auto">
          <a:xfrm flipH="1">
            <a:off x="2762250" y="3781425"/>
            <a:ext cx="3105150" cy="942975"/>
          </a:xfrm>
          <a:prstGeom prst="line">
            <a:avLst/>
          </a:prstGeom>
          <a:noFill/>
          <a:ln w="9525">
            <a:solidFill>
              <a:schemeClr val="tx1"/>
            </a:solidFill>
            <a:round/>
            <a:headEnd/>
            <a:tailEnd type="triangle" w="med" len="med"/>
          </a:ln>
        </p:spPr>
        <p:txBody>
          <a:bodyPr/>
          <a:lstStyle/>
          <a:p>
            <a:endParaRPr lang="th-TH"/>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82588" y="528638"/>
            <a:ext cx="1352550" cy="457200"/>
          </a:xfrm>
          <a:prstGeom prst="rect">
            <a:avLst/>
          </a:prstGeom>
          <a:noFill/>
          <a:ln w="9525">
            <a:noFill/>
            <a:miter lim="800000"/>
            <a:headEnd/>
            <a:tailEnd/>
          </a:ln>
        </p:spPr>
        <p:txBody>
          <a:bodyPr wrap="none">
            <a:spAutoFit/>
          </a:bodyPr>
          <a:lstStyle/>
          <a:p>
            <a:r>
              <a:rPr lang="en-US" sz="2400" b="1"/>
              <a:t>Shearing</a:t>
            </a:r>
          </a:p>
        </p:txBody>
      </p:sp>
      <p:pic>
        <p:nvPicPr>
          <p:cNvPr id="52227" name="Picture 3" descr="DH-22328.jpg (20820 bytes)"/>
          <p:cNvPicPr>
            <a:picLocks noChangeAspect="1" noChangeArrowheads="1"/>
          </p:cNvPicPr>
          <p:nvPr/>
        </p:nvPicPr>
        <p:blipFill>
          <a:blip r:embed="rId2" cstate="print"/>
          <a:srcRect l="1694" t="2466" r="3389" b="2466"/>
          <a:stretch>
            <a:fillRect/>
          </a:stretch>
        </p:blipFill>
        <p:spPr bwMode="auto">
          <a:xfrm>
            <a:off x="2495550" y="2136775"/>
            <a:ext cx="4078288" cy="2795588"/>
          </a:xfrm>
          <a:prstGeom prst="rect">
            <a:avLst/>
          </a:prstGeom>
          <a:noFill/>
          <a:ln w="9525">
            <a:noFill/>
            <a:miter lim="800000"/>
            <a:headEnd/>
            <a:tailEnd/>
          </a:ln>
        </p:spPr>
      </p:pic>
      <p:sp>
        <p:nvSpPr>
          <p:cNvPr id="52228" name="Text Box 4"/>
          <p:cNvSpPr txBox="1">
            <a:spLocks noChangeArrowheads="1"/>
          </p:cNvSpPr>
          <p:nvPr/>
        </p:nvSpPr>
        <p:spPr bwMode="auto">
          <a:xfrm>
            <a:off x="960438" y="1528763"/>
            <a:ext cx="7564437" cy="457200"/>
          </a:xfrm>
          <a:prstGeom prst="rect">
            <a:avLst/>
          </a:prstGeom>
          <a:noFill/>
          <a:ln w="9525">
            <a:noFill/>
            <a:miter lim="800000"/>
            <a:headEnd/>
            <a:tailEnd/>
          </a:ln>
        </p:spPr>
        <p:txBody>
          <a:bodyPr wrap="none">
            <a:spAutoFit/>
          </a:bodyPr>
          <a:lstStyle/>
          <a:p>
            <a:r>
              <a:rPr lang="en-US" sz="2400"/>
              <a:t>A large scissors action, cutting the sheet along a straight line</a:t>
            </a:r>
          </a:p>
        </p:txBody>
      </p:sp>
      <p:sp>
        <p:nvSpPr>
          <p:cNvPr id="52229" name="Text Box 5"/>
          <p:cNvSpPr txBox="1">
            <a:spLocks noChangeArrowheads="1"/>
          </p:cNvSpPr>
          <p:nvPr/>
        </p:nvSpPr>
        <p:spPr bwMode="auto">
          <a:xfrm>
            <a:off x="942975" y="5737225"/>
            <a:ext cx="7904163" cy="466725"/>
          </a:xfrm>
          <a:prstGeom prst="rect">
            <a:avLst/>
          </a:prstGeom>
          <a:noFill/>
          <a:ln w="9525">
            <a:solidFill>
              <a:schemeClr val="accent2"/>
            </a:solidFill>
            <a:miter lim="800000"/>
            <a:headEnd/>
            <a:tailEnd/>
          </a:ln>
        </p:spPr>
        <p:txBody>
          <a:bodyPr wrap="none">
            <a:spAutoFit/>
          </a:bodyPr>
          <a:lstStyle/>
          <a:p>
            <a:r>
              <a:rPr lang="en-US" sz="2400"/>
              <a:t>Main use: to cut large sheet into smaller sizes for making parts.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382588" y="528638"/>
            <a:ext cx="1420812" cy="457200"/>
          </a:xfrm>
          <a:prstGeom prst="rect">
            <a:avLst/>
          </a:prstGeom>
          <a:noFill/>
          <a:ln w="9525">
            <a:noFill/>
            <a:miter lim="800000"/>
            <a:headEnd/>
            <a:tailEnd/>
          </a:ln>
        </p:spPr>
        <p:txBody>
          <a:bodyPr wrap="none">
            <a:spAutoFit/>
          </a:bodyPr>
          <a:lstStyle/>
          <a:p>
            <a:r>
              <a:rPr lang="en-US" sz="2400" b="1"/>
              <a:t>Punching</a:t>
            </a:r>
          </a:p>
        </p:txBody>
      </p:sp>
      <p:sp>
        <p:nvSpPr>
          <p:cNvPr id="53251" name="Text Box 3"/>
          <p:cNvSpPr txBox="1">
            <a:spLocks noChangeArrowheads="1"/>
          </p:cNvSpPr>
          <p:nvPr/>
        </p:nvSpPr>
        <p:spPr bwMode="auto">
          <a:xfrm>
            <a:off x="1733550" y="1133475"/>
            <a:ext cx="4841875" cy="711200"/>
          </a:xfrm>
          <a:prstGeom prst="rect">
            <a:avLst/>
          </a:prstGeom>
          <a:noFill/>
          <a:ln w="9525">
            <a:solidFill>
              <a:schemeClr val="accent2"/>
            </a:solidFill>
            <a:miter lim="800000"/>
            <a:headEnd/>
            <a:tailEnd/>
          </a:ln>
        </p:spPr>
        <p:txBody>
          <a:bodyPr wrap="none">
            <a:spAutoFit/>
          </a:bodyPr>
          <a:lstStyle/>
          <a:p>
            <a:r>
              <a:rPr lang="en-US" sz="2000"/>
              <a:t>Cutting tool is a round/rectangular punch,</a:t>
            </a:r>
          </a:p>
          <a:p>
            <a:r>
              <a:rPr lang="en-US" sz="2000"/>
              <a:t>that goes through a hole, or die of same shape</a:t>
            </a:r>
          </a:p>
        </p:txBody>
      </p:sp>
      <p:pic>
        <p:nvPicPr>
          <p:cNvPr id="53252" name="Picture 4"/>
          <p:cNvPicPr>
            <a:picLocks noChangeAspect="1" noChangeArrowheads="1"/>
          </p:cNvPicPr>
          <p:nvPr/>
        </p:nvPicPr>
        <p:blipFill>
          <a:blip r:embed="rId2" cstate="print"/>
          <a:srcRect/>
          <a:stretch>
            <a:fillRect/>
          </a:stretch>
        </p:blipFill>
        <p:spPr bwMode="auto">
          <a:xfrm>
            <a:off x="1325563" y="2087563"/>
            <a:ext cx="6853237" cy="4206875"/>
          </a:xfrm>
          <a:prstGeom prst="rect">
            <a:avLst/>
          </a:prstGeom>
          <a:noFill/>
          <a:ln w="9525">
            <a:noFill/>
            <a:miter lim="800000"/>
            <a:headEnd/>
            <a:tailEnd/>
          </a:ln>
        </p:spPr>
      </p:pic>
      <p:pic>
        <p:nvPicPr>
          <p:cNvPr id="53253" name="Picture 6"/>
          <p:cNvPicPr>
            <a:picLocks noChangeAspect="1" noChangeArrowheads="1"/>
          </p:cNvPicPr>
          <p:nvPr/>
        </p:nvPicPr>
        <p:blipFill>
          <a:blip r:embed="rId3" cstate="print"/>
          <a:srcRect/>
          <a:stretch>
            <a:fillRect/>
          </a:stretch>
        </p:blipFill>
        <p:spPr bwMode="auto">
          <a:xfrm>
            <a:off x="2109788" y="5656263"/>
            <a:ext cx="2824162" cy="1201737"/>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392113" y="290513"/>
            <a:ext cx="1420812" cy="457200"/>
          </a:xfrm>
          <a:prstGeom prst="rect">
            <a:avLst/>
          </a:prstGeom>
          <a:noFill/>
          <a:ln w="9525">
            <a:noFill/>
            <a:miter lim="800000"/>
            <a:headEnd/>
            <a:tailEnd/>
          </a:ln>
        </p:spPr>
        <p:txBody>
          <a:bodyPr wrap="none">
            <a:spAutoFit/>
          </a:bodyPr>
          <a:lstStyle/>
          <a:p>
            <a:r>
              <a:rPr lang="en-US" sz="2400" b="1"/>
              <a:t>Punching</a:t>
            </a:r>
          </a:p>
        </p:txBody>
      </p:sp>
      <p:sp>
        <p:nvSpPr>
          <p:cNvPr id="54275" name="Text Box 3"/>
          <p:cNvSpPr txBox="1">
            <a:spLocks noChangeArrowheads="1"/>
          </p:cNvSpPr>
          <p:nvPr/>
        </p:nvSpPr>
        <p:spPr bwMode="auto">
          <a:xfrm>
            <a:off x="2114550" y="954088"/>
            <a:ext cx="6827838" cy="396875"/>
          </a:xfrm>
          <a:prstGeom prst="rect">
            <a:avLst/>
          </a:prstGeom>
          <a:noFill/>
          <a:ln w="9525">
            <a:noFill/>
            <a:miter lim="800000"/>
            <a:headEnd/>
            <a:tailEnd/>
          </a:ln>
        </p:spPr>
        <p:txBody>
          <a:bodyPr wrap="none">
            <a:spAutoFit/>
          </a:bodyPr>
          <a:lstStyle/>
          <a:p>
            <a:r>
              <a:rPr lang="en-US" sz="2000"/>
              <a:t>Main uses: cutting holes in sheets; cutting sheet to required shape</a:t>
            </a:r>
          </a:p>
        </p:txBody>
      </p:sp>
      <p:pic>
        <p:nvPicPr>
          <p:cNvPr id="54276" name="Picture 4" descr="sheet-part-1"/>
          <p:cNvPicPr>
            <a:picLocks noChangeAspect="1" noChangeArrowheads="1"/>
          </p:cNvPicPr>
          <p:nvPr/>
        </p:nvPicPr>
        <p:blipFill>
          <a:blip r:embed="rId2" cstate="print"/>
          <a:srcRect/>
          <a:stretch>
            <a:fillRect/>
          </a:stretch>
        </p:blipFill>
        <p:spPr bwMode="auto">
          <a:xfrm>
            <a:off x="220663" y="4570413"/>
            <a:ext cx="2940050" cy="1743075"/>
          </a:xfrm>
          <a:prstGeom prst="rect">
            <a:avLst/>
          </a:prstGeom>
          <a:noFill/>
          <a:ln w="9525">
            <a:noFill/>
            <a:miter lim="800000"/>
            <a:headEnd/>
            <a:tailEnd/>
          </a:ln>
        </p:spPr>
      </p:pic>
      <p:pic>
        <p:nvPicPr>
          <p:cNvPr id="54277" name="Picture 7" descr="punch-press"/>
          <p:cNvPicPr>
            <a:picLocks noChangeAspect="1" noChangeArrowheads="1"/>
          </p:cNvPicPr>
          <p:nvPr/>
        </p:nvPicPr>
        <p:blipFill>
          <a:blip r:embed="rId3" cstate="print"/>
          <a:srcRect/>
          <a:stretch>
            <a:fillRect/>
          </a:stretch>
        </p:blipFill>
        <p:spPr bwMode="auto">
          <a:xfrm>
            <a:off x="393700" y="1323975"/>
            <a:ext cx="5927725" cy="3032125"/>
          </a:xfrm>
          <a:prstGeom prst="rect">
            <a:avLst/>
          </a:prstGeom>
          <a:noFill/>
          <a:ln w="9525">
            <a:noFill/>
            <a:miter lim="800000"/>
            <a:headEnd/>
            <a:tailEnd/>
          </a:ln>
        </p:spPr>
      </p:pic>
      <p:pic>
        <p:nvPicPr>
          <p:cNvPr id="54278" name="Picture 10" descr="sheet-part-2"/>
          <p:cNvPicPr>
            <a:picLocks noChangeAspect="1" noChangeArrowheads="1"/>
          </p:cNvPicPr>
          <p:nvPr/>
        </p:nvPicPr>
        <p:blipFill>
          <a:blip r:embed="rId4" cstate="print"/>
          <a:srcRect/>
          <a:stretch>
            <a:fillRect/>
          </a:stretch>
        </p:blipFill>
        <p:spPr bwMode="auto">
          <a:xfrm>
            <a:off x="5737225" y="3895725"/>
            <a:ext cx="3267075" cy="2506663"/>
          </a:xfrm>
          <a:prstGeom prst="rect">
            <a:avLst/>
          </a:prstGeom>
          <a:noFill/>
          <a:ln w="9525">
            <a:noFill/>
            <a:miter lim="800000"/>
            <a:headEnd/>
            <a:tailEnd/>
          </a:ln>
        </p:spPr>
      </p:pic>
      <p:sp>
        <p:nvSpPr>
          <p:cNvPr id="54279" name="Text Box 11"/>
          <p:cNvSpPr txBox="1">
            <a:spLocks noChangeArrowheads="1"/>
          </p:cNvSpPr>
          <p:nvPr/>
        </p:nvSpPr>
        <p:spPr bwMode="auto">
          <a:xfrm>
            <a:off x="674688" y="6353175"/>
            <a:ext cx="2051050" cy="366713"/>
          </a:xfrm>
          <a:prstGeom prst="rect">
            <a:avLst/>
          </a:prstGeom>
          <a:noFill/>
          <a:ln w="9525">
            <a:noFill/>
            <a:miter lim="800000"/>
            <a:headEnd/>
            <a:tailEnd/>
          </a:ln>
        </p:spPr>
        <p:txBody>
          <a:bodyPr wrap="none">
            <a:spAutoFit/>
          </a:bodyPr>
          <a:lstStyle/>
          <a:p>
            <a:r>
              <a:rPr lang="en-US" sz="1800"/>
              <a:t>typical punched part</a:t>
            </a:r>
          </a:p>
        </p:txBody>
      </p:sp>
      <p:sp>
        <p:nvSpPr>
          <p:cNvPr id="54280" name="Text Box 12"/>
          <p:cNvSpPr txBox="1">
            <a:spLocks noChangeArrowheads="1"/>
          </p:cNvSpPr>
          <p:nvPr/>
        </p:nvSpPr>
        <p:spPr bwMode="auto">
          <a:xfrm>
            <a:off x="6589713" y="3505200"/>
            <a:ext cx="1593850" cy="366713"/>
          </a:xfrm>
          <a:prstGeom prst="rect">
            <a:avLst/>
          </a:prstGeom>
          <a:noFill/>
          <a:ln w="9525">
            <a:noFill/>
            <a:miter lim="800000"/>
            <a:headEnd/>
            <a:tailEnd/>
          </a:ln>
        </p:spPr>
        <p:txBody>
          <a:bodyPr wrap="none">
            <a:spAutoFit/>
          </a:bodyPr>
          <a:lstStyle/>
          <a:p>
            <a:r>
              <a:rPr lang="en-US" sz="1800"/>
              <a:t>nesting of parts</a:t>
            </a:r>
          </a:p>
        </p:txBody>
      </p:sp>
      <p:sp>
        <p:nvSpPr>
          <p:cNvPr id="54281" name="Text Box 13"/>
          <p:cNvSpPr txBox="1">
            <a:spLocks noChangeArrowheads="1"/>
          </p:cNvSpPr>
          <p:nvPr/>
        </p:nvSpPr>
        <p:spPr bwMode="auto">
          <a:xfrm>
            <a:off x="4468813" y="6415088"/>
            <a:ext cx="4530725" cy="376237"/>
          </a:xfrm>
          <a:prstGeom prst="rect">
            <a:avLst/>
          </a:prstGeom>
          <a:noFill/>
          <a:ln w="9525">
            <a:solidFill>
              <a:schemeClr val="accent2"/>
            </a:solidFill>
            <a:miter lim="800000"/>
            <a:headEnd/>
            <a:tailEnd/>
          </a:ln>
        </p:spPr>
        <p:txBody>
          <a:bodyPr wrap="none">
            <a:spAutoFit/>
          </a:bodyPr>
          <a:lstStyle/>
          <a:p>
            <a:r>
              <a:rPr lang="en-US" sz="1800" b="1">
                <a:solidFill>
                  <a:srgbClr val="FF0000"/>
                </a:solidFill>
              </a:rPr>
              <a:t>Exercise: how to determine optimal nesting?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7"/>
          <p:cNvSpPr>
            <a:spLocks noChangeArrowheads="1"/>
          </p:cNvSpPr>
          <p:nvPr/>
        </p:nvSpPr>
        <p:spPr bwMode="auto">
          <a:xfrm>
            <a:off x="5314950" y="0"/>
            <a:ext cx="3829050" cy="6858000"/>
          </a:xfrm>
          <a:prstGeom prst="rect">
            <a:avLst/>
          </a:prstGeom>
          <a:solidFill>
            <a:schemeClr val="hlink"/>
          </a:solidFill>
          <a:ln w="9525">
            <a:solidFill>
              <a:schemeClr val="tx1"/>
            </a:solidFill>
            <a:miter lim="800000"/>
            <a:headEnd/>
            <a:tailEnd/>
          </a:ln>
        </p:spPr>
        <p:txBody>
          <a:bodyPr wrap="none" anchor="ctr"/>
          <a:lstStyle/>
          <a:p>
            <a:endParaRPr lang="th-TH"/>
          </a:p>
        </p:txBody>
      </p:sp>
      <p:sp>
        <p:nvSpPr>
          <p:cNvPr id="55299" name="Rectangle 14"/>
          <p:cNvSpPr>
            <a:spLocks noChangeArrowheads="1"/>
          </p:cNvSpPr>
          <p:nvPr/>
        </p:nvSpPr>
        <p:spPr bwMode="auto">
          <a:xfrm>
            <a:off x="646113" y="1951038"/>
            <a:ext cx="3852862" cy="1450975"/>
          </a:xfrm>
          <a:prstGeom prst="rect">
            <a:avLst/>
          </a:prstGeom>
          <a:solidFill>
            <a:schemeClr val="accent1"/>
          </a:solidFill>
          <a:ln w="9525">
            <a:solidFill>
              <a:schemeClr val="tx1"/>
            </a:solidFill>
            <a:miter lim="800000"/>
            <a:headEnd/>
            <a:tailEnd/>
          </a:ln>
        </p:spPr>
        <p:txBody>
          <a:bodyPr wrap="none" anchor="ctr"/>
          <a:lstStyle/>
          <a:p>
            <a:endParaRPr lang="th-TH"/>
          </a:p>
        </p:txBody>
      </p:sp>
      <p:sp>
        <p:nvSpPr>
          <p:cNvPr id="55300" name="Rectangle 11"/>
          <p:cNvSpPr>
            <a:spLocks noChangeArrowheads="1"/>
          </p:cNvSpPr>
          <p:nvPr/>
        </p:nvSpPr>
        <p:spPr bwMode="auto">
          <a:xfrm>
            <a:off x="1231900" y="3730625"/>
            <a:ext cx="1120775" cy="1012825"/>
          </a:xfrm>
          <a:prstGeom prst="rect">
            <a:avLst/>
          </a:prstGeom>
          <a:solidFill>
            <a:schemeClr val="accent1"/>
          </a:solidFill>
          <a:ln w="9525">
            <a:solidFill>
              <a:schemeClr val="tx1"/>
            </a:solidFill>
            <a:miter lim="800000"/>
            <a:headEnd/>
            <a:tailEnd/>
          </a:ln>
        </p:spPr>
        <p:txBody>
          <a:bodyPr wrap="none" anchor="ctr"/>
          <a:lstStyle/>
          <a:p>
            <a:endParaRPr lang="th-TH"/>
          </a:p>
        </p:txBody>
      </p:sp>
      <p:sp>
        <p:nvSpPr>
          <p:cNvPr id="55301" name="Rectangle 12"/>
          <p:cNvSpPr>
            <a:spLocks noChangeArrowheads="1"/>
          </p:cNvSpPr>
          <p:nvPr/>
        </p:nvSpPr>
        <p:spPr bwMode="auto">
          <a:xfrm>
            <a:off x="976313" y="2146300"/>
            <a:ext cx="1120775" cy="1012825"/>
          </a:xfrm>
          <a:prstGeom prst="rect">
            <a:avLst/>
          </a:prstGeom>
          <a:solidFill>
            <a:schemeClr val="bg1"/>
          </a:solidFill>
          <a:ln w="9525">
            <a:solidFill>
              <a:schemeClr val="tx1"/>
            </a:solidFill>
            <a:miter lim="800000"/>
            <a:headEnd/>
            <a:tailEnd/>
          </a:ln>
        </p:spPr>
        <p:txBody>
          <a:bodyPr wrap="none" anchor="ctr"/>
          <a:lstStyle/>
          <a:p>
            <a:endParaRPr lang="th-TH"/>
          </a:p>
        </p:txBody>
      </p:sp>
      <p:sp>
        <p:nvSpPr>
          <p:cNvPr id="55302" name="Rectangle 13"/>
          <p:cNvSpPr>
            <a:spLocks noChangeArrowheads="1"/>
          </p:cNvSpPr>
          <p:nvPr/>
        </p:nvSpPr>
        <p:spPr bwMode="auto">
          <a:xfrm>
            <a:off x="2293938" y="2170113"/>
            <a:ext cx="1120775" cy="1012825"/>
          </a:xfrm>
          <a:prstGeom prst="rect">
            <a:avLst/>
          </a:prstGeom>
          <a:solidFill>
            <a:schemeClr val="bg1"/>
          </a:solidFill>
          <a:ln w="9525">
            <a:solidFill>
              <a:schemeClr val="tx1"/>
            </a:solidFill>
            <a:miter lim="800000"/>
            <a:headEnd/>
            <a:tailEnd/>
          </a:ln>
        </p:spPr>
        <p:txBody>
          <a:bodyPr wrap="none" anchor="ctr"/>
          <a:lstStyle/>
          <a:p>
            <a:endParaRPr lang="th-TH"/>
          </a:p>
        </p:txBody>
      </p:sp>
      <p:sp>
        <p:nvSpPr>
          <p:cNvPr id="55303" name="Line 15"/>
          <p:cNvSpPr>
            <a:spLocks noChangeShapeType="1"/>
          </p:cNvSpPr>
          <p:nvPr/>
        </p:nvSpPr>
        <p:spPr bwMode="auto">
          <a:xfrm flipH="1">
            <a:off x="2462213" y="1414463"/>
            <a:ext cx="377825" cy="536575"/>
          </a:xfrm>
          <a:prstGeom prst="line">
            <a:avLst/>
          </a:prstGeom>
          <a:noFill/>
          <a:ln w="9525">
            <a:solidFill>
              <a:schemeClr val="tx1"/>
            </a:solidFill>
            <a:round/>
            <a:headEnd/>
            <a:tailEnd type="triangle" w="med" len="med"/>
          </a:ln>
        </p:spPr>
        <p:txBody>
          <a:bodyPr/>
          <a:lstStyle/>
          <a:p>
            <a:endParaRPr lang="th-TH"/>
          </a:p>
        </p:txBody>
      </p:sp>
      <p:sp>
        <p:nvSpPr>
          <p:cNvPr id="55304" name="Text Box 16"/>
          <p:cNvSpPr txBox="1">
            <a:spLocks noChangeArrowheads="1"/>
          </p:cNvSpPr>
          <p:nvPr/>
        </p:nvSpPr>
        <p:spPr bwMode="auto">
          <a:xfrm>
            <a:off x="3024188" y="1096963"/>
            <a:ext cx="2084387" cy="457200"/>
          </a:xfrm>
          <a:prstGeom prst="rect">
            <a:avLst/>
          </a:prstGeom>
          <a:noFill/>
          <a:ln w="9525">
            <a:noFill/>
            <a:miter lim="800000"/>
            <a:headEnd/>
            <a:tailEnd/>
          </a:ln>
        </p:spPr>
        <p:txBody>
          <a:bodyPr>
            <a:spAutoFit/>
          </a:bodyPr>
          <a:lstStyle/>
          <a:p>
            <a:pPr>
              <a:spcBef>
                <a:spcPct val="50000"/>
              </a:spcBef>
            </a:pPr>
            <a:r>
              <a:rPr lang="en-US" sz="2400"/>
              <a:t>Strip (Scrap)</a:t>
            </a:r>
            <a:endParaRPr lang="th-TH" sz="2400"/>
          </a:p>
        </p:txBody>
      </p:sp>
      <p:sp>
        <p:nvSpPr>
          <p:cNvPr id="55305" name="Text Box 17"/>
          <p:cNvSpPr txBox="1">
            <a:spLocks noChangeArrowheads="1"/>
          </p:cNvSpPr>
          <p:nvPr/>
        </p:nvSpPr>
        <p:spPr bwMode="auto">
          <a:xfrm>
            <a:off x="3097213" y="4022725"/>
            <a:ext cx="2084387" cy="457200"/>
          </a:xfrm>
          <a:prstGeom prst="rect">
            <a:avLst/>
          </a:prstGeom>
          <a:noFill/>
          <a:ln w="9525">
            <a:noFill/>
            <a:miter lim="800000"/>
            <a:headEnd/>
            <a:tailEnd/>
          </a:ln>
        </p:spPr>
        <p:txBody>
          <a:bodyPr>
            <a:spAutoFit/>
          </a:bodyPr>
          <a:lstStyle/>
          <a:p>
            <a:pPr>
              <a:spcBef>
                <a:spcPct val="50000"/>
              </a:spcBef>
            </a:pPr>
            <a:r>
              <a:rPr lang="en-US" sz="2400"/>
              <a:t>Blank (Part)</a:t>
            </a:r>
            <a:endParaRPr lang="th-TH" sz="2400"/>
          </a:p>
        </p:txBody>
      </p:sp>
      <p:sp>
        <p:nvSpPr>
          <p:cNvPr id="55306" name="Line 18"/>
          <p:cNvSpPr>
            <a:spLocks noChangeShapeType="1"/>
          </p:cNvSpPr>
          <p:nvPr/>
        </p:nvSpPr>
        <p:spPr bwMode="auto">
          <a:xfrm flipH="1">
            <a:off x="2378075" y="4243388"/>
            <a:ext cx="669925" cy="0"/>
          </a:xfrm>
          <a:prstGeom prst="line">
            <a:avLst/>
          </a:prstGeom>
          <a:noFill/>
          <a:ln w="9525">
            <a:solidFill>
              <a:schemeClr val="tx1"/>
            </a:solidFill>
            <a:round/>
            <a:headEnd/>
            <a:tailEnd type="triangle" w="med" len="med"/>
          </a:ln>
        </p:spPr>
        <p:txBody>
          <a:bodyPr/>
          <a:lstStyle/>
          <a:p>
            <a:endParaRPr lang="th-TH"/>
          </a:p>
        </p:txBody>
      </p:sp>
      <p:sp>
        <p:nvSpPr>
          <p:cNvPr id="55307" name="Rectangle 19"/>
          <p:cNvSpPr>
            <a:spLocks noChangeArrowheads="1"/>
          </p:cNvSpPr>
          <p:nvPr/>
        </p:nvSpPr>
        <p:spPr bwMode="auto">
          <a:xfrm>
            <a:off x="7192963" y="2219325"/>
            <a:ext cx="1049337" cy="1011238"/>
          </a:xfrm>
          <a:prstGeom prst="rect">
            <a:avLst/>
          </a:prstGeom>
          <a:solidFill>
            <a:schemeClr val="accent1"/>
          </a:solidFill>
          <a:ln w="9525">
            <a:solidFill>
              <a:schemeClr val="tx1"/>
            </a:solidFill>
            <a:miter lim="800000"/>
            <a:headEnd/>
            <a:tailEnd/>
          </a:ln>
        </p:spPr>
        <p:txBody>
          <a:bodyPr wrap="none" anchor="ctr"/>
          <a:lstStyle/>
          <a:p>
            <a:endParaRPr lang="th-TH"/>
          </a:p>
        </p:txBody>
      </p:sp>
      <p:sp>
        <p:nvSpPr>
          <p:cNvPr id="55308" name="Oval 20"/>
          <p:cNvSpPr>
            <a:spLocks noChangeArrowheads="1"/>
          </p:cNvSpPr>
          <p:nvPr/>
        </p:nvSpPr>
        <p:spPr bwMode="auto">
          <a:xfrm>
            <a:off x="7656513" y="3790950"/>
            <a:ext cx="341312" cy="330200"/>
          </a:xfrm>
          <a:prstGeom prst="ellipse">
            <a:avLst/>
          </a:prstGeom>
          <a:solidFill>
            <a:schemeClr val="accent1"/>
          </a:solidFill>
          <a:ln w="9525">
            <a:solidFill>
              <a:schemeClr val="tx1"/>
            </a:solidFill>
            <a:round/>
            <a:headEnd/>
            <a:tailEnd/>
          </a:ln>
        </p:spPr>
        <p:txBody>
          <a:bodyPr wrap="none" anchor="ctr"/>
          <a:lstStyle/>
          <a:p>
            <a:endParaRPr lang="th-TH"/>
          </a:p>
        </p:txBody>
      </p:sp>
      <p:sp>
        <p:nvSpPr>
          <p:cNvPr id="55309" name="Oval 21"/>
          <p:cNvSpPr>
            <a:spLocks noChangeArrowheads="1"/>
          </p:cNvSpPr>
          <p:nvPr/>
        </p:nvSpPr>
        <p:spPr bwMode="auto">
          <a:xfrm>
            <a:off x="7546975" y="2546350"/>
            <a:ext cx="341313" cy="330200"/>
          </a:xfrm>
          <a:prstGeom prst="ellipse">
            <a:avLst/>
          </a:prstGeom>
          <a:solidFill>
            <a:schemeClr val="bg1"/>
          </a:solidFill>
          <a:ln w="9525">
            <a:solidFill>
              <a:schemeClr val="tx1"/>
            </a:solidFill>
            <a:round/>
            <a:headEnd/>
            <a:tailEnd/>
          </a:ln>
        </p:spPr>
        <p:txBody>
          <a:bodyPr wrap="none" anchor="ctr"/>
          <a:lstStyle/>
          <a:p>
            <a:endParaRPr lang="th-TH"/>
          </a:p>
        </p:txBody>
      </p:sp>
      <p:sp>
        <p:nvSpPr>
          <p:cNvPr id="55310" name="Text Box 22"/>
          <p:cNvSpPr txBox="1">
            <a:spLocks noChangeArrowheads="1"/>
          </p:cNvSpPr>
          <p:nvPr/>
        </p:nvSpPr>
        <p:spPr bwMode="auto">
          <a:xfrm>
            <a:off x="5889625" y="4352925"/>
            <a:ext cx="2084388" cy="457200"/>
          </a:xfrm>
          <a:prstGeom prst="rect">
            <a:avLst/>
          </a:prstGeom>
          <a:noFill/>
          <a:ln w="9525">
            <a:noFill/>
            <a:miter lim="800000"/>
            <a:headEnd/>
            <a:tailEnd/>
          </a:ln>
        </p:spPr>
        <p:txBody>
          <a:bodyPr>
            <a:spAutoFit/>
          </a:bodyPr>
          <a:lstStyle/>
          <a:p>
            <a:pPr>
              <a:spcBef>
                <a:spcPct val="50000"/>
              </a:spcBef>
            </a:pPr>
            <a:r>
              <a:rPr lang="en-US" sz="2400"/>
              <a:t>Slug (Scrap)</a:t>
            </a:r>
            <a:endParaRPr lang="th-TH" sz="2400"/>
          </a:p>
        </p:txBody>
      </p:sp>
      <p:sp>
        <p:nvSpPr>
          <p:cNvPr id="55311" name="Text Box 23"/>
          <p:cNvSpPr txBox="1">
            <a:spLocks noChangeArrowheads="1"/>
          </p:cNvSpPr>
          <p:nvPr/>
        </p:nvSpPr>
        <p:spPr bwMode="auto">
          <a:xfrm>
            <a:off x="6267450" y="1514475"/>
            <a:ext cx="839788" cy="457200"/>
          </a:xfrm>
          <a:prstGeom prst="rect">
            <a:avLst/>
          </a:prstGeom>
          <a:noFill/>
          <a:ln w="9525">
            <a:noFill/>
            <a:miter lim="800000"/>
            <a:headEnd/>
            <a:tailEnd/>
          </a:ln>
        </p:spPr>
        <p:txBody>
          <a:bodyPr>
            <a:spAutoFit/>
          </a:bodyPr>
          <a:lstStyle/>
          <a:p>
            <a:pPr>
              <a:spcBef>
                <a:spcPct val="50000"/>
              </a:spcBef>
            </a:pPr>
            <a:r>
              <a:rPr lang="en-US" sz="2400"/>
              <a:t>Part</a:t>
            </a:r>
            <a:endParaRPr lang="th-TH" sz="2400"/>
          </a:p>
        </p:txBody>
      </p:sp>
      <p:sp>
        <p:nvSpPr>
          <p:cNvPr id="55312" name="Line 24"/>
          <p:cNvSpPr>
            <a:spLocks noChangeShapeType="1"/>
          </p:cNvSpPr>
          <p:nvPr/>
        </p:nvSpPr>
        <p:spPr bwMode="auto">
          <a:xfrm>
            <a:off x="7059613" y="1743075"/>
            <a:ext cx="584200" cy="476250"/>
          </a:xfrm>
          <a:prstGeom prst="line">
            <a:avLst/>
          </a:prstGeom>
          <a:noFill/>
          <a:ln w="9525">
            <a:solidFill>
              <a:schemeClr val="tx1"/>
            </a:solidFill>
            <a:round/>
            <a:headEnd/>
            <a:tailEnd type="triangle" w="med" len="med"/>
          </a:ln>
        </p:spPr>
        <p:txBody>
          <a:bodyPr/>
          <a:lstStyle/>
          <a:p>
            <a:endParaRPr lang="th-TH"/>
          </a:p>
        </p:txBody>
      </p:sp>
      <p:sp>
        <p:nvSpPr>
          <p:cNvPr id="55313" name="Line 25"/>
          <p:cNvSpPr>
            <a:spLocks noChangeShapeType="1"/>
          </p:cNvSpPr>
          <p:nvPr/>
        </p:nvSpPr>
        <p:spPr bwMode="auto">
          <a:xfrm flipV="1">
            <a:off x="7156450" y="4071938"/>
            <a:ext cx="549275" cy="390525"/>
          </a:xfrm>
          <a:prstGeom prst="line">
            <a:avLst/>
          </a:prstGeom>
          <a:noFill/>
          <a:ln w="9525">
            <a:solidFill>
              <a:schemeClr val="tx1"/>
            </a:solidFill>
            <a:round/>
            <a:headEnd/>
            <a:tailEnd type="triangle" w="med" len="med"/>
          </a:ln>
        </p:spPr>
        <p:txBody>
          <a:bodyPr/>
          <a:lstStyle/>
          <a:p>
            <a:endParaRPr lang="th-TH"/>
          </a:p>
        </p:txBody>
      </p:sp>
      <p:sp>
        <p:nvSpPr>
          <p:cNvPr id="55314" name="WordArt 28"/>
          <p:cNvSpPr>
            <a:spLocks noChangeArrowheads="1" noChangeShapeType="1" noTextEdit="1"/>
          </p:cNvSpPr>
          <p:nvPr/>
        </p:nvSpPr>
        <p:spPr bwMode="auto">
          <a:xfrm>
            <a:off x="6300788" y="201613"/>
            <a:ext cx="1857375" cy="647700"/>
          </a:xfrm>
          <a:prstGeom prst="rect">
            <a:avLst/>
          </a:prstGeom>
        </p:spPr>
        <p:txBody>
          <a:bodyPr wrap="none" fromWordArt="1">
            <a:prstTxWarp prst="textPlain">
              <a:avLst>
                <a:gd name="adj" fmla="val 50000"/>
              </a:avLst>
            </a:prstTxWarp>
          </a:bodyPr>
          <a:lstStyle/>
          <a:p>
            <a:pPr algn="ctr"/>
            <a:r>
              <a:rPr lang="en-US" sz="3600" kern="10">
                <a:ln w="12700">
                  <a:solidFill>
                    <a:srgbClr val="3333CC"/>
                  </a:solidFill>
                  <a:round/>
                  <a:headEnd/>
                  <a:tailEnd/>
                </a:ln>
                <a:solidFill>
                  <a:srgbClr val="FF0000">
                    <a:alpha val="50195"/>
                  </a:srgbClr>
                </a:solidFill>
                <a:effectLst>
                  <a:outerShdw dist="45791" dir="2021404" algn="ctr" rotWithShape="0">
                    <a:srgbClr val="9999FF"/>
                  </a:outerShdw>
                </a:effectLst>
                <a:latin typeface="Arial Black"/>
              </a:rPr>
              <a:t>Piecing</a:t>
            </a:r>
            <a:endParaRPr lang="th-TH" sz="3600" kern="10">
              <a:ln w="12700">
                <a:solidFill>
                  <a:srgbClr val="3333CC"/>
                </a:solidFill>
                <a:round/>
                <a:headEnd/>
                <a:tailEnd/>
              </a:ln>
              <a:solidFill>
                <a:srgbClr val="FF0000">
                  <a:alpha val="50195"/>
                </a:srgbClr>
              </a:solidFill>
              <a:effectLst>
                <a:outerShdw dist="45791" dir="2021404" algn="ctr" rotWithShape="0">
                  <a:srgbClr val="9999FF"/>
                </a:outerShdw>
              </a:effectLst>
              <a:latin typeface="Arial Black"/>
            </a:endParaRPr>
          </a:p>
        </p:txBody>
      </p:sp>
      <p:sp>
        <p:nvSpPr>
          <p:cNvPr id="55315" name="WordArt 29"/>
          <p:cNvSpPr>
            <a:spLocks noChangeArrowheads="1" noChangeShapeType="1" noTextEdit="1"/>
          </p:cNvSpPr>
          <p:nvPr/>
        </p:nvSpPr>
        <p:spPr bwMode="auto">
          <a:xfrm>
            <a:off x="1362075" y="201613"/>
            <a:ext cx="1857375" cy="647700"/>
          </a:xfrm>
          <a:prstGeom prst="rect">
            <a:avLst/>
          </a:prstGeom>
        </p:spPr>
        <p:txBody>
          <a:bodyPr wrap="none" fromWordArt="1">
            <a:prstTxWarp prst="textPlain">
              <a:avLst>
                <a:gd name="adj" fmla="val 50000"/>
              </a:avLst>
            </a:prstTxWarp>
          </a:bodyPr>
          <a:lstStyle/>
          <a:p>
            <a:pPr algn="ctr"/>
            <a:r>
              <a:rPr lang="en-US" sz="3600" kern="10">
                <a:ln w="12700">
                  <a:solidFill>
                    <a:srgbClr val="3333CC"/>
                  </a:solidFill>
                  <a:round/>
                  <a:headEnd/>
                  <a:tailEnd/>
                </a:ln>
                <a:solidFill>
                  <a:srgbClr val="333399">
                    <a:alpha val="50195"/>
                  </a:srgbClr>
                </a:solidFill>
                <a:effectLst>
                  <a:outerShdw dist="45791" dir="2021404" algn="ctr" rotWithShape="0">
                    <a:srgbClr val="9999FF"/>
                  </a:outerShdw>
                </a:effectLst>
                <a:latin typeface="Arial Black"/>
              </a:rPr>
              <a:t>Blanking</a:t>
            </a:r>
            <a:endParaRPr lang="th-TH" sz="3600" kern="10">
              <a:ln w="12700">
                <a:solidFill>
                  <a:srgbClr val="3333CC"/>
                </a:solidFill>
                <a:round/>
                <a:headEnd/>
                <a:tailEnd/>
              </a:ln>
              <a:solidFill>
                <a:srgbClr val="333399">
                  <a:alpha val="50195"/>
                </a:srgbClr>
              </a:solidFill>
              <a:effectLst>
                <a:outerShdw dist="45791" dir="2021404" algn="ctr" rotWithShape="0">
                  <a:srgbClr val="9999FF"/>
                </a:outerShdw>
              </a:effectLst>
              <a:latin typeface="Arial Black"/>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4"/>
          <p:cNvPicPr>
            <a:picLocks noGrp="1" noChangeAspect="1" noChangeArrowheads="1"/>
          </p:cNvPicPr>
          <p:nvPr>
            <p:ph sz="half" idx="1"/>
          </p:nvPr>
        </p:nvPicPr>
        <p:blipFill>
          <a:blip r:embed="rId2" cstate="print"/>
          <a:srcRect l="22682" r="22682"/>
          <a:stretch>
            <a:fillRect/>
          </a:stretch>
        </p:blipFill>
        <p:spPr>
          <a:xfrm>
            <a:off x="360363" y="939800"/>
            <a:ext cx="4221162" cy="3387725"/>
          </a:xfrm>
          <a:noFill/>
        </p:spPr>
      </p:pic>
      <p:sp>
        <p:nvSpPr>
          <p:cNvPr id="56323" name="Rectangle 7"/>
          <p:cNvSpPr>
            <a:spLocks noChangeArrowheads="1"/>
          </p:cNvSpPr>
          <p:nvPr/>
        </p:nvSpPr>
        <p:spPr bwMode="auto">
          <a:xfrm>
            <a:off x="4906963" y="1763713"/>
            <a:ext cx="3940175" cy="1752600"/>
          </a:xfrm>
          <a:prstGeom prst="rect">
            <a:avLst/>
          </a:prstGeom>
          <a:solidFill>
            <a:srgbClr val="00FF00"/>
          </a:solidFill>
          <a:ln w="9525">
            <a:solidFill>
              <a:schemeClr val="tx1"/>
            </a:solidFill>
            <a:miter lim="800000"/>
            <a:headEnd/>
            <a:tailEnd/>
          </a:ln>
        </p:spPr>
        <p:txBody>
          <a:bodyPr wrap="none" anchor="ctr"/>
          <a:lstStyle/>
          <a:p>
            <a:endParaRPr lang="th-TH"/>
          </a:p>
        </p:txBody>
      </p:sp>
      <p:sp>
        <p:nvSpPr>
          <p:cNvPr id="56324" name="Oval 8"/>
          <p:cNvSpPr>
            <a:spLocks noChangeArrowheads="1"/>
          </p:cNvSpPr>
          <p:nvPr/>
        </p:nvSpPr>
        <p:spPr bwMode="auto">
          <a:xfrm>
            <a:off x="6426200" y="2111375"/>
            <a:ext cx="1030288" cy="1031875"/>
          </a:xfrm>
          <a:prstGeom prst="ellipse">
            <a:avLst/>
          </a:prstGeom>
          <a:solidFill>
            <a:schemeClr val="bg1"/>
          </a:solidFill>
          <a:ln w="9525">
            <a:solidFill>
              <a:schemeClr val="tx1"/>
            </a:solidFill>
            <a:round/>
            <a:headEnd/>
            <a:tailEnd/>
          </a:ln>
        </p:spPr>
        <p:txBody>
          <a:bodyPr wrap="none" anchor="ctr"/>
          <a:lstStyle/>
          <a:p>
            <a:endParaRPr lang="th-TH"/>
          </a:p>
        </p:txBody>
      </p:sp>
      <p:sp>
        <p:nvSpPr>
          <p:cNvPr id="56325" name="Oval 9"/>
          <p:cNvSpPr>
            <a:spLocks noChangeArrowheads="1"/>
          </p:cNvSpPr>
          <p:nvPr/>
        </p:nvSpPr>
        <p:spPr bwMode="auto">
          <a:xfrm>
            <a:off x="6308725" y="4148138"/>
            <a:ext cx="1260475" cy="1301750"/>
          </a:xfrm>
          <a:prstGeom prst="ellipse">
            <a:avLst/>
          </a:prstGeom>
          <a:solidFill>
            <a:srgbClr val="00FF00"/>
          </a:solidFill>
          <a:ln w="9525">
            <a:solidFill>
              <a:schemeClr val="tx1"/>
            </a:solidFill>
            <a:round/>
            <a:headEnd/>
            <a:tailEnd/>
          </a:ln>
        </p:spPr>
        <p:txBody>
          <a:bodyPr wrap="none" anchor="ctr"/>
          <a:lstStyle/>
          <a:p>
            <a:endParaRPr lang="th-TH"/>
          </a:p>
        </p:txBody>
      </p:sp>
      <p:sp>
        <p:nvSpPr>
          <p:cNvPr id="56326" name="Line 10"/>
          <p:cNvSpPr>
            <a:spLocks noChangeShapeType="1"/>
          </p:cNvSpPr>
          <p:nvPr/>
        </p:nvSpPr>
        <p:spPr bwMode="auto">
          <a:xfrm>
            <a:off x="6426200" y="2614613"/>
            <a:ext cx="0" cy="2755900"/>
          </a:xfrm>
          <a:prstGeom prst="line">
            <a:avLst/>
          </a:prstGeom>
          <a:noFill/>
          <a:ln w="9525" cap="rnd">
            <a:solidFill>
              <a:schemeClr val="tx1"/>
            </a:solidFill>
            <a:prstDash val="sysDot"/>
            <a:round/>
            <a:headEnd/>
            <a:tailEnd/>
          </a:ln>
        </p:spPr>
        <p:txBody>
          <a:bodyPr/>
          <a:lstStyle/>
          <a:p>
            <a:endParaRPr lang="th-TH"/>
          </a:p>
        </p:txBody>
      </p:sp>
      <p:sp>
        <p:nvSpPr>
          <p:cNvPr id="56327" name="Line 11"/>
          <p:cNvSpPr>
            <a:spLocks noChangeShapeType="1"/>
          </p:cNvSpPr>
          <p:nvPr/>
        </p:nvSpPr>
        <p:spPr bwMode="auto">
          <a:xfrm>
            <a:off x="7456488" y="2614613"/>
            <a:ext cx="0" cy="2755900"/>
          </a:xfrm>
          <a:prstGeom prst="line">
            <a:avLst/>
          </a:prstGeom>
          <a:noFill/>
          <a:ln w="9525" cap="rnd">
            <a:solidFill>
              <a:schemeClr val="tx1"/>
            </a:solidFill>
            <a:prstDash val="sysDot"/>
            <a:round/>
            <a:headEnd/>
            <a:tailEnd/>
          </a:ln>
        </p:spPr>
        <p:txBody>
          <a:bodyPr/>
          <a:lstStyle/>
          <a:p>
            <a:endParaRPr lang="th-TH"/>
          </a:p>
        </p:txBody>
      </p:sp>
      <p:pic>
        <p:nvPicPr>
          <p:cNvPr id="56328" name="Picture 12"/>
          <p:cNvPicPr>
            <a:picLocks noGrp="1" noChangeAspect="1" noChangeArrowheads="1"/>
          </p:cNvPicPr>
          <p:nvPr>
            <p:ph sz="half" idx="2"/>
          </p:nvPr>
        </p:nvPicPr>
        <p:blipFill>
          <a:blip r:embed="rId3" cstate="print"/>
          <a:srcRect/>
          <a:stretch>
            <a:fillRect/>
          </a:stretch>
        </p:blipFill>
        <p:spPr>
          <a:xfrm>
            <a:off x="225425" y="4457700"/>
            <a:ext cx="5545138" cy="1947863"/>
          </a:xfr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p:cNvPicPr>
            <a:picLocks noGrp="1" noChangeAspect="1" noChangeArrowheads="1"/>
          </p:cNvPicPr>
          <p:nvPr>
            <p:ph idx="1"/>
          </p:nvPr>
        </p:nvPicPr>
        <p:blipFill>
          <a:blip r:embed="rId2" cstate="print"/>
          <a:srcRect/>
          <a:stretch>
            <a:fillRect/>
          </a:stretch>
        </p:blipFill>
        <p:spPr>
          <a:xfrm>
            <a:off x="801688" y="1238250"/>
            <a:ext cx="7026275" cy="4935538"/>
          </a:xfrm>
          <a:noFill/>
        </p:spPr>
      </p:pic>
      <p:sp>
        <p:nvSpPr>
          <p:cNvPr id="57347" name="WordArt 8"/>
          <p:cNvSpPr>
            <a:spLocks noChangeArrowheads="1" noChangeShapeType="1" noTextEdit="1"/>
          </p:cNvSpPr>
          <p:nvPr/>
        </p:nvSpPr>
        <p:spPr bwMode="auto">
          <a:xfrm>
            <a:off x="1166813" y="441325"/>
            <a:ext cx="4819650" cy="647700"/>
          </a:xfrm>
          <a:prstGeom prst="rect">
            <a:avLst/>
          </a:prstGeom>
        </p:spPr>
        <p:txBody>
          <a:bodyPr wrap="none" fromWordArt="1">
            <a:prstTxWarp prst="textPlain">
              <a:avLst>
                <a:gd name="adj" fmla="val 50000"/>
              </a:avLst>
            </a:prstTxWarp>
          </a:bodyPr>
          <a:lstStyle/>
          <a:p>
            <a:pPr algn="ctr"/>
            <a:r>
              <a:rPr lang="en-US" sz="3600" kern="10">
                <a:ln w="12700">
                  <a:solidFill>
                    <a:srgbClr val="3333CC"/>
                  </a:solidFill>
                  <a:round/>
                  <a:headEnd/>
                  <a:tailEnd/>
                </a:ln>
                <a:solidFill>
                  <a:srgbClr val="B2B2B2">
                    <a:alpha val="50195"/>
                  </a:srgbClr>
                </a:solidFill>
                <a:effectLst>
                  <a:outerShdw dist="45791" dir="2021404" algn="ctr" rotWithShape="0">
                    <a:srgbClr val="9999FF"/>
                  </a:outerShdw>
                </a:effectLst>
                <a:latin typeface="Arial Black"/>
              </a:rPr>
              <a:t>Shearing Operation</a:t>
            </a:r>
            <a:endParaRPr lang="th-TH" sz="3600" kern="10">
              <a:ln w="12700">
                <a:solidFill>
                  <a:srgbClr val="3333CC"/>
                </a:solidFill>
                <a:round/>
                <a:headEnd/>
                <a:tailEnd/>
              </a:ln>
              <a:solidFill>
                <a:srgbClr val="B2B2B2">
                  <a:alpha val="50195"/>
                </a:srgbClr>
              </a:solidFill>
              <a:effectLst>
                <a:outerShdw dist="45791" dir="2021404" algn="ctr" rotWithShape="0">
                  <a:srgbClr val="9999FF"/>
                </a:outerShdw>
              </a:effectLst>
              <a:latin typeface="Arial Black"/>
            </a:endParaRPr>
          </a:p>
        </p:txBody>
      </p:sp>
      <p:sp>
        <p:nvSpPr>
          <p:cNvPr id="57348" name="Rectangle 11"/>
          <p:cNvSpPr>
            <a:spLocks noChangeArrowheads="1"/>
          </p:cNvSpPr>
          <p:nvPr/>
        </p:nvSpPr>
        <p:spPr bwMode="auto">
          <a:xfrm>
            <a:off x="496888" y="5029200"/>
            <a:ext cx="7356475" cy="1223963"/>
          </a:xfrm>
          <a:prstGeom prst="rect">
            <a:avLst/>
          </a:prstGeom>
          <a:solidFill>
            <a:schemeClr val="bg1"/>
          </a:solidFill>
          <a:ln w="9525">
            <a:noFill/>
            <a:miter lim="800000"/>
            <a:headEnd/>
            <a:tailEnd/>
          </a:ln>
        </p:spPr>
        <p:txBody>
          <a:bodyPr wrap="none" anchor="ctr"/>
          <a:lstStyle/>
          <a:p>
            <a:endParaRPr lang="th-TH"/>
          </a:p>
        </p:txBody>
      </p:sp>
      <p:sp>
        <p:nvSpPr>
          <p:cNvPr id="57349" name="Text Box 10"/>
          <p:cNvSpPr txBox="1">
            <a:spLocks noChangeArrowheads="1"/>
          </p:cNvSpPr>
          <p:nvPr/>
        </p:nvSpPr>
        <p:spPr bwMode="auto">
          <a:xfrm>
            <a:off x="5270500" y="5029200"/>
            <a:ext cx="2070100" cy="457200"/>
          </a:xfrm>
          <a:prstGeom prst="rect">
            <a:avLst/>
          </a:prstGeom>
          <a:noFill/>
          <a:ln w="9525">
            <a:noFill/>
            <a:miter lim="800000"/>
            <a:headEnd/>
            <a:tailEnd/>
          </a:ln>
        </p:spPr>
        <p:txBody>
          <a:bodyPr>
            <a:spAutoFit/>
          </a:bodyPr>
          <a:lstStyle/>
          <a:p>
            <a:pPr>
              <a:spcBef>
                <a:spcPct val="50000"/>
              </a:spcBef>
            </a:pPr>
            <a:r>
              <a:rPr lang="en-US" sz="2400"/>
              <a:t>Front View</a:t>
            </a:r>
            <a:endParaRPr lang="th-TH" sz="2400"/>
          </a:p>
        </p:txBody>
      </p:sp>
      <p:sp>
        <p:nvSpPr>
          <p:cNvPr id="57350" name="Text Box 9"/>
          <p:cNvSpPr txBox="1">
            <a:spLocks noChangeArrowheads="1"/>
          </p:cNvSpPr>
          <p:nvPr/>
        </p:nvSpPr>
        <p:spPr bwMode="auto">
          <a:xfrm>
            <a:off x="941388" y="5002213"/>
            <a:ext cx="2070100" cy="457200"/>
          </a:xfrm>
          <a:prstGeom prst="rect">
            <a:avLst/>
          </a:prstGeom>
          <a:noFill/>
          <a:ln w="9525">
            <a:noFill/>
            <a:miter lim="800000"/>
            <a:headEnd/>
            <a:tailEnd/>
          </a:ln>
        </p:spPr>
        <p:txBody>
          <a:bodyPr>
            <a:spAutoFit/>
          </a:bodyPr>
          <a:lstStyle/>
          <a:p>
            <a:pPr>
              <a:spcBef>
                <a:spcPct val="50000"/>
              </a:spcBef>
            </a:pPr>
            <a:r>
              <a:rPr lang="en-US" sz="2400"/>
              <a:t>Side View</a:t>
            </a:r>
            <a:endParaRPr lang="th-TH" sz="2400"/>
          </a:p>
        </p:txBody>
      </p:sp>
      <p:sp>
        <p:nvSpPr>
          <p:cNvPr id="57351" name="Text Box 12"/>
          <p:cNvSpPr txBox="1">
            <a:spLocks noChangeArrowheads="1"/>
          </p:cNvSpPr>
          <p:nvPr/>
        </p:nvSpPr>
        <p:spPr bwMode="auto">
          <a:xfrm>
            <a:off x="3187700" y="3844925"/>
            <a:ext cx="1141413" cy="457200"/>
          </a:xfrm>
          <a:prstGeom prst="rect">
            <a:avLst/>
          </a:prstGeom>
          <a:solidFill>
            <a:schemeClr val="bg1"/>
          </a:solidFill>
          <a:ln w="9525">
            <a:noFill/>
            <a:miter lim="800000"/>
            <a:headEnd/>
            <a:tailEnd/>
          </a:ln>
        </p:spPr>
        <p:txBody>
          <a:bodyPr>
            <a:spAutoFit/>
          </a:bodyPr>
          <a:lstStyle/>
          <a:p>
            <a:pPr>
              <a:spcBef>
                <a:spcPct val="50000"/>
              </a:spcBef>
            </a:pPr>
            <a:r>
              <a:rPr lang="en-US" sz="2400"/>
              <a:t>Die</a:t>
            </a:r>
            <a:endParaRPr lang="th-TH" sz="2400"/>
          </a:p>
        </p:txBody>
      </p:sp>
      <p:sp>
        <p:nvSpPr>
          <p:cNvPr id="57352" name="Text Box 13"/>
          <p:cNvSpPr txBox="1">
            <a:spLocks noChangeArrowheads="1"/>
          </p:cNvSpPr>
          <p:nvPr/>
        </p:nvSpPr>
        <p:spPr bwMode="auto">
          <a:xfrm>
            <a:off x="3484563" y="2165350"/>
            <a:ext cx="1357312" cy="457200"/>
          </a:xfrm>
          <a:prstGeom prst="rect">
            <a:avLst/>
          </a:prstGeom>
          <a:solidFill>
            <a:schemeClr val="bg1"/>
          </a:solidFill>
          <a:ln w="9525">
            <a:noFill/>
            <a:miter lim="800000"/>
            <a:headEnd/>
            <a:tailEnd/>
          </a:ln>
        </p:spPr>
        <p:txBody>
          <a:bodyPr>
            <a:spAutoFit/>
          </a:bodyPr>
          <a:lstStyle/>
          <a:p>
            <a:pPr>
              <a:spcBef>
                <a:spcPct val="50000"/>
              </a:spcBef>
            </a:pPr>
            <a:r>
              <a:rPr lang="en-US" sz="2400">
                <a:cs typeface="Angsana New" pitchFamily="18" charset="-34"/>
              </a:rPr>
              <a:t>Punch</a:t>
            </a:r>
            <a:endParaRPr lang="th-TH" sz="2400">
              <a:cs typeface="Angsana New" pitchFamily="18" charset="-3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7"/>
          <p:cNvSpPr txBox="1">
            <a:spLocks noChangeArrowheads="1"/>
          </p:cNvSpPr>
          <p:nvPr/>
        </p:nvSpPr>
        <p:spPr bwMode="auto">
          <a:xfrm>
            <a:off x="5484813" y="4857750"/>
            <a:ext cx="1312862" cy="579438"/>
          </a:xfrm>
          <a:prstGeom prst="rect">
            <a:avLst/>
          </a:prstGeom>
          <a:noFill/>
          <a:ln w="9525">
            <a:noFill/>
            <a:miter lim="800000"/>
            <a:headEnd/>
            <a:tailEnd/>
          </a:ln>
        </p:spPr>
        <p:txBody>
          <a:bodyPr>
            <a:spAutoFit/>
          </a:bodyPr>
          <a:lstStyle/>
          <a:p>
            <a:pPr>
              <a:spcBef>
                <a:spcPct val="50000"/>
              </a:spcBef>
            </a:pPr>
            <a:r>
              <a:rPr lang="en-US" b="1" i="1"/>
              <a:t>C = at</a:t>
            </a:r>
            <a:endParaRPr lang="th-TH" b="1" i="1"/>
          </a:p>
        </p:txBody>
      </p:sp>
      <p:sp>
        <p:nvSpPr>
          <p:cNvPr id="58371" name="Text Box 9"/>
          <p:cNvSpPr txBox="1">
            <a:spLocks noChangeArrowheads="1"/>
          </p:cNvSpPr>
          <p:nvPr/>
        </p:nvSpPr>
        <p:spPr bwMode="auto">
          <a:xfrm>
            <a:off x="2536825" y="4881563"/>
            <a:ext cx="4146550" cy="1552575"/>
          </a:xfrm>
          <a:prstGeom prst="rect">
            <a:avLst/>
          </a:prstGeom>
          <a:noFill/>
          <a:ln w="9525">
            <a:noFill/>
            <a:miter lim="800000"/>
            <a:headEnd/>
            <a:tailEnd/>
          </a:ln>
        </p:spPr>
        <p:txBody>
          <a:bodyPr>
            <a:spAutoFit/>
          </a:bodyPr>
          <a:lstStyle/>
          <a:p>
            <a:pPr>
              <a:spcBef>
                <a:spcPct val="50000"/>
              </a:spcBef>
            </a:pPr>
            <a:r>
              <a:rPr lang="en-US" sz="2400"/>
              <a:t>C = clearance,</a:t>
            </a:r>
          </a:p>
          <a:p>
            <a:pPr>
              <a:spcBef>
                <a:spcPct val="50000"/>
              </a:spcBef>
            </a:pPr>
            <a:r>
              <a:rPr lang="en-US" sz="2400"/>
              <a:t>a = allowance</a:t>
            </a:r>
          </a:p>
          <a:p>
            <a:pPr>
              <a:spcBef>
                <a:spcPct val="50000"/>
              </a:spcBef>
            </a:pPr>
            <a:r>
              <a:rPr lang="en-US" sz="2400"/>
              <a:t>t = Thickness (plate)</a:t>
            </a:r>
            <a:endParaRPr lang="th-TH" sz="2400"/>
          </a:p>
        </p:txBody>
      </p:sp>
      <p:pic>
        <p:nvPicPr>
          <p:cNvPr id="58372" name="Picture 11"/>
          <p:cNvPicPr>
            <a:picLocks noGrp="1" noChangeAspect="1" noChangeArrowheads="1"/>
          </p:cNvPicPr>
          <p:nvPr>
            <p:ph sz="half" idx="1"/>
          </p:nvPr>
        </p:nvPicPr>
        <p:blipFill>
          <a:blip r:embed="rId2" cstate="print"/>
          <a:srcRect/>
          <a:stretch>
            <a:fillRect/>
          </a:stretch>
        </p:blipFill>
        <p:spPr>
          <a:xfrm>
            <a:off x="685800" y="979488"/>
            <a:ext cx="6900863" cy="4224337"/>
          </a:xfr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5"/>
          <p:cNvSpPr>
            <a:spLocks noChangeArrowheads="1"/>
          </p:cNvSpPr>
          <p:nvPr/>
        </p:nvSpPr>
        <p:spPr bwMode="auto">
          <a:xfrm>
            <a:off x="0" y="2862263"/>
            <a:ext cx="9144000" cy="0"/>
          </a:xfrm>
          <a:prstGeom prst="rect">
            <a:avLst/>
          </a:prstGeom>
          <a:noFill/>
          <a:ln w="9525">
            <a:noFill/>
            <a:miter lim="800000"/>
            <a:headEnd/>
            <a:tailEnd/>
          </a:ln>
        </p:spPr>
        <p:txBody>
          <a:bodyPr wrap="none" anchor="ctr">
            <a:spAutoFit/>
          </a:bodyPr>
          <a:lstStyle/>
          <a:p>
            <a:endParaRPr lang="th-TH"/>
          </a:p>
        </p:txBody>
      </p:sp>
      <p:graphicFrame>
        <p:nvGraphicFramePr>
          <p:cNvPr id="2050" name="Object 4"/>
          <p:cNvGraphicFramePr>
            <a:graphicFrameLocks noChangeAspect="1"/>
          </p:cNvGraphicFramePr>
          <p:nvPr/>
        </p:nvGraphicFramePr>
        <p:xfrm>
          <a:off x="6243638" y="3198813"/>
          <a:ext cx="2736850" cy="712787"/>
        </p:xfrm>
        <a:graphic>
          <a:graphicData uri="http://schemas.openxmlformats.org/presentationml/2006/ole">
            <mc:AlternateContent xmlns:mc="http://schemas.openxmlformats.org/markup-compatibility/2006">
              <mc:Choice xmlns:v="urn:schemas-microsoft-com:vml" Requires="v">
                <p:oleObj name="Equation" r:id="rId2" imgW="1892300" imgH="495300" progId="Equation.3">
                  <p:embed/>
                </p:oleObj>
              </mc:Choice>
              <mc:Fallback>
                <p:oleObj name="Equation" r:id="rId2" imgW="1892300" imgH="495300" progId="Equation.3">
                  <p:embed/>
                  <p:pic>
                    <p:nvPicPr>
                      <p:cNvPr id="205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638" y="3198813"/>
                        <a:ext cx="2736850" cy="712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2" name="Text Box 6"/>
          <p:cNvSpPr txBox="1">
            <a:spLocks noChangeArrowheads="1"/>
          </p:cNvSpPr>
          <p:nvPr/>
        </p:nvSpPr>
        <p:spPr bwMode="auto">
          <a:xfrm>
            <a:off x="5186363" y="350838"/>
            <a:ext cx="3484562" cy="466725"/>
          </a:xfrm>
          <a:prstGeom prst="rect">
            <a:avLst/>
          </a:prstGeom>
          <a:noFill/>
          <a:ln w="9525">
            <a:solidFill>
              <a:schemeClr val="accent2"/>
            </a:solidFill>
            <a:miter lim="800000"/>
            <a:headEnd/>
            <a:tailEnd/>
          </a:ln>
        </p:spPr>
        <p:txBody>
          <a:bodyPr wrap="none">
            <a:spAutoFit/>
          </a:bodyPr>
          <a:lstStyle/>
          <a:p>
            <a:r>
              <a:rPr lang="en-US" sz="2400"/>
              <a:t>How to handle springback:</a:t>
            </a:r>
          </a:p>
        </p:txBody>
      </p:sp>
      <p:sp>
        <p:nvSpPr>
          <p:cNvPr id="2053" name="Rectangle 7"/>
          <p:cNvSpPr>
            <a:spLocks noChangeArrowheads="1"/>
          </p:cNvSpPr>
          <p:nvPr/>
        </p:nvSpPr>
        <p:spPr bwMode="auto">
          <a:xfrm>
            <a:off x="630238" y="4175125"/>
            <a:ext cx="5554662" cy="396875"/>
          </a:xfrm>
          <a:prstGeom prst="rect">
            <a:avLst/>
          </a:prstGeom>
          <a:noFill/>
          <a:ln w="9525">
            <a:noFill/>
            <a:miter lim="800000"/>
            <a:headEnd/>
            <a:tailEnd/>
          </a:ln>
        </p:spPr>
        <p:txBody>
          <a:bodyPr wrap="none" anchor="ctr">
            <a:spAutoFit/>
          </a:bodyPr>
          <a:lstStyle/>
          <a:p>
            <a:pPr eaLnBrk="0" hangingPunct="0"/>
            <a:r>
              <a:rPr lang="en-US" sz="2000"/>
              <a:t>(a) Compensation: the metal is bent by a larger angle</a:t>
            </a:r>
          </a:p>
        </p:txBody>
      </p:sp>
      <p:sp>
        <p:nvSpPr>
          <p:cNvPr id="2054" name="Rectangle 10"/>
          <p:cNvSpPr>
            <a:spLocks noChangeArrowheads="1"/>
          </p:cNvSpPr>
          <p:nvPr/>
        </p:nvSpPr>
        <p:spPr bwMode="auto">
          <a:xfrm>
            <a:off x="668338" y="4699000"/>
            <a:ext cx="5803900" cy="701675"/>
          </a:xfrm>
          <a:prstGeom prst="rect">
            <a:avLst/>
          </a:prstGeom>
          <a:noFill/>
          <a:ln w="9525">
            <a:noFill/>
            <a:miter lim="800000"/>
            <a:headEnd/>
            <a:tailEnd/>
          </a:ln>
        </p:spPr>
        <p:txBody>
          <a:bodyPr wrap="none" anchor="ctr">
            <a:spAutoFit/>
          </a:bodyPr>
          <a:lstStyle/>
          <a:p>
            <a:pPr eaLnBrk="0" hangingPunct="0"/>
            <a:r>
              <a:rPr lang="en-US" sz="2000"/>
              <a:t>(b) Coining the bend:</a:t>
            </a:r>
          </a:p>
          <a:p>
            <a:pPr eaLnBrk="0" hangingPunct="0"/>
            <a:r>
              <a:rPr lang="en-US" sz="2000"/>
              <a:t>      at end of bend cycle, tool exerts large force, dwells </a:t>
            </a:r>
          </a:p>
        </p:txBody>
      </p:sp>
      <p:grpSp>
        <p:nvGrpSpPr>
          <p:cNvPr id="2055" name="Group 11"/>
          <p:cNvGrpSpPr>
            <a:grpSpLocks/>
          </p:cNvGrpSpPr>
          <p:nvPr/>
        </p:nvGrpSpPr>
        <p:grpSpPr bwMode="auto">
          <a:xfrm>
            <a:off x="7626350" y="4354513"/>
            <a:ext cx="1517650" cy="2352675"/>
            <a:chOff x="3178" y="1465"/>
            <a:chExt cx="956" cy="1482"/>
          </a:xfrm>
        </p:grpSpPr>
        <p:pic>
          <p:nvPicPr>
            <p:cNvPr id="2060" name="Picture 12"/>
            <p:cNvPicPr>
              <a:picLocks noChangeAspect="1" noChangeArrowheads="1"/>
            </p:cNvPicPr>
            <p:nvPr/>
          </p:nvPicPr>
          <p:blipFill>
            <a:blip r:embed="rId4" cstate="print"/>
            <a:srcRect/>
            <a:stretch>
              <a:fillRect/>
            </a:stretch>
          </p:blipFill>
          <p:spPr bwMode="auto">
            <a:xfrm>
              <a:off x="3241" y="1465"/>
              <a:ext cx="612" cy="1482"/>
            </a:xfrm>
            <a:prstGeom prst="rect">
              <a:avLst/>
            </a:prstGeom>
            <a:noFill/>
            <a:ln w="9525">
              <a:noFill/>
              <a:miter lim="800000"/>
              <a:headEnd/>
              <a:tailEnd/>
            </a:ln>
          </p:spPr>
        </p:pic>
        <p:sp>
          <p:nvSpPr>
            <p:cNvPr id="2061" name="Line 13"/>
            <p:cNvSpPr>
              <a:spLocks noChangeShapeType="1"/>
            </p:cNvSpPr>
            <p:nvPr/>
          </p:nvSpPr>
          <p:spPr bwMode="auto">
            <a:xfrm flipH="1" flipV="1">
              <a:off x="3178" y="2287"/>
              <a:ext cx="296" cy="296"/>
            </a:xfrm>
            <a:prstGeom prst="line">
              <a:avLst/>
            </a:prstGeom>
            <a:noFill/>
            <a:ln w="38100">
              <a:solidFill>
                <a:schemeClr val="accent2"/>
              </a:solidFill>
              <a:round/>
              <a:headEnd/>
              <a:tailEnd/>
            </a:ln>
          </p:spPr>
          <p:txBody>
            <a:bodyPr/>
            <a:lstStyle/>
            <a:p>
              <a:endParaRPr lang="th-TH"/>
            </a:p>
          </p:txBody>
        </p:sp>
        <p:sp>
          <p:nvSpPr>
            <p:cNvPr id="2062" name="Line 14"/>
            <p:cNvSpPr>
              <a:spLocks noChangeShapeType="1"/>
            </p:cNvSpPr>
            <p:nvPr/>
          </p:nvSpPr>
          <p:spPr bwMode="auto">
            <a:xfrm flipV="1">
              <a:off x="3460" y="1919"/>
              <a:ext cx="674" cy="660"/>
            </a:xfrm>
            <a:prstGeom prst="line">
              <a:avLst/>
            </a:prstGeom>
            <a:noFill/>
            <a:ln w="38100">
              <a:solidFill>
                <a:schemeClr val="accent2"/>
              </a:solidFill>
              <a:round/>
              <a:headEnd/>
              <a:tailEnd/>
            </a:ln>
          </p:spPr>
          <p:txBody>
            <a:bodyPr/>
            <a:lstStyle/>
            <a:p>
              <a:endParaRPr lang="th-TH"/>
            </a:p>
          </p:txBody>
        </p:sp>
      </p:grpSp>
      <p:sp>
        <p:nvSpPr>
          <p:cNvPr id="2056" name="Text Box 15"/>
          <p:cNvSpPr txBox="1">
            <a:spLocks noChangeArrowheads="1"/>
          </p:cNvSpPr>
          <p:nvPr/>
        </p:nvSpPr>
        <p:spPr bwMode="auto">
          <a:xfrm>
            <a:off x="4251325" y="6043613"/>
            <a:ext cx="3357563" cy="336550"/>
          </a:xfrm>
          <a:prstGeom prst="rect">
            <a:avLst/>
          </a:prstGeom>
          <a:noFill/>
          <a:ln w="9525">
            <a:noFill/>
            <a:miter lim="800000"/>
            <a:headEnd/>
            <a:tailEnd/>
          </a:ln>
        </p:spPr>
        <p:txBody>
          <a:bodyPr wrap="none">
            <a:spAutoFit/>
          </a:bodyPr>
          <a:lstStyle/>
          <a:p>
            <a:r>
              <a:rPr lang="en-US" sz="1600"/>
              <a:t>coining: press down hard, wait, release</a:t>
            </a:r>
          </a:p>
        </p:txBody>
      </p:sp>
      <p:sp>
        <p:nvSpPr>
          <p:cNvPr id="2057" name="Line 16"/>
          <p:cNvSpPr>
            <a:spLocks noChangeShapeType="1"/>
          </p:cNvSpPr>
          <p:nvPr/>
        </p:nvSpPr>
        <p:spPr bwMode="auto">
          <a:xfrm>
            <a:off x="828675" y="4114800"/>
            <a:ext cx="8067675" cy="19050"/>
          </a:xfrm>
          <a:prstGeom prst="line">
            <a:avLst/>
          </a:prstGeom>
          <a:noFill/>
          <a:ln w="9525">
            <a:solidFill>
              <a:schemeClr val="accent2"/>
            </a:solidFill>
            <a:prstDash val="sysDot"/>
            <a:round/>
            <a:headEnd/>
            <a:tailEnd/>
          </a:ln>
        </p:spPr>
        <p:txBody>
          <a:bodyPr/>
          <a:lstStyle/>
          <a:p>
            <a:endParaRPr lang="th-TH"/>
          </a:p>
        </p:txBody>
      </p:sp>
      <p:pic>
        <p:nvPicPr>
          <p:cNvPr id="2058" name="Picture 17"/>
          <p:cNvPicPr>
            <a:picLocks noChangeAspect="1" noChangeArrowheads="1"/>
          </p:cNvPicPr>
          <p:nvPr/>
        </p:nvPicPr>
        <p:blipFill>
          <a:blip r:embed="rId5" cstate="print"/>
          <a:srcRect/>
          <a:stretch>
            <a:fillRect/>
          </a:stretch>
        </p:blipFill>
        <p:spPr bwMode="auto">
          <a:xfrm>
            <a:off x="2192338" y="773113"/>
            <a:ext cx="6591300" cy="3181350"/>
          </a:xfrm>
          <a:prstGeom prst="rect">
            <a:avLst/>
          </a:prstGeom>
          <a:noFill/>
          <a:ln w="9525">
            <a:noFill/>
            <a:miter lim="800000"/>
            <a:headEnd/>
            <a:tailEnd/>
          </a:ln>
        </p:spPr>
      </p:pic>
      <p:sp>
        <p:nvSpPr>
          <p:cNvPr id="2059" name="Text Box 2"/>
          <p:cNvSpPr txBox="1">
            <a:spLocks noChangeArrowheads="1"/>
          </p:cNvSpPr>
          <p:nvPr/>
        </p:nvSpPr>
        <p:spPr bwMode="auto">
          <a:xfrm>
            <a:off x="382588" y="528638"/>
            <a:ext cx="2903537" cy="457200"/>
          </a:xfrm>
          <a:prstGeom prst="rect">
            <a:avLst/>
          </a:prstGeom>
          <a:noFill/>
          <a:ln w="9525">
            <a:noFill/>
            <a:miter lim="800000"/>
            <a:headEnd/>
            <a:tailEnd/>
          </a:ln>
        </p:spPr>
        <p:txBody>
          <a:bodyPr wrap="none">
            <a:spAutoFit/>
          </a:bodyPr>
          <a:lstStyle/>
          <a:p>
            <a:r>
              <a:rPr lang="en-US" sz="2400" b="1"/>
              <a:t>Bending: springback</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382588" y="528638"/>
            <a:ext cx="2055812" cy="457200"/>
          </a:xfrm>
          <a:prstGeom prst="rect">
            <a:avLst/>
          </a:prstGeom>
          <a:noFill/>
          <a:ln w="9525">
            <a:noFill/>
            <a:miter lim="800000"/>
            <a:headEnd/>
            <a:tailEnd/>
          </a:ln>
        </p:spPr>
        <p:txBody>
          <a:bodyPr wrap="none">
            <a:spAutoFit/>
          </a:bodyPr>
          <a:lstStyle/>
          <a:p>
            <a:r>
              <a:rPr lang="en-US" sz="2400" b="1"/>
              <a:t>Deep Drawing</a:t>
            </a:r>
          </a:p>
        </p:txBody>
      </p:sp>
      <p:pic>
        <p:nvPicPr>
          <p:cNvPr id="60419" name="Picture 3"/>
          <p:cNvPicPr>
            <a:picLocks noChangeAspect="1" noChangeArrowheads="1"/>
          </p:cNvPicPr>
          <p:nvPr/>
        </p:nvPicPr>
        <p:blipFill>
          <a:blip r:embed="rId2" cstate="print"/>
          <a:srcRect/>
          <a:stretch>
            <a:fillRect/>
          </a:stretch>
        </p:blipFill>
        <p:spPr bwMode="auto">
          <a:xfrm>
            <a:off x="1028700" y="1809750"/>
            <a:ext cx="6286500" cy="3895725"/>
          </a:xfrm>
          <a:prstGeom prst="rect">
            <a:avLst/>
          </a:prstGeom>
          <a:noFill/>
          <a:ln w="9525">
            <a:noFill/>
            <a:miter lim="800000"/>
            <a:headEnd/>
            <a:tailEnd/>
          </a:ln>
        </p:spPr>
      </p:pic>
      <p:sp>
        <p:nvSpPr>
          <p:cNvPr id="60420" name="Text Box 4"/>
          <p:cNvSpPr txBox="1">
            <a:spLocks noChangeArrowheads="1"/>
          </p:cNvSpPr>
          <p:nvPr/>
        </p:nvSpPr>
        <p:spPr bwMode="auto">
          <a:xfrm>
            <a:off x="2994025" y="719138"/>
            <a:ext cx="4289425" cy="711200"/>
          </a:xfrm>
          <a:prstGeom prst="rect">
            <a:avLst/>
          </a:prstGeom>
          <a:noFill/>
          <a:ln w="9525">
            <a:solidFill>
              <a:schemeClr val="accent2"/>
            </a:solidFill>
            <a:miter lim="800000"/>
            <a:headEnd/>
            <a:tailEnd/>
          </a:ln>
        </p:spPr>
        <p:txBody>
          <a:bodyPr wrap="none">
            <a:spAutoFit/>
          </a:bodyPr>
          <a:lstStyle/>
          <a:p>
            <a:r>
              <a:rPr lang="en-US" sz="2000"/>
              <a:t>Tooling: similar to punching operation,</a:t>
            </a:r>
          </a:p>
          <a:p>
            <a:r>
              <a:rPr lang="en-US" sz="2000"/>
              <a:t>Mechanics: similar to bending operation</a:t>
            </a:r>
          </a:p>
        </p:txBody>
      </p:sp>
      <p:sp>
        <p:nvSpPr>
          <p:cNvPr id="60421" name="Text Box 5"/>
          <p:cNvSpPr txBox="1">
            <a:spLocks noChangeArrowheads="1"/>
          </p:cNvSpPr>
          <p:nvPr/>
        </p:nvSpPr>
        <p:spPr bwMode="auto">
          <a:xfrm>
            <a:off x="984250" y="6157913"/>
            <a:ext cx="5411788" cy="406400"/>
          </a:xfrm>
          <a:prstGeom prst="rect">
            <a:avLst/>
          </a:prstGeom>
          <a:noFill/>
          <a:ln w="9525">
            <a:solidFill>
              <a:schemeClr val="accent2"/>
            </a:solidFill>
            <a:miter lim="800000"/>
            <a:headEnd/>
            <a:tailEnd/>
          </a:ln>
        </p:spPr>
        <p:txBody>
          <a:bodyPr wrap="none">
            <a:spAutoFit/>
          </a:bodyPr>
          <a:lstStyle/>
          <a:p>
            <a:r>
              <a:rPr lang="en-US" sz="2000"/>
              <a:t>Common applications: cooking pots, containers,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3"/>
          <p:cNvPicPr>
            <a:picLocks noGrp="1" noChangeAspect="1" noChangeArrowheads="1"/>
          </p:cNvPicPr>
          <p:nvPr>
            <p:ph type="body" idx="1"/>
          </p:nvPr>
        </p:nvPicPr>
        <p:blipFill>
          <a:blip r:embed="rId2" cstate="print"/>
          <a:srcRect/>
          <a:stretch>
            <a:fillRect/>
          </a:stretch>
        </p:blipFill>
        <p:spPr>
          <a:xfrm>
            <a:off x="303213" y="1543050"/>
            <a:ext cx="8458200" cy="4478338"/>
          </a:xfrm>
        </p:spPr>
      </p:pic>
      <p:sp>
        <p:nvSpPr>
          <p:cNvPr id="61443" name="WordArt 5"/>
          <p:cNvSpPr>
            <a:spLocks noChangeArrowheads="1" noChangeShapeType="1" noTextEdit="1"/>
          </p:cNvSpPr>
          <p:nvPr/>
        </p:nvSpPr>
        <p:spPr bwMode="auto">
          <a:xfrm>
            <a:off x="646113" y="303213"/>
            <a:ext cx="3246437" cy="1295400"/>
          </a:xfrm>
          <a:prstGeom prst="rect">
            <a:avLst/>
          </a:prstGeom>
        </p:spPr>
        <p:txBody>
          <a:bodyPr wrap="none" fromWordArt="1">
            <a:prstTxWarp prst="textPlain">
              <a:avLst>
                <a:gd name="adj" fmla="val 50000"/>
              </a:avLst>
            </a:prstTxWarp>
          </a:bodyPr>
          <a:lstStyle/>
          <a:p>
            <a:pPr algn="ctr"/>
            <a:r>
              <a:rPr lang="en-US" sz="3600" kern="10">
                <a:ln w="12700">
                  <a:solidFill>
                    <a:srgbClr val="3333CC"/>
                  </a:solidFill>
                  <a:round/>
                  <a:headEnd/>
                  <a:tailEnd/>
                </a:ln>
                <a:solidFill>
                  <a:srgbClr val="B2B2B2">
                    <a:alpha val="50195"/>
                  </a:srgbClr>
                </a:solidFill>
                <a:effectLst>
                  <a:outerShdw dist="45791" dir="2021404" algn="ctr" rotWithShape="0">
                    <a:srgbClr val="9999FF"/>
                  </a:outerShdw>
                </a:effectLst>
                <a:latin typeface="Arial Black"/>
              </a:rPr>
              <a:t>Punch Die</a:t>
            </a:r>
            <a:endParaRPr lang="th-TH" sz="3600" kern="10">
              <a:ln w="12700">
                <a:solidFill>
                  <a:srgbClr val="3333CC"/>
                </a:solidFill>
                <a:round/>
                <a:headEnd/>
                <a:tailEnd/>
              </a:ln>
              <a:solidFill>
                <a:srgbClr val="B2B2B2">
                  <a:alpha val="50195"/>
                </a:srgbClr>
              </a:solidFill>
              <a:effectLst>
                <a:outerShdw dist="45791" dir="2021404" algn="ctr" rotWithShape="0">
                  <a:srgbClr val="9999FF"/>
                </a:outerShdw>
              </a:effectLst>
              <a:latin typeface="Arial Black"/>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3"/>
          <p:cNvPicPr>
            <a:picLocks noGrp="1" noChangeAspect="1" noChangeArrowheads="1"/>
          </p:cNvPicPr>
          <p:nvPr>
            <p:ph sz="half" idx="2"/>
          </p:nvPr>
        </p:nvPicPr>
        <p:blipFill>
          <a:blip r:embed="rId2" cstate="print"/>
          <a:srcRect/>
          <a:stretch>
            <a:fillRect/>
          </a:stretch>
        </p:blipFill>
        <p:spPr>
          <a:xfrm>
            <a:off x="2162175" y="868363"/>
            <a:ext cx="6723062" cy="4295228"/>
          </a:xfrm>
        </p:spPr>
      </p:pic>
      <p:sp>
        <p:nvSpPr>
          <p:cNvPr id="62467" name="WordArt 15"/>
          <p:cNvSpPr>
            <a:spLocks noChangeArrowheads="1" noChangeShapeType="1" noTextEdit="1"/>
          </p:cNvSpPr>
          <p:nvPr/>
        </p:nvSpPr>
        <p:spPr bwMode="auto">
          <a:xfrm>
            <a:off x="258763" y="0"/>
            <a:ext cx="3163887" cy="868363"/>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Progressive Die</a:t>
            </a:r>
            <a:endParaRPr lang="th-TH"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endParaRPr>
          </a:p>
        </p:txBody>
      </p:sp>
      <p:sp>
        <p:nvSpPr>
          <p:cNvPr id="5" name="TextBox 4">
            <a:extLst>
              <a:ext uri="{FF2B5EF4-FFF2-40B4-BE49-F238E27FC236}">
                <a16:creationId xmlns:a16="http://schemas.microsoft.com/office/drawing/2014/main" id="{EBD164C5-5D26-EC67-26DF-2A18531DA1FC}"/>
              </a:ext>
            </a:extLst>
          </p:cNvPr>
          <p:cNvSpPr txBox="1"/>
          <p:nvPr/>
        </p:nvSpPr>
        <p:spPr>
          <a:xfrm>
            <a:off x="1442804" y="5447179"/>
            <a:ext cx="6723062" cy="584775"/>
          </a:xfrm>
          <a:prstGeom prst="rect">
            <a:avLst/>
          </a:prstGeom>
          <a:noFill/>
        </p:spPr>
        <p:txBody>
          <a:bodyPr wrap="square">
            <a:spAutoFit/>
          </a:bodyPr>
          <a:lstStyle/>
          <a:p>
            <a:r>
              <a:rPr lang="en-US" dirty="0"/>
              <a:t>https://youtu.be/NuFpzJLMnFs?t=88</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WordArt 9"/>
          <p:cNvSpPr>
            <a:spLocks noChangeArrowheads="1" noChangeShapeType="1"/>
          </p:cNvSpPr>
          <p:nvPr/>
        </p:nvSpPr>
        <p:spPr bwMode="auto">
          <a:xfrm>
            <a:off x="679449" y="301860"/>
            <a:ext cx="7772400" cy="1143000"/>
          </a:xfrm>
          <a:prstGeom prst="rect">
            <a:avLst/>
          </a:prstGeom>
        </p:spPr>
        <p:txBody>
          <a:bodyPr wrap="none" fromWordArt="1">
            <a:prstTxWarp prst="textPlain">
              <a:avLst>
                <a:gd name="adj" fmla="val 49614"/>
              </a:avLst>
            </a:prstTxWarp>
          </a:bodyPr>
          <a:lstStyle/>
          <a:p>
            <a:pPr algn="ctr"/>
            <a:r>
              <a:rPr lang="en-US" sz="3600" kern="1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Progressive Die Stamping</a:t>
            </a:r>
            <a:endParaRPr lang="th-TH" sz="3600" kern="1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endParaRPr>
          </a:p>
        </p:txBody>
      </p:sp>
      <p:sp>
        <p:nvSpPr>
          <p:cNvPr id="5" name="TextBox 4">
            <a:extLst>
              <a:ext uri="{FF2B5EF4-FFF2-40B4-BE49-F238E27FC236}">
                <a16:creationId xmlns:a16="http://schemas.microsoft.com/office/drawing/2014/main" id="{4ACAC500-9940-2F8E-3184-9B78EBE66A03}"/>
              </a:ext>
            </a:extLst>
          </p:cNvPr>
          <p:cNvSpPr txBox="1"/>
          <p:nvPr/>
        </p:nvSpPr>
        <p:spPr>
          <a:xfrm>
            <a:off x="203510" y="1444860"/>
            <a:ext cx="8724277" cy="3046988"/>
          </a:xfrm>
          <a:prstGeom prst="rect">
            <a:avLst/>
          </a:prstGeom>
          <a:noFill/>
        </p:spPr>
        <p:txBody>
          <a:bodyPr wrap="square">
            <a:spAutoFit/>
          </a:bodyPr>
          <a:lstStyle/>
          <a:p>
            <a:pPr algn="just"/>
            <a:r>
              <a:rPr lang="en-US" sz="2400" b="0" i="0" dirty="0">
                <a:solidFill>
                  <a:srgbClr val="333333"/>
                </a:solidFill>
                <a:effectLst/>
                <a:latin typeface="Open Sans" panose="020B0606030504020204" pitchFamily="34" charset="0"/>
              </a:rPr>
              <a:t>Fabricating complex parts in earlier days was an inefficient and costly affair. Either a manufacturer could repeatedly change the tool in a single press or use multiple presses each performing single action to produce one part. This resulted in long load times and a high labor cost.</a:t>
            </a:r>
          </a:p>
          <a:p>
            <a:pPr algn="just"/>
            <a:r>
              <a:rPr lang="en-US" sz="2400" b="0" i="0" dirty="0">
                <a:solidFill>
                  <a:srgbClr val="333333"/>
                </a:solidFill>
                <a:effectLst/>
                <a:latin typeface="Open Sans" panose="020B0606030504020204" pitchFamily="34" charset="0"/>
              </a:rPr>
              <a:t>With progressive die stamping, a manufacturer can eliminate all these hassles and produce better quality parts faster and in a cost-effective manner.</a:t>
            </a:r>
          </a:p>
        </p:txBody>
      </p:sp>
      <p:pic>
        <p:nvPicPr>
          <p:cNvPr id="1026" name="Picture 2" descr="Strips">
            <a:extLst>
              <a:ext uri="{FF2B5EF4-FFF2-40B4-BE49-F238E27FC236}">
                <a16:creationId xmlns:a16="http://schemas.microsoft.com/office/drawing/2014/main" id="{A3D6B3F4-FE73-E47B-7594-FFE84D7D7A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449" y="4661941"/>
            <a:ext cx="7772399" cy="21960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4" descr="die001"/>
          <p:cNvPicPr>
            <a:picLocks noGrp="1" noChangeAspect="1" noChangeArrowheads="1"/>
          </p:cNvPicPr>
          <p:nvPr>
            <p:ph idx="1"/>
          </p:nvPr>
        </p:nvPicPr>
        <p:blipFill>
          <a:blip r:embed="rId2" cstate="print"/>
          <a:srcRect/>
          <a:stretch>
            <a:fillRect/>
          </a:stretch>
        </p:blipFill>
        <p:spPr>
          <a:xfrm>
            <a:off x="1790700" y="1981200"/>
            <a:ext cx="5562600" cy="3490210"/>
          </a:xfrm>
          <a:noFill/>
        </p:spPr>
      </p:pic>
      <p:sp>
        <p:nvSpPr>
          <p:cNvPr id="64515" name="WordArt 7"/>
          <p:cNvSpPr>
            <a:spLocks noChangeArrowheads="1" noChangeShapeType="1"/>
          </p:cNvSpPr>
          <p:nvPr/>
        </p:nvSpPr>
        <p:spPr bwMode="auto">
          <a:xfrm>
            <a:off x="685800" y="609600"/>
            <a:ext cx="7772400" cy="1143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Progressive Die</a:t>
            </a:r>
            <a:endParaRPr lang="th-TH"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endParaRPr>
          </a:p>
        </p:txBody>
      </p:sp>
      <p:sp>
        <p:nvSpPr>
          <p:cNvPr id="5" name="TextBox 4">
            <a:extLst>
              <a:ext uri="{FF2B5EF4-FFF2-40B4-BE49-F238E27FC236}">
                <a16:creationId xmlns:a16="http://schemas.microsoft.com/office/drawing/2014/main" id="{93AC4F44-1E51-5274-6B3E-B08529EE8B86}"/>
              </a:ext>
            </a:extLst>
          </p:cNvPr>
          <p:cNvSpPr txBox="1"/>
          <p:nvPr/>
        </p:nvSpPr>
        <p:spPr>
          <a:xfrm>
            <a:off x="1449674" y="5956012"/>
            <a:ext cx="7008526" cy="584775"/>
          </a:xfrm>
          <a:prstGeom prst="rect">
            <a:avLst/>
          </a:prstGeom>
          <a:noFill/>
        </p:spPr>
        <p:txBody>
          <a:bodyPr wrap="square">
            <a:spAutoFit/>
          </a:bodyPr>
          <a:lstStyle/>
          <a:p>
            <a:r>
              <a:rPr lang="en-US" dirty="0"/>
              <a:t>https://youtu.be/10vNgC4LpkQ?t=113</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endParaRPr lang="th-TH"/>
          </a:p>
        </p:txBody>
      </p:sp>
      <p:pic>
        <p:nvPicPr>
          <p:cNvPr id="65539" name="Picture 3" descr="organizeroling"/>
          <p:cNvPicPr>
            <a:picLocks noGrp="1" noChangeAspect="1" noChangeArrowheads="1"/>
          </p:cNvPicPr>
          <p:nvPr>
            <p:ph idx="1"/>
          </p:nvPr>
        </p:nvPicPr>
        <p:blipFill>
          <a:blip r:embed="rId2" cstate="print"/>
          <a:srcRect/>
          <a:stretch>
            <a:fillRect/>
          </a:stretch>
        </p:blipFill>
        <p:spPr>
          <a:xfrm>
            <a:off x="0" y="0"/>
            <a:ext cx="8893175" cy="6573838"/>
          </a:xfrm>
          <a:noFill/>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b7967f6-602a-45f8-a387-6d1bbeb94b9f" xsi:nil="true"/>
    <lcf76f155ced4ddcb4097134ff3c332f xmlns="41f808fe-38f2-4ea1-967c-1fe79284fef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4900C90D53E34BAA004766C2806ED6" ma:contentTypeVersion="10" ma:contentTypeDescription="Create a new document." ma:contentTypeScope="" ma:versionID="4fcdd5bcebbecb2857caf4658614ba9c">
  <xsd:schema xmlns:xsd="http://www.w3.org/2001/XMLSchema" xmlns:xs="http://www.w3.org/2001/XMLSchema" xmlns:p="http://schemas.microsoft.com/office/2006/metadata/properties" xmlns:ns2="41f808fe-38f2-4ea1-967c-1fe79284fefb" xmlns:ns3="0b7967f6-602a-45f8-a387-6d1bbeb94b9f" targetNamespace="http://schemas.microsoft.com/office/2006/metadata/properties" ma:root="true" ma:fieldsID="2a584e41f6bdd03fc275e38c8a632c99" ns2:_="" ns3:_="">
    <xsd:import namespace="41f808fe-38f2-4ea1-967c-1fe79284fefb"/>
    <xsd:import namespace="0b7967f6-602a-45f8-a387-6d1bbeb94b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f808fe-38f2-4ea1-967c-1fe79284fe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1fbd3b0-4808-4b13-b9b2-3f13c0616f4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7967f6-602a-45f8-a387-6d1bbeb94b9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1cda824-aa1f-49bb-9d76-52a2b871e51e}" ma:internalName="TaxCatchAll" ma:showField="CatchAllData" ma:web="0b7967f6-602a-45f8-a387-6d1bbeb94b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209FB2-279E-46A4-A6B1-13A91A5D03D0}">
  <ds:schemaRefs>
    <ds:schemaRef ds:uri="http://schemas.microsoft.com/sharepoint/v3/contenttype/forms"/>
  </ds:schemaRefs>
</ds:datastoreItem>
</file>

<file path=customXml/itemProps2.xml><?xml version="1.0" encoding="utf-8"?>
<ds:datastoreItem xmlns:ds="http://schemas.openxmlformats.org/officeDocument/2006/customXml" ds:itemID="{F2714302-488F-4CD4-8C9E-9EFEF0182BD1}">
  <ds:schemaRefs>
    <ds:schemaRef ds:uri="http://schemas.microsoft.com/office/2006/metadata/properties"/>
    <ds:schemaRef ds:uri="http://schemas.microsoft.com/office/infopath/2007/PartnerControls"/>
    <ds:schemaRef ds:uri="0b7967f6-602a-45f8-a387-6d1bbeb94b9f"/>
    <ds:schemaRef ds:uri="41f808fe-38f2-4ea1-967c-1fe79284fefb"/>
  </ds:schemaRefs>
</ds:datastoreItem>
</file>

<file path=customXml/itemProps3.xml><?xml version="1.0" encoding="utf-8"?>
<ds:datastoreItem xmlns:ds="http://schemas.openxmlformats.org/officeDocument/2006/customXml" ds:itemID="{8E44E01C-9F17-4AB6-8BA2-D5E84C421C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1f808fe-38f2-4ea1-967c-1fe79284fefb"/>
    <ds:schemaRef ds:uri="0b7967f6-602a-45f8-a387-6d1bbeb94b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5937</TotalTime>
  <Words>1552</Words>
  <Application>Microsoft Office PowerPoint</Application>
  <PresentationFormat>On-screen Show (4:3)</PresentationFormat>
  <Paragraphs>270</Paragraphs>
  <Slides>62</Slides>
  <Notes>2</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Default Design</vt:lpstr>
      <vt:lpstr>PowerPoint Presentation</vt:lpstr>
      <vt:lpstr>PowerPoint Presentation</vt:lpstr>
      <vt:lpstr>Plastic Deformation</vt:lpstr>
      <vt:lpstr>PowerPoint Presentation</vt:lpstr>
      <vt:lpstr>Preferred Orientation</vt:lpstr>
      <vt:lpstr>Recrystallization</vt:lpstr>
      <vt:lpstr>PowerPoint Presentation</vt:lpstr>
      <vt:lpstr>PowerPoint Presentation</vt:lpstr>
      <vt:lpstr>PowerPoint Presentation</vt:lpstr>
      <vt:lpstr>PowerPoint Presentation</vt:lpstr>
      <vt:lpstr>Isothermal </vt:lpstr>
      <vt:lpstr>Metal forming process </vt:lpstr>
      <vt:lpstr>Bulk Deforming Processes</vt:lpstr>
      <vt:lpstr>PowerPoint Presentation</vt:lpstr>
      <vt:lpstr>PowerPoint Presentation</vt:lpstr>
      <vt:lpstr>Continuous Drawing</vt:lpstr>
      <vt:lpstr>Sheet Metalworking</vt:lpstr>
      <vt:lpstr>PowerPoint Presentation</vt:lpstr>
      <vt:lpstr>PowerPoint Presentation</vt:lpstr>
      <vt:lpstr>PowerPoint Presentation</vt:lpstr>
      <vt:lpstr>Grain Flow Pattern of Pierced Round Billet</vt:lpstr>
      <vt:lpstr>Grain Flow Comparison</vt:lpstr>
      <vt:lpstr>Upsetting</vt:lpstr>
      <vt:lpstr>Impression-Die Forging</vt:lpstr>
      <vt:lpstr>Forging a Connecting Rod</vt:lpstr>
      <vt:lpstr>Trimming Flash from a Forged Part</vt:lpstr>
      <vt:lpstr>Flashless forging</vt:lpstr>
      <vt:lpstr>Normal</vt:lpstr>
      <vt:lpstr>Flashless Forging</vt:lpstr>
      <vt:lpstr>Comparison of Forging With and Without Flash</vt:lpstr>
      <vt:lpstr>Unit Cost in Forging</vt:lpstr>
      <vt:lpstr>Relative Unit Costs of a Small Connecting Rod</vt:lpstr>
      <vt:lpstr>PowerPoint Presentation</vt:lpstr>
      <vt:lpstr>PowerPoint Presentation</vt:lpstr>
      <vt:lpstr>PowerPoint Presentation</vt:lpstr>
      <vt:lpstr>Rolling Theory</vt:lpstr>
      <vt:lpstr>Distorted roll</vt:lpstr>
      <vt:lpstr>Rolling force</vt:lpstr>
      <vt:lpstr>Various Configurations</vt:lpstr>
      <vt:lpstr>Cluster Mill</vt:lpstr>
      <vt:lpstr>Shapes Produced by rolling</vt:lpstr>
      <vt:lpstr>PowerPoint Presentation</vt:lpstr>
      <vt:lpstr>Roll-Forging</vt:lpstr>
      <vt:lpstr>Roll piercing</vt:lpstr>
      <vt:lpstr>Friction and lubrication</vt:lpstr>
      <vt:lpstr>Lubrication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AKHIL SEN</cp:lastModifiedBy>
  <cp:revision>122</cp:revision>
  <dcterms:created xsi:type="dcterms:W3CDTF">1601-01-01T00:00:00Z</dcterms:created>
  <dcterms:modified xsi:type="dcterms:W3CDTF">2026-04-30T18:07:42Z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0x010100F84900C90D53E34BAA004766C2806ED6</vt:lpwstr>
  </property>
</Properties>
</file>